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Projects</c:v>
          </c:tx>
          <c:spPr>
            <a:solidFill>
              <a:srgbClr val="18A999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F28E5B"/>
              </a:solidFill>
            </c:spPr>
            <c:extLst>
              <c:ext xmlns:c16="http://schemas.microsoft.com/office/drawing/2014/chart" uri="{C3380CC4-5D6E-409C-BE32-E72D297353CC}">
                <c16:uniqueId val="{00000001-A666-E547-AF32-6EE197F6DF7D}"/>
              </c:ext>
            </c:extLst>
          </c:dPt>
          <c:dPt>
            <c:idx val="1"/>
            <c:invertIfNegative val="0"/>
            <c:bubble3D val="0"/>
            <c:spPr>
              <a:solidFill>
                <a:srgbClr val="8E6CBB"/>
              </a:solidFill>
            </c:spPr>
            <c:extLst>
              <c:ext xmlns:c16="http://schemas.microsoft.com/office/drawing/2014/chart" uri="{C3380CC4-5D6E-409C-BE32-E72D297353CC}">
                <c16:uniqueId val="{00000003-A666-E547-AF32-6EE197F6DF7D}"/>
              </c:ext>
            </c:extLst>
          </c:dPt>
          <c:dPt>
            <c:idx val="2"/>
            <c:invertIfNegative val="0"/>
            <c:bubble3D val="0"/>
            <c:spPr>
              <a:solidFill>
                <a:srgbClr val="F2C14E"/>
              </a:solidFill>
            </c:spPr>
            <c:extLst>
              <c:ext xmlns:c16="http://schemas.microsoft.com/office/drawing/2014/chart" uri="{C3380CC4-5D6E-409C-BE32-E72D297353CC}">
                <c16:uniqueId val="{00000005-A666-E547-AF32-6EE197F6DF7D}"/>
              </c:ext>
            </c:extLst>
          </c:dPt>
          <c:dPt>
            <c:idx val="3"/>
            <c:invertIfNegative val="0"/>
            <c:bubble3D val="0"/>
            <c:spPr>
              <a:solidFill>
                <a:srgbClr val="18A999"/>
              </a:solidFill>
            </c:spPr>
            <c:extLst>
              <c:ext xmlns:c16="http://schemas.microsoft.com/office/drawing/2014/chart" uri="{C3380CC4-5D6E-409C-BE32-E72D297353CC}">
                <c16:uniqueId val="{00000007-A666-E547-AF32-6EE197F6DF7D}"/>
              </c:ext>
            </c:extLst>
          </c:dPt>
          <c:dLbls>
            <c:spPr>
              <a:noFill/>
              <a:ln w="0">
                <a:noFill/>
                <a:prstDash val="solid"/>
              </a:ln>
            </c:spPr>
            <c:txPr>
              <a:bodyPr anchorCtr="1"/>
              <a:lstStyle/>
              <a:p>
                <a:pPr>
                  <a:defRPr sz="1125" b="1">
                    <a:solidFill>
                      <a:srgbClr val="17324D"/>
                    </a:solidFill>
                  </a:defRPr>
                </a:pPr>
                <a:endParaRPr lang="en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Cluster 1 - Health</c:v>
              </c:pt>
              <c:pt idx="1">
                <c:v>Cluster 2 - Culture, creativity &amp; society</c:v>
              </c:pt>
              <c:pt idx="2">
                <c:v>Cluster 5 - Climate, energy &amp; mobility</c:v>
              </c:pt>
              <c:pt idx="3">
                <c:v>Cluster 6 - Food, bioeconomy &amp; environment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2</c:v>
              </c:pt>
              <c:pt idx="2">
                <c:v>2</c:v>
              </c:pt>
              <c:pt idx="3">
                <c:v>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A666-E547-AF32-6EE197F6DF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IT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24313D"/>
                </a:solidFill>
              </a:defRPr>
            </a:pPr>
            <a:endParaRPr lang="en-IT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Projects</c:v>
          </c:tx>
          <c:spPr>
            <a:solidFill>
              <a:srgbClr val="4C78A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8A999"/>
              </a:solidFill>
            </c:spPr>
            <c:extLst>
              <c:ext xmlns:c16="http://schemas.microsoft.com/office/drawing/2014/chart" uri="{C3380CC4-5D6E-409C-BE32-E72D297353CC}">
                <c16:uniqueId val="{00000001-9A07-7849-A714-BE4A4F14870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A07-7849-A714-BE4A4F14870E}"/>
              </c:ext>
            </c:extLst>
          </c:dPt>
          <c:dPt>
            <c:idx val="2"/>
            <c:invertIfNegative val="0"/>
            <c:bubble3D val="0"/>
            <c:spPr>
              <a:solidFill>
                <a:srgbClr val="F28E5B"/>
              </a:solidFill>
            </c:spPr>
            <c:extLst>
              <c:ext xmlns:c16="http://schemas.microsoft.com/office/drawing/2014/chart" uri="{C3380CC4-5D6E-409C-BE32-E72D297353CC}">
                <c16:uniqueId val="{00000005-9A07-7849-A714-BE4A4F14870E}"/>
              </c:ext>
            </c:extLst>
          </c:dPt>
          <c:dLbls>
            <c:spPr>
              <a:noFill/>
              <a:ln w="0">
                <a:noFill/>
                <a:prstDash val="solid"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7324D"/>
                    </a:solidFill>
                  </a:defRPr>
                </a:pPr>
                <a:endParaRPr lang="en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RIA</c:v>
              </c:pt>
              <c:pt idx="1">
                <c:v>IA</c:v>
              </c:pt>
              <c:pt idx="2">
                <c:v>COFUND</c:v>
              </c:pt>
            </c:strLit>
          </c:cat>
          <c:val>
            <c:numLit>
              <c:formatCode>General</c:formatCode>
              <c:ptCount val="3"/>
              <c:pt idx="0">
                <c:v>6</c:v>
              </c:pt>
              <c:pt idx="1">
                <c:v>3</c:v>
              </c:pt>
              <c:pt idx="2">
                <c:v>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9A07-7849-A714-BE4A4F1487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IT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00" b="1">
                <a:solidFill>
                  <a:srgbClr val="24313D"/>
                </a:solidFill>
              </a:defRPr>
            </a:pPr>
            <a:endParaRPr lang="en-IT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Projects</c:v>
          </c:tx>
          <c:spPr>
            <a:solidFill>
              <a:srgbClr val="18A999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F28E5B"/>
              </a:solidFill>
            </c:spPr>
            <c:extLst>
              <c:ext xmlns:c16="http://schemas.microsoft.com/office/drawing/2014/chart" uri="{C3380CC4-5D6E-409C-BE32-E72D297353CC}">
                <c16:uniqueId val="{00000001-5D83-D745-BF67-E6B4A127AEC5}"/>
              </c:ext>
            </c:extLst>
          </c:dPt>
          <c:dPt>
            <c:idx val="1"/>
            <c:invertIfNegative val="0"/>
            <c:bubble3D val="0"/>
            <c:spPr>
              <a:solidFill>
                <a:srgbClr val="F28E5B"/>
              </a:solidFill>
            </c:spPr>
            <c:extLst>
              <c:ext xmlns:c16="http://schemas.microsoft.com/office/drawing/2014/chart" uri="{C3380CC4-5D6E-409C-BE32-E72D297353CC}">
                <c16:uniqueId val="{00000003-5D83-D745-BF67-E6B4A127AEC5}"/>
              </c:ext>
            </c:extLst>
          </c:dPt>
          <c:dPt>
            <c:idx val="2"/>
            <c:invertIfNegative val="0"/>
            <c:bubble3D val="0"/>
            <c:spPr>
              <a:solidFill>
                <a:srgbClr val="F28E5B"/>
              </a:solidFill>
            </c:spPr>
            <c:extLst>
              <c:ext xmlns:c16="http://schemas.microsoft.com/office/drawing/2014/chart" uri="{C3380CC4-5D6E-409C-BE32-E72D297353CC}">
                <c16:uniqueId val="{00000005-5D83-D745-BF67-E6B4A127AEC5}"/>
              </c:ext>
            </c:extLst>
          </c:dPt>
          <c:dLbls>
            <c:spPr>
              <a:noFill/>
              <a:ln w="0">
                <a:noFill/>
                <a:prstDash val="solid"/>
              </a:ln>
            </c:spPr>
            <c:txPr>
              <a:bodyPr anchorCtr="1"/>
              <a:lstStyle/>
              <a:p>
                <a:pPr>
                  <a:defRPr sz="975" b="1">
                    <a:solidFill>
                      <a:srgbClr val="17324D"/>
                    </a:solidFill>
                  </a:defRPr>
                </a:pPr>
                <a:endParaRPr lang="en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University College Dublin</c:v>
              </c:pt>
              <c:pt idx="1">
                <c:v>Health Research Board</c:v>
              </c:pt>
              <c:pt idx="2">
                <c:v>Trinity College Dublin</c:v>
              </c:pt>
              <c:pt idx="3">
                <c:v>F6S Tech</c:v>
              </c:pt>
              <c:pt idx="4">
                <c:v>Teagasc</c:v>
              </c:pt>
              <c:pt idx="5">
                <c:v>Research Ireland</c:v>
              </c:pt>
            </c:strLit>
          </c:cat>
          <c:val>
            <c:numLit>
              <c:formatCode>General</c:formatCode>
              <c:ptCount val="6"/>
              <c:pt idx="0">
                <c:v>3</c:v>
              </c:pt>
              <c:pt idx="1">
                <c:v>3</c:v>
              </c:pt>
              <c:pt idx="2">
                <c:v>3</c:v>
              </c:pt>
              <c:pt idx="3">
                <c:v>2</c:v>
              </c:pt>
              <c:pt idx="4">
                <c:v>2</c:v>
              </c:pt>
              <c:pt idx="5">
                <c:v>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5D83-D745-BF67-E6B4A127AEC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IT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975" b="1">
                <a:solidFill>
                  <a:srgbClr val="24313D"/>
                </a:solidFill>
              </a:defRPr>
            </a:pPr>
            <a:endParaRPr lang="en-IT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Projects</c:v>
          </c:tx>
          <c:spPr>
            <a:solidFill>
              <a:srgbClr val="4C78A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8A999"/>
              </a:solidFill>
            </c:spPr>
            <c:extLst>
              <c:ext xmlns:c16="http://schemas.microsoft.com/office/drawing/2014/chart" uri="{C3380CC4-5D6E-409C-BE32-E72D297353CC}">
                <c16:uniqueId val="{00000001-A26B-064A-8BF0-7CA2F91123A5}"/>
              </c:ext>
            </c:extLst>
          </c:dPt>
          <c:dLbls>
            <c:spPr>
              <a:noFill/>
              <a:ln w="0">
                <a:noFill/>
                <a:prstDash val="solid"/>
              </a:ln>
            </c:spPr>
            <c:txPr>
              <a:bodyPr anchorCtr="1"/>
              <a:lstStyle/>
              <a:p>
                <a:pPr>
                  <a:defRPr sz="975" b="1">
                    <a:solidFill>
                      <a:srgbClr val="17324D"/>
                    </a:solidFill>
                  </a:defRPr>
                </a:pPr>
                <a:endParaRPr lang="en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University of Otago</c:v>
              </c:pt>
              <c:pt idx="1">
                <c:v>DairyNZ</c:v>
              </c:pt>
              <c:pt idx="2">
                <c:v>University of Canterbury</c:v>
              </c:pt>
              <c:pt idx="3">
                <c:v>University of Auckland</c:v>
              </c:pt>
              <c:pt idx="4">
                <c:v>Bioeconomy Science Institute</c:v>
              </c:pt>
              <c:pt idx="5">
                <c:v>Medical Research Institute of NZ</c:v>
              </c:pt>
            </c:strLit>
          </c:cat>
          <c:val>
            <c:numLit>
              <c:formatCode>General</c:formatCode>
              <c:ptCount val="6"/>
              <c:pt idx="0">
                <c:v>3</c:v>
              </c:pt>
              <c:pt idx="1">
                <c:v>2</c:v>
              </c:pt>
              <c:pt idx="2">
                <c:v>2</c:v>
              </c:pt>
              <c:pt idx="3">
                <c:v>2</c:v>
              </c:pt>
              <c:pt idx="4">
                <c:v>1</c:v>
              </c:pt>
              <c:pt idx="5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26B-064A-8BF0-7CA2F91123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IT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975" b="1">
                <a:solidFill>
                  <a:srgbClr val="24313D"/>
                </a:solidFill>
              </a:defRPr>
            </a:pPr>
            <a:endParaRPr lang="en-IT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Underlying source: CORDIS XML records for the 12 projects containing both Irish and New Zealand participants.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Horizon_Europe_NZ_Tableau_Ready_Database.xlsx, Project_Organisations and Organisations sheets, database snapshot 21 Aug 2026.</a:t>
            </a:r>
          </a:p>
          <a:p>
            <a:r>
              <a:t>- Recorded country contributions are organisation-level amounts and should not be confused with total project EC maximum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https://cordis.europa.eu/project/id/101226682</a:t>
            </a:r>
          </a:p>
          <a:p>
            <a:r>
              <a:t>- Official title: BE READY NOW - EUROPEAN PARTNERSHIP FOR PANDEMIC PREPAREDNESS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https://cordis.europa.eu/project/id/101259512</a:t>
            </a:r>
          </a:p>
          <a:p>
            <a:r>
              <a:t>- Official title: EUROPEAN PARTNERSHIP FOR BRAIN HEALTH (EP BRAINHEALTH)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https://cordis.europa.eu/project/id/101156595</a:t>
            </a:r>
          </a:p>
          <a:p>
            <a:r>
              <a:t>- Official title: EUROPEAN RARE DISEASES RESEARCH ALLIANCE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https://cordis.europa.eu/project/id/101191729</a:t>
            </a:r>
          </a:p>
          <a:p>
            <a:r>
              <a:t>- Official title: A bioprinting platform for the rapid, reliable, controlled and quantifiable patterning of cellular aggregates and microtissues into macroscale regenerative grafts with programmable architectures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https://cordis.europa.eu/project/id/101288029</a:t>
            </a:r>
          </a:p>
          <a:p>
            <a:r>
              <a:t>- Official title: Citizenship-, Identity-, European Values-, Inclusion-, and Community development through Societal Participatory Theatre Activities in a Global Europe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https://cordis.europa.eu/project/id/101132694</a:t>
            </a:r>
          </a:p>
          <a:p>
            <a:r>
              <a:t>- Official title: EU-CIEMBLY: Creating an Inclusive European Citizens’ Assembly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https://cordis.europa.eu/project/id/101147385</a:t>
            </a:r>
          </a:p>
          <a:p>
            <a:r>
              <a:t>- Official title: MITIGATING ENVIRONMENTAL DISRUPTIVE EVENTS USING PEOPLE-CENTRIC PREDICTIVE DIGITAL TECHNOLOGIES TO IMPROVE DISASTER AND CLIMATE RESILIENCE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https://cordis.europa.eu/project/id/101235635</a:t>
            </a:r>
          </a:p>
          <a:p>
            <a:r>
              <a:t>- Official title: SOLAR Photovoltaic to MOVE for Systems Integration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https://cordis.europa.eu/project/id/101216573</a:t>
            </a:r>
          </a:p>
          <a:p>
            <a:r>
              <a:t>- Official title: ClimateSmartResearch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https://cordis.europa.eu/project/id/101288958</a:t>
            </a:r>
          </a:p>
          <a:p>
            <a:r>
              <a:t>- Official title: Grassland Resilience and Adaptation through Sustainability and Science, With Inclusive Stakeholder Engagement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https://cordis.europa.eu/project/id/101181413</a:t>
            </a:r>
          </a:p>
          <a:p>
            <a:r>
              <a:t>- Official title: GuardIAS - Guarding European Waters from IAS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https://cordis.europa.eu/project/id/101286168</a:t>
            </a:r>
          </a:p>
          <a:p>
            <a:r>
              <a:t>- Official title: Relational Biodiversity Economics Approach for Assessing, Weaving and Scaling Socio-Economic Models for Biodiversity Restoration, and Community Resilience To Climate Change and Wellbeing</a:t>
            </a:r>
          </a:p>
          <a:p>
            <a:r>
              <a:t>- Horizon_Europe_NZ_Tableau_Ready_Database.xlsx, Projects and Project_Organisations sheets, database snapshot 21 Aug 2026.</a:t>
            </a:r>
          </a:p>
          <a:p>
            <a:r>
              <a:t>- Project summary is a concise paraphrase of the CORDIS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header-1">
            <a:extLst>
              <a:ext uri="{FF2B5EF4-FFF2-40B4-BE49-F238E27FC236}">
                <a16:creationId xmlns:a16="http://schemas.microsoft.com/office/drawing/2014/main" id="{F390E08C-85C0-470F-82FA-004A5D0006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header-accent-1">
            <a:extLst>
              <a:ext uri="{FF2B5EF4-FFF2-40B4-BE49-F238E27FC236}">
                <a16:creationId xmlns:a16="http://schemas.microsoft.com/office/drawing/2014/main" id="{34CE311B-D2E6-472C-AEB7-836B316596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28700"/>
          </a:xfrm>
          <a:prstGeom prst="rect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eyebrow-1">
            <a:extLst>
              <a:ext uri="{FF2B5EF4-FFF2-40B4-BE49-F238E27FC236}">
                <a16:creationId xmlns:a16="http://schemas.microsoft.com/office/drawing/2014/main" id="{27436D1C-A824-4B29-AFA0-D0A462F81506}"/>
              </a:ext>
            </a:extLst>
          </p:cNvPr>
          <p:cNvSpPr>
            <a:spLocks noGrp="1"/>
          </p:cNvSpPr>
          <p:nvPr/>
        </p:nvSpPr>
        <p:spPr>
          <a:xfrm>
            <a:off x="457200" y="14287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HORIZON EUROPE BILATERAL PORTFOLIO</a:t>
            </a:r>
          </a:p>
        </p:txBody>
      </p:sp>
      <p:sp>
        <p:nvSpPr>
          <p:cNvPr id="4" name="title-1">
            <a:extLst>
              <a:ext uri="{FF2B5EF4-FFF2-40B4-BE49-F238E27FC236}">
                <a16:creationId xmlns:a16="http://schemas.microsoft.com/office/drawing/2014/main" id="{874157D7-43F5-4537-A361-0088AC365BE5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 dirty="0">
                <a:solidFill>
                  <a:srgbClr val="FFFFFF"/>
                </a:solidFill>
              </a:rPr>
              <a:t>12 shared projects: Ireland </a:t>
            </a:r>
            <a:r>
              <a:rPr lang="it-IT" sz="3150" b="1" dirty="0">
                <a:solidFill>
                  <a:srgbClr val="FFFFFF"/>
                </a:solidFill>
              </a:rPr>
              <a:t>&amp;</a:t>
            </a:r>
            <a:r>
              <a:rPr sz="3150" b="1" dirty="0">
                <a:solidFill>
                  <a:srgbClr val="FFFFFF"/>
                </a:solidFill>
              </a:rPr>
              <a:t> New Zealand</a:t>
            </a:r>
          </a:p>
        </p:txBody>
      </p:sp>
      <p:sp>
        <p:nvSpPr>
          <p:cNvPr id="5" name="subtitle-1">
            <a:extLst>
              <a:ext uri="{FF2B5EF4-FFF2-40B4-BE49-F238E27FC236}">
                <a16:creationId xmlns:a16="http://schemas.microsoft.com/office/drawing/2014/main" id="{95764869-D40C-48BB-A71F-335D1655B3B0}"/>
              </a:ext>
            </a:extLst>
          </p:cNvPr>
          <p:cNvSpPr>
            <a:spLocks noGrp="1"/>
          </p:cNvSpPr>
          <p:nvPr/>
        </p:nvSpPr>
        <p:spPr>
          <a:xfrm>
            <a:off x="8763000" y="4095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CFDAE2"/>
                </a:solidFill>
              </a:defRPr>
            </a:pPr>
            <a:r>
              <a:rPr sz="1125" b="0">
                <a:solidFill>
                  <a:srgbClr val="CFDAE2"/>
                </a:solidFill>
              </a:rPr>
              <a:t>CORDIS portfolio | Snapshot 21 Aug 2026</a:t>
            </a:r>
          </a:p>
        </p:txBody>
      </p:sp>
      <p:sp>
        <p:nvSpPr>
          <p:cNvPr id="6" name="page-1">
            <a:extLst>
              <a:ext uri="{FF2B5EF4-FFF2-40B4-BE49-F238E27FC236}">
                <a16:creationId xmlns:a16="http://schemas.microsoft.com/office/drawing/2014/main" id="{9E3CC2A4-1788-4C0D-9A3D-2D97B3831498}"/>
              </a:ext>
            </a:extLst>
          </p:cNvPr>
          <p:cNvSpPr>
            <a:spLocks noGrp="1"/>
          </p:cNvSpPr>
          <p:nvPr/>
        </p:nvSpPr>
        <p:spPr>
          <a:xfrm>
            <a:off x="10906125" y="733425"/>
            <a:ext cx="809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AFC0CC"/>
                </a:solidFill>
              </a:defRPr>
            </a:pPr>
            <a:r>
              <a:rPr sz="975" b="1">
                <a:solidFill>
                  <a:srgbClr val="AFC0CC"/>
                </a:solidFill>
              </a:rPr>
              <a:t>1 / 14</a:t>
            </a:r>
          </a:p>
        </p:txBody>
      </p:sp>
      <p:sp>
        <p:nvSpPr>
          <p:cNvPr id="7" name="s1-k1-card">
            <a:extLst>
              <a:ext uri="{FF2B5EF4-FFF2-40B4-BE49-F238E27FC236}">
                <a16:creationId xmlns:a16="http://schemas.microsoft.com/office/drawing/2014/main" id="{58CDF655-C38C-4514-986B-3E1BE60A2E31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26860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s1-k1-accent">
            <a:extLst>
              <a:ext uri="{FF2B5EF4-FFF2-40B4-BE49-F238E27FC236}">
                <a16:creationId xmlns:a16="http://schemas.microsoft.com/office/drawing/2014/main" id="{DB2F030C-2B16-4C54-9CE5-DCF4B012A242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66675" cy="876300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1-k1-value">
            <a:extLst>
              <a:ext uri="{FF2B5EF4-FFF2-40B4-BE49-F238E27FC236}">
                <a16:creationId xmlns:a16="http://schemas.microsoft.com/office/drawing/2014/main" id="{0BBE666D-0BE5-42DA-BC54-C9143D771633}"/>
              </a:ext>
            </a:extLst>
          </p:cNvPr>
          <p:cNvSpPr>
            <a:spLocks noGrp="1"/>
          </p:cNvSpPr>
          <p:nvPr/>
        </p:nvSpPr>
        <p:spPr>
          <a:xfrm>
            <a:off x="666750" y="132397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324D"/>
                </a:solidFill>
              </a:defRPr>
            </a:pPr>
            <a:r>
              <a:rPr sz="2475" b="1">
                <a:solidFill>
                  <a:srgbClr val="17324D"/>
                </a:solidFill>
              </a:rPr>
              <a:t>12</a:t>
            </a:r>
          </a:p>
        </p:txBody>
      </p:sp>
      <p:sp>
        <p:nvSpPr>
          <p:cNvPr id="10" name="s1-k1-label">
            <a:extLst>
              <a:ext uri="{FF2B5EF4-FFF2-40B4-BE49-F238E27FC236}">
                <a16:creationId xmlns:a16="http://schemas.microsoft.com/office/drawing/2014/main" id="{E9C85F71-8720-4E1E-88BB-3DDC5E3D59B4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2305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SHARED PROJECTS</a:t>
            </a:r>
          </a:p>
        </p:txBody>
      </p:sp>
      <p:sp>
        <p:nvSpPr>
          <p:cNvPr id="11" name="s1-k2-card">
            <a:extLst>
              <a:ext uri="{FF2B5EF4-FFF2-40B4-BE49-F238E27FC236}">
                <a16:creationId xmlns:a16="http://schemas.microsoft.com/office/drawing/2014/main" id="{48377F24-143E-42F0-90E3-037DABE8D7C7}"/>
              </a:ext>
            </a:extLst>
          </p:cNvPr>
          <p:cNvSpPr>
            <a:spLocks noGrp="1"/>
          </p:cNvSpPr>
          <p:nvPr/>
        </p:nvSpPr>
        <p:spPr>
          <a:xfrm>
            <a:off x="3305175" y="1190625"/>
            <a:ext cx="26860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1-k2-accent">
            <a:extLst>
              <a:ext uri="{FF2B5EF4-FFF2-40B4-BE49-F238E27FC236}">
                <a16:creationId xmlns:a16="http://schemas.microsoft.com/office/drawing/2014/main" id="{41DECE14-28DB-46FC-9811-0B61980A0AA4}"/>
              </a:ext>
            </a:extLst>
          </p:cNvPr>
          <p:cNvSpPr>
            <a:spLocks noGrp="1"/>
          </p:cNvSpPr>
          <p:nvPr/>
        </p:nvSpPr>
        <p:spPr>
          <a:xfrm>
            <a:off x="3305175" y="1190625"/>
            <a:ext cx="66675" cy="8763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1-k2-value">
            <a:extLst>
              <a:ext uri="{FF2B5EF4-FFF2-40B4-BE49-F238E27FC236}">
                <a16:creationId xmlns:a16="http://schemas.microsoft.com/office/drawing/2014/main" id="{B61EE8A9-9BE2-4EFF-A69C-97212F8CAE81}"/>
              </a:ext>
            </a:extLst>
          </p:cNvPr>
          <p:cNvSpPr>
            <a:spLocks noGrp="1"/>
          </p:cNvSpPr>
          <p:nvPr/>
        </p:nvSpPr>
        <p:spPr>
          <a:xfrm>
            <a:off x="3514725" y="132397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324D"/>
                </a:solidFill>
              </a:defRPr>
            </a:pPr>
            <a:r>
              <a:rPr sz="2475" b="1">
                <a:solidFill>
                  <a:srgbClr val="17324D"/>
                </a:solidFill>
              </a:rPr>
              <a:t>EUR 318.6m</a:t>
            </a:r>
          </a:p>
        </p:txBody>
      </p:sp>
      <p:sp>
        <p:nvSpPr>
          <p:cNvPr id="14" name="s1-k2-label">
            <a:extLst>
              <a:ext uri="{FF2B5EF4-FFF2-40B4-BE49-F238E27FC236}">
                <a16:creationId xmlns:a16="http://schemas.microsoft.com/office/drawing/2014/main" id="{DC568949-16EF-4F02-9E41-719E1A7CA16C}"/>
              </a:ext>
            </a:extLst>
          </p:cNvPr>
          <p:cNvSpPr>
            <a:spLocks noGrp="1"/>
          </p:cNvSpPr>
          <p:nvPr/>
        </p:nvSpPr>
        <p:spPr>
          <a:xfrm>
            <a:off x="3514725" y="1790700"/>
            <a:ext cx="2305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TOTAL PROJECT EC MAXIMUM</a:t>
            </a:r>
          </a:p>
        </p:txBody>
      </p:sp>
      <p:sp>
        <p:nvSpPr>
          <p:cNvPr id="15" name="s1-k3-card">
            <a:extLst>
              <a:ext uri="{FF2B5EF4-FFF2-40B4-BE49-F238E27FC236}">
                <a16:creationId xmlns:a16="http://schemas.microsoft.com/office/drawing/2014/main" id="{F46BADF3-330F-4A52-AD07-CB11854BD937}"/>
              </a:ext>
            </a:extLst>
          </p:cNvPr>
          <p:cNvSpPr>
            <a:spLocks noGrp="1"/>
          </p:cNvSpPr>
          <p:nvPr/>
        </p:nvSpPr>
        <p:spPr>
          <a:xfrm>
            <a:off x="6153150" y="1190625"/>
            <a:ext cx="26860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1-k3-accent">
            <a:extLst>
              <a:ext uri="{FF2B5EF4-FFF2-40B4-BE49-F238E27FC236}">
                <a16:creationId xmlns:a16="http://schemas.microsoft.com/office/drawing/2014/main" id="{A208CF89-BE46-409E-B4E2-D945679B8499}"/>
              </a:ext>
            </a:extLst>
          </p:cNvPr>
          <p:cNvSpPr>
            <a:spLocks noGrp="1"/>
          </p:cNvSpPr>
          <p:nvPr/>
        </p:nvSpPr>
        <p:spPr>
          <a:xfrm>
            <a:off x="6153150" y="1190625"/>
            <a:ext cx="66675" cy="8763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1-k3-value">
            <a:extLst>
              <a:ext uri="{FF2B5EF4-FFF2-40B4-BE49-F238E27FC236}">
                <a16:creationId xmlns:a16="http://schemas.microsoft.com/office/drawing/2014/main" id="{0265103C-02BC-4AB0-AC3A-F05169718BDB}"/>
              </a:ext>
            </a:extLst>
          </p:cNvPr>
          <p:cNvSpPr>
            <a:spLocks noGrp="1"/>
          </p:cNvSpPr>
          <p:nvPr/>
        </p:nvSpPr>
        <p:spPr>
          <a:xfrm>
            <a:off x="6362700" y="132397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324D"/>
                </a:solidFill>
              </a:defRPr>
            </a:pPr>
            <a:r>
              <a:rPr sz="2475" b="1">
                <a:solidFill>
                  <a:srgbClr val="17324D"/>
                </a:solidFill>
              </a:rPr>
              <a:t>29</a:t>
            </a:r>
          </a:p>
        </p:txBody>
      </p:sp>
      <p:sp>
        <p:nvSpPr>
          <p:cNvPr id="18" name="s1-k3-label">
            <a:extLst>
              <a:ext uri="{FF2B5EF4-FFF2-40B4-BE49-F238E27FC236}">
                <a16:creationId xmlns:a16="http://schemas.microsoft.com/office/drawing/2014/main" id="{2B7DA060-0364-4495-A7FE-BD38CF252573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2305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IE + NZ ORGANISATIONS</a:t>
            </a:r>
          </a:p>
        </p:txBody>
      </p:sp>
      <p:sp>
        <p:nvSpPr>
          <p:cNvPr id="19" name="s1-k3-note">
            <a:extLst>
              <a:ext uri="{FF2B5EF4-FFF2-40B4-BE49-F238E27FC236}">
                <a16:creationId xmlns:a16="http://schemas.microsoft.com/office/drawing/2014/main" id="{9414D1AD-D121-404A-B4C3-32D98B1C0241}"/>
              </a:ext>
            </a:extLst>
          </p:cNvPr>
          <p:cNvSpPr>
            <a:spLocks noGrp="1"/>
          </p:cNvSpPr>
          <p:nvPr/>
        </p:nvSpPr>
        <p:spPr>
          <a:xfrm>
            <a:off x="7743825" y="128587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788"/>
                </a:solidFill>
              </a:defRPr>
            </a:pPr>
            <a:r>
              <a:rPr sz="900" b="0">
                <a:solidFill>
                  <a:srgbClr val="667788"/>
                </a:solidFill>
              </a:rPr>
              <a:t>deduplicated</a:t>
            </a:r>
          </a:p>
        </p:txBody>
      </p:sp>
      <p:sp>
        <p:nvSpPr>
          <p:cNvPr id="20" name="s1-k4-card">
            <a:extLst>
              <a:ext uri="{FF2B5EF4-FFF2-40B4-BE49-F238E27FC236}">
                <a16:creationId xmlns:a16="http://schemas.microsoft.com/office/drawing/2014/main" id="{9021B58E-18C9-4CD9-908E-9A2EBE082BA1}"/>
              </a:ext>
            </a:extLst>
          </p:cNvPr>
          <p:cNvSpPr>
            <a:spLocks noGrp="1"/>
          </p:cNvSpPr>
          <p:nvPr/>
        </p:nvSpPr>
        <p:spPr>
          <a:xfrm>
            <a:off x="9001125" y="1190625"/>
            <a:ext cx="26860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1-k4-accent">
            <a:extLst>
              <a:ext uri="{FF2B5EF4-FFF2-40B4-BE49-F238E27FC236}">
                <a16:creationId xmlns:a16="http://schemas.microsoft.com/office/drawing/2014/main" id="{208CF4CB-E82B-4F39-9EC1-364119FEC804}"/>
              </a:ext>
            </a:extLst>
          </p:cNvPr>
          <p:cNvSpPr>
            <a:spLocks noGrp="1"/>
          </p:cNvSpPr>
          <p:nvPr/>
        </p:nvSpPr>
        <p:spPr>
          <a:xfrm>
            <a:off x="9001125" y="1190625"/>
            <a:ext cx="66675" cy="8763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1-k4-value">
            <a:extLst>
              <a:ext uri="{FF2B5EF4-FFF2-40B4-BE49-F238E27FC236}">
                <a16:creationId xmlns:a16="http://schemas.microsoft.com/office/drawing/2014/main" id="{E1E6D59C-2801-415A-A920-7DA7649AA4CB}"/>
              </a:ext>
            </a:extLst>
          </p:cNvPr>
          <p:cNvSpPr>
            <a:spLocks noGrp="1"/>
          </p:cNvSpPr>
          <p:nvPr/>
        </p:nvSpPr>
        <p:spPr>
          <a:xfrm>
            <a:off x="9210675" y="132397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324D"/>
                </a:solidFill>
              </a:defRPr>
            </a:pPr>
            <a:r>
              <a:rPr sz="2475" b="1">
                <a:solidFill>
                  <a:srgbClr val="17324D"/>
                </a:solidFill>
              </a:rPr>
              <a:t>3</a:t>
            </a:r>
          </a:p>
        </p:txBody>
      </p:sp>
      <p:sp>
        <p:nvSpPr>
          <p:cNvPr id="23" name="s1-k4-label">
            <a:extLst>
              <a:ext uri="{FF2B5EF4-FFF2-40B4-BE49-F238E27FC236}">
                <a16:creationId xmlns:a16="http://schemas.microsoft.com/office/drawing/2014/main" id="{37511A0C-81AA-4840-8BFF-6556F70B2A50}"/>
              </a:ext>
            </a:extLst>
          </p:cNvPr>
          <p:cNvSpPr>
            <a:spLocks noGrp="1"/>
          </p:cNvSpPr>
          <p:nvPr/>
        </p:nvSpPr>
        <p:spPr>
          <a:xfrm>
            <a:off x="9210675" y="1790700"/>
            <a:ext cx="2305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IRELAND-COORDINATED PROJECTS</a:t>
            </a:r>
          </a:p>
        </p:txBody>
      </p:sp>
      <p:sp>
        <p:nvSpPr>
          <p:cNvPr id="24" name="s1-clusters-panel">
            <a:extLst>
              <a:ext uri="{FF2B5EF4-FFF2-40B4-BE49-F238E27FC236}">
                <a16:creationId xmlns:a16="http://schemas.microsoft.com/office/drawing/2014/main" id="{C591694B-4921-4DD0-815D-F46F3869CAE1}"/>
              </a:ext>
            </a:extLst>
          </p:cNvPr>
          <p:cNvSpPr>
            <a:spLocks noGrp="1"/>
          </p:cNvSpPr>
          <p:nvPr/>
        </p:nvSpPr>
        <p:spPr>
          <a:xfrm>
            <a:off x="457200" y="2257425"/>
            <a:ext cx="6667500" cy="2638425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1-clusters-title">
            <a:extLst>
              <a:ext uri="{FF2B5EF4-FFF2-40B4-BE49-F238E27FC236}">
                <a16:creationId xmlns:a16="http://schemas.microsoft.com/office/drawing/2014/main" id="{71FF8898-C5B3-45F0-B66E-C531B7D86929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628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The portfolio is balanced across four clusters</a:t>
            </a:r>
          </a:p>
        </p:txBody>
      </p:sp>
      <p:sp>
        <p:nvSpPr>
          <p:cNvPr id="26" name="s1-clusters-subtitle">
            <a:extLst>
              <a:ext uri="{FF2B5EF4-FFF2-40B4-BE49-F238E27FC236}">
                <a16:creationId xmlns:a16="http://schemas.microsoft.com/office/drawing/2014/main" id="{E78F14E5-EDEA-4177-A0D3-226724261245}"/>
              </a:ext>
            </a:extLst>
          </p:cNvPr>
          <p:cNvSpPr>
            <a:spLocks noGrp="1"/>
          </p:cNvSpPr>
          <p:nvPr/>
        </p:nvSpPr>
        <p:spPr>
          <a:xfrm>
            <a:off x="647700" y="2714625"/>
            <a:ext cx="628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Distinct shared projects by Horizon Europe cluster</a:t>
            </a:r>
          </a:p>
        </p:txBody>
      </p:sp>
      <p:graphicFrame>
        <p:nvGraphicFramePr>
          <p:cNvPr id="73" name="Chart"/>
          <p:cNvGraphicFramePr/>
          <p:nvPr/>
        </p:nvGraphicFramePr>
        <p:xfrm>
          <a:off x="666750" y="2914650"/>
          <a:ext cx="6191250" cy="1790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1-actions-panel">
            <a:extLst>
              <a:ext uri="{FF2B5EF4-FFF2-40B4-BE49-F238E27FC236}">
                <a16:creationId xmlns:a16="http://schemas.microsoft.com/office/drawing/2014/main" id="{3C154880-62A4-44F1-8617-E255255801E1}"/>
              </a:ext>
            </a:extLst>
          </p:cNvPr>
          <p:cNvSpPr>
            <a:spLocks noGrp="1"/>
          </p:cNvSpPr>
          <p:nvPr/>
        </p:nvSpPr>
        <p:spPr>
          <a:xfrm>
            <a:off x="7296150" y="2257425"/>
            <a:ext cx="4391025" cy="2638425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1-actions-title">
            <a:extLst>
              <a:ext uri="{FF2B5EF4-FFF2-40B4-BE49-F238E27FC236}">
                <a16:creationId xmlns:a16="http://schemas.microsoft.com/office/drawing/2014/main" id="{DF7D9ACD-7728-43BC-80A7-4E4CA04BAC53}"/>
              </a:ext>
            </a:extLst>
          </p:cNvPr>
          <p:cNvSpPr>
            <a:spLocks noGrp="1"/>
          </p:cNvSpPr>
          <p:nvPr/>
        </p:nvSpPr>
        <p:spPr>
          <a:xfrm>
            <a:off x="7486650" y="2400300"/>
            <a:ext cx="40100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Research actions form the core</a:t>
            </a:r>
          </a:p>
        </p:txBody>
      </p:sp>
      <p:sp>
        <p:nvSpPr>
          <p:cNvPr id="30" name="s1-actions-subtitle">
            <a:extLst>
              <a:ext uri="{FF2B5EF4-FFF2-40B4-BE49-F238E27FC236}">
                <a16:creationId xmlns:a16="http://schemas.microsoft.com/office/drawing/2014/main" id="{F82CF38B-2B07-4A90-B18B-68CA64D184BF}"/>
              </a:ext>
            </a:extLst>
          </p:cNvPr>
          <p:cNvSpPr>
            <a:spLocks noGrp="1"/>
          </p:cNvSpPr>
          <p:nvPr/>
        </p:nvSpPr>
        <p:spPr>
          <a:xfrm>
            <a:off x="7486650" y="2714625"/>
            <a:ext cx="4010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Action mix across the 12 shared projects</a:t>
            </a:r>
          </a:p>
        </p:txBody>
      </p:sp>
      <p:graphicFrame>
        <p:nvGraphicFramePr>
          <p:cNvPr id="77" name="Chart"/>
          <p:cNvGraphicFramePr/>
          <p:nvPr/>
        </p:nvGraphicFramePr>
        <p:xfrm>
          <a:off x="7524750" y="2981325"/>
          <a:ext cx="3810000" cy="163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s1-i1-surface">
            <a:extLst>
              <a:ext uri="{FF2B5EF4-FFF2-40B4-BE49-F238E27FC236}">
                <a16:creationId xmlns:a16="http://schemas.microsoft.com/office/drawing/2014/main" id="{022F14B7-F676-482A-BB54-13A4F37EFA8A}"/>
              </a:ext>
            </a:extLst>
          </p:cNvPr>
          <p:cNvSpPr>
            <a:spLocks noGrp="1"/>
          </p:cNvSpPr>
          <p:nvPr/>
        </p:nvSpPr>
        <p:spPr>
          <a:xfrm>
            <a:off x="457200" y="5057775"/>
            <a:ext cx="3524250" cy="1066800"/>
          </a:xfrm>
          <a:prstGeom prst="roundRect">
            <a:avLst>
              <a:gd name="adj" fmla="val 1428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1-i1-dot">
            <a:extLst>
              <a:ext uri="{FF2B5EF4-FFF2-40B4-BE49-F238E27FC236}">
                <a16:creationId xmlns:a16="http://schemas.microsoft.com/office/drawing/2014/main" id="{A6686D07-68E1-4D76-BD5C-FC4505A5F385}"/>
              </a:ext>
            </a:extLst>
          </p:cNvPr>
          <p:cNvSpPr>
            <a:spLocks noGrp="1"/>
          </p:cNvSpPr>
          <p:nvPr/>
        </p:nvSpPr>
        <p:spPr>
          <a:xfrm>
            <a:off x="647700" y="5229225"/>
            <a:ext cx="114300" cy="1143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1-i1-title">
            <a:extLst>
              <a:ext uri="{FF2B5EF4-FFF2-40B4-BE49-F238E27FC236}">
                <a16:creationId xmlns:a16="http://schemas.microsoft.com/office/drawing/2014/main" id="{B8E10501-F0E1-4A71-9B9B-856E4B39DBDD}"/>
              </a:ext>
            </a:extLst>
          </p:cNvPr>
          <p:cNvSpPr>
            <a:spLocks noGrp="1"/>
          </p:cNvSpPr>
          <p:nvPr/>
        </p:nvSpPr>
        <p:spPr>
          <a:xfrm>
            <a:off x="857250" y="5172075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67788"/>
                </a:solidFill>
              </a:defRPr>
            </a:pPr>
            <a:r>
              <a:rPr sz="1125" b="1">
                <a:solidFill>
                  <a:srgbClr val="667788"/>
                </a:solidFill>
              </a:rPr>
              <a:t>PORTFOLIO BREADTH</a:t>
            </a:r>
          </a:p>
        </p:txBody>
      </p:sp>
      <p:sp>
        <p:nvSpPr>
          <p:cNvPr id="35" name="s1-i1-body">
            <a:extLst>
              <a:ext uri="{FF2B5EF4-FFF2-40B4-BE49-F238E27FC236}">
                <a16:creationId xmlns:a16="http://schemas.microsoft.com/office/drawing/2014/main" id="{F8650DFD-0C24-465D-9CF1-E690B0CA5F57}"/>
              </a:ext>
            </a:extLst>
          </p:cNvPr>
          <p:cNvSpPr>
            <a:spLocks noGrp="1"/>
          </p:cNvSpPr>
          <p:nvPr/>
        </p:nvSpPr>
        <p:spPr>
          <a:xfrm>
            <a:off x="647700" y="54864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Health and Cluster 6 each account for four projects.</a:t>
            </a:r>
          </a:p>
        </p:txBody>
      </p:sp>
      <p:sp>
        <p:nvSpPr>
          <p:cNvPr id="36" name="s1-i2-surface">
            <a:extLst>
              <a:ext uri="{FF2B5EF4-FFF2-40B4-BE49-F238E27FC236}">
                <a16:creationId xmlns:a16="http://schemas.microsoft.com/office/drawing/2014/main" id="{35472C94-AB3F-4D5A-8532-B6B87AE6FF8C}"/>
              </a:ext>
            </a:extLst>
          </p:cNvPr>
          <p:cNvSpPr>
            <a:spLocks noGrp="1"/>
          </p:cNvSpPr>
          <p:nvPr/>
        </p:nvSpPr>
        <p:spPr>
          <a:xfrm>
            <a:off x="4333875" y="5057775"/>
            <a:ext cx="3524250" cy="1066800"/>
          </a:xfrm>
          <a:prstGeom prst="roundRect">
            <a:avLst>
              <a:gd name="adj" fmla="val 14286"/>
            </a:avLst>
          </a:prstGeom>
          <a:solidFill>
            <a:srgbClr val="EAF1F7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1-i2-dot">
            <a:extLst>
              <a:ext uri="{FF2B5EF4-FFF2-40B4-BE49-F238E27FC236}">
                <a16:creationId xmlns:a16="http://schemas.microsoft.com/office/drawing/2014/main" id="{C8502E70-7973-4991-B840-4EBB6FB6E70B}"/>
              </a:ext>
            </a:extLst>
          </p:cNvPr>
          <p:cNvSpPr>
            <a:spLocks noGrp="1"/>
          </p:cNvSpPr>
          <p:nvPr/>
        </p:nvSpPr>
        <p:spPr>
          <a:xfrm>
            <a:off x="4524375" y="5229225"/>
            <a:ext cx="114300" cy="114300"/>
          </a:xfrm>
          <a:prstGeom prst="ellipse">
            <a:avLst/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1-i2-title">
            <a:extLst>
              <a:ext uri="{FF2B5EF4-FFF2-40B4-BE49-F238E27FC236}">
                <a16:creationId xmlns:a16="http://schemas.microsoft.com/office/drawing/2014/main" id="{5385B1CF-5886-4890-B04B-EF6B0F827D7B}"/>
              </a:ext>
            </a:extLst>
          </p:cNvPr>
          <p:cNvSpPr>
            <a:spLocks noGrp="1"/>
          </p:cNvSpPr>
          <p:nvPr/>
        </p:nvSpPr>
        <p:spPr>
          <a:xfrm>
            <a:off x="4733925" y="5172075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67788"/>
                </a:solidFill>
              </a:defRPr>
            </a:pPr>
            <a:r>
              <a:rPr sz="1125" b="1">
                <a:solidFill>
                  <a:srgbClr val="667788"/>
                </a:solidFill>
              </a:rPr>
              <a:t>ACTION PROFILE</a:t>
            </a:r>
          </a:p>
        </p:txBody>
      </p:sp>
      <p:sp>
        <p:nvSpPr>
          <p:cNvPr id="39" name="s1-i2-body">
            <a:extLst>
              <a:ext uri="{FF2B5EF4-FFF2-40B4-BE49-F238E27FC236}">
                <a16:creationId xmlns:a16="http://schemas.microsoft.com/office/drawing/2014/main" id="{93A1A899-F5A8-4A90-AE46-D4455AEBEB30}"/>
              </a:ext>
            </a:extLst>
          </p:cNvPr>
          <p:cNvSpPr>
            <a:spLocks noGrp="1"/>
          </p:cNvSpPr>
          <p:nvPr/>
        </p:nvSpPr>
        <p:spPr>
          <a:xfrm>
            <a:off x="4524375" y="54864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Six RIA projects are complemented by three IA and three COFUND actions.</a:t>
            </a:r>
          </a:p>
        </p:txBody>
      </p:sp>
      <p:sp>
        <p:nvSpPr>
          <p:cNvPr id="40" name="s1-i3-surface">
            <a:extLst>
              <a:ext uri="{FF2B5EF4-FFF2-40B4-BE49-F238E27FC236}">
                <a16:creationId xmlns:a16="http://schemas.microsoft.com/office/drawing/2014/main" id="{F3E15C47-D6A0-46B8-B8E6-784744870427}"/>
              </a:ext>
            </a:extLst>
          </p:cNvPr>
          <p:cNvSpPr>
            <a:spLocks noGrp="1"/>
          </p:cNvSpPr>
          <p:nvPr/>
        </p:nvSpPr>
        <p:spPr>
          <a:xfrm>
            <a:off x="8210550" y="5057775"/>
            <a:ext cx="3476625" cy="1066800"/>
          </a:xfrm>
          <a:prstGeom prst="roundRect">
            <a:avLst>
              <a:gd name="adj" fmla="val 14286"/>
            </a:avLst>
          </a:prstGeom>
          <a:solidFill>
            <a:srgbClr val="FFF1E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1-i3-dot">
            <a:extLst>
              <a:ext uri="{FF2B5EF4-FFF2-40B4-BE49-F238E27FC236}">
                <a16:creationId xmlns:a16="http://schemas.microsoft.com/office/drawing/2014/main" id="{C49737A1-6C57-4FEE-93AA-425A8B8A47E4}"/>
              </a:ext>
            </a:extLst>
          </p:cNvPr>
          <p:cNvSpPr>
            <a:spLocks noGrp="1"/>
          </p:cNvSpPr>
          <p:nvPr/>
        </p:nvSpPr>
        <p:spPr>
          <a:xfrm>
            <a:off x="8401050" y="5229225"/>
            <a:ext cx="114300" cy="1143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1-i3-title">
            <a:extLst>
              <a:ext uri="{FF2B5EF4-FFF2-40B4-BE49-F238E27FC236}">
                <a16:creationId xmlns:a16="http://schemas.microsoft.com/office/drawing/2014/main" id="{3F5B3601-8661-47FA-AF2B-754600479DEB}"/>
              </a:ext>
            </a:extLst>
          </p:cNvPr>
          <p:cNvSpPr>
            <a:spLocks noGrp="1"/>
          </p:cNvSpPr>
          <p:nvPr/>
        </p:nvSpPr>
        <p:spPr>
          <a:xfrm>
            <a:off x="8610600" y="5172075"/>
            <a:ext cx="28860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67788"/>
                </a:solidFill>
              </a:defRPr>
            </a:pPr>
            <a:r>
              <a:rPr sz="1125" b="1">
                <a:solidFill>
                  <a:srgbClr val="667788"/>
                </a:solidFill>
              </a:rPr>
              <a:t>FINANCIAL CONTEXT</a:t>
            </a:r>
          </a:p>
        </p:txBody>
      </p:sp>
      <p:sp>
        <p:nvSpPr>
          <p:cNvPr id="43" name="s1-i3-body">
            <a:extLst>
              <a:ext uri="{FF2B5EF4-FFF2-40B4-BE49-F238E27FC236}">
                <a16:creationId xmlns:a16="http://schemas.microsoft.com/office/drawing/2014/main" id="{D48661F7-25DF-4B43-9D59-6523DD88B23B}"/>
              </a:ext>
            </a:extLst>
          </p:cNvPr>
          <p:cNvSpPr>
            <a:spLocks noGrp="1"/>
          </p:cNvSpPr>
          <p:nvPr/>
        </p:nvSpPr>
        <p:spPr>
          <a:xfrm>
            <a:off x="8401050" y="54864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COFUND partnerships drive much of the EUR 318.6m total project value.</a:t>
            </a:r>
          </a:p>
        </p:txBody>
      </p:sp>
      <p:sp>
        <p:nvSpPr>
          <p:cNvPr id="44" name="footer-line-1">
            <a:extLst>
              <a:ext uri="{FF2B5EF4-FFF2-40B4-BE49-F238E27FC236}">
                <a16:creationId xmlns:a16="http://schemas.microsoft.com/office/drawing/2014/main" id="{171D86C4-9423-4015-AB15-2D88E22EC720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footer-source-1">
            <a:extLst>
              <a:ext uri="{FF2B5EF4-FFF2-40B4-BE49-F238E27FC236}">
                <a16:creationId xmlns:a16="http://schemas.microsoft.com/office/drawing/2014/main" id="{259991D9-FDF8-4B05-A57F-2F2852878EAD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XML portfolio; database snapshot 21 Aug 2026.</a:t>
            </a:r>
          </a:p>
        </p:txBody>
      </p:sp>
      <p:sp>
        <p:nvSpPr>
          <p:cNvPr id="46" name="footer-page-1">
            <a:extLst>
              <a:ext uri="{FF2B5EF4-FFF2-40B4-BE49-F238E27FC236}">
                <a16:creationId xmlns:a16="http://schemas.microsoft.com/office/drawing/2014/main" id="{CA27F93A-8E6A-4214-9F28-72FCFDFE2E96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1 / 14</a:t>
            </a:r>
          </a:p>
        </p:txBody>
      </p:sp>
    </p:spTree>
    <p:extLst>
      <p:ext uri="{BB962C8B-B14F-4D97-AF65-F5344CB8AC3E}">
        <p14:creationId xmlns:p14="http://schemas.microsoft.com/office/powerpoint/2010/main" val="54183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header-2">
            <a:extLst>
              <a:ext uri="{FF2B5EF4-FFF2-40B4-BE49-F238E27FC236}">
                <a16:creationId xmlns:a16="http://schemas.microsoft.com/office/drawing/2014/main" id="{C6F368C6-A6E3-46EB-843B-D51085BAC8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header-accent-2">
            <a:extLst>
              <a:ext uri="{FF2B5EF4-FFF2-40B4-BE49-F238E27FC236}">
                <a16:creationId xmlns:a16="http://schemas.microsoft.com/office/drawing/2014/main" id="{6B9C31B2-EA45-40D1-820F-EDC78ACB86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28700"/>
          </a:xfrm>
          <a:prstGeom prst="rect">
            <a:avLst/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eyebrow-2">
            <a:extLst>
              <a:ext uri="{FF2B5EF4-FFF2-40B4-BE49-F238E27FC236}">
                <a16:creationId xmlns:a16="http://schemas.microsoft.com/office/drawing/2014/main" id="{DF16A434-D7BA-43C1-9357-DD78865245BD}"/>
              </a:ext>
            </a:extLst>
          </p:cNvPr>
          <p:cNvSpPr>
            <a:spLocks noGrp="1"/>
          </p:cNvSpPr>
          <p:nvPr/>
        </p:nvSpPr>
        <p:spPr>
          <a:xfrm>
            <a:off x="457200" y="14287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C78A8"/>
                </a:solidFill>
              </a:defRPr>
            </a:pPr>
            <a:r>
              <a:rPr sz="1200" b="1">
                <a:solidFill>
                  <a:srgbClr val="4C78A8"/>
                </a:solidFill>
              </a:rPr>
              <a:t>INSTITUTIONAL FOOTPRINT</a:t>
            </a:r>
          </a:p>
        </p:txBody>
      </p:sp>
      <p:sp>
        <p:nvSpPr>
          <p:cNvPr id="4" name="title-2">
            <a:extLst>
              <a:ext uri="{FF2B5EF4-FFF2-40B4-BE49-F238E27FC236}">
                <a16:creationId xmlns:a16="http://schemas.microsoft.com/office/drawing/2014/main" id="{12C5B8E3-B181-4BDE-8116-C86CA8D2AD0C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29 organisations in the bilateral portfolio</a:t>
            </a:r>
          </a:p>
        </p:txBody>
      </p:sp>
      <p:sp>
        <p:nvSpPr>
          <p:cNvPr id="5" name="subtitle-2">
            <a:extLst>
              <a:ext uri="{FF2B5EF4-FFF2-40B4-BE49-F238E27FC236}">
                <a16:creationId xmlns:a16="http://schemas.microsoft.com/office/drawing/2014/main" id="{3E7BBDAA-DDB0-4DE5-926B-A76259FE5BC3}"/>
              </a:ext>
            </a:extLst>
          </p:cNvPr>
          <p:cNvSpPr>
            <a:spLocks noGrp="1"/>
          </p:cNvSpPr>
          <p:nvPr/>
        </p:nvSpPr>
        <p:spPr>
          <a:xfrm>
            <a:off x="8763000" y="4095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CFDAE2"/>
                </a:solidFill>
              </a:defRPr>
            </a:pPr>
            <a:r>
              <a:rPr sz="1125" b="0">
                <a:solidFill>
                  <a:srgbClr val="CFDAE2"/>
                </a:solidFill>
              </a:rPr>
              <a:t>Organisation-level participation | Shared-project subset</a:t>
            </a:r>
          </a:p>
        </p:txBody>
      </p:sp>
      <p:sp>
        <p:nvSpPr>
          <p:cNvPr id="6" name="page-2">
            <a:extLst>
              <a:ext uri="{FF2B5EF4-FFF2-40B4-BE49-F238E27FC236}">
                <a16:creationId xmlns:a16="http://schemas.microsoft.com/office/drawing/2014/main" id="{D54CCE69-B721-4C49-802F-7BC082EBE866}"/>
              </a:ext>
            </a:extLst>
          </p:cNvPr>
          <p:cNvSpPr>
            <a:spLocks noGrp="1"/>
          </p:cNvSpPr>
          <p:nvPr/>
        </p:nvSpPr>
        <p:spPr>
          <a:xfrm>
            <a:off x="10906125" y="733425"/>
            <a:ext cx="809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AFC0CC"/>
                </a:solidFill>
              </a:defRPr>
            </a:pPr>
            <a:r>
              <a:rPr sz="975" b="1">
                <a:solidFill>
                  <a:srgbClr val="AFC0CC"/>
                </a:solidFill>
              </a:rPr>
              <a:t>2 / 14</a:t>
            </a:r>
          </a:p>
        </p:txBody>
      </p:sp>
      <p:sp>
        <p:nvSpPr>
          <p:cNvPr id="7" name="s2-k1-card">
            <a:extLst>
              <a:ext uri="{FF2B5EF4-FFF2-40B4-BE49-F238E27FC236}">
                <a16:creationId xmlns:a16="http://schemas.microsoft.com/office/drawing/2014/main" id="{972F2754-352F-40FF-8F5A-BB498683FB53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26860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s2-k1-accent">
            <a:extLst>
              <a:ext uri="{FF2B5EF4-FFF2-40B4-BE49-F238E27FC236}">
                <a16:creationId xmlns:a16="http://schemas.microsoft.com/office/drawing/2014/main" id="{24AA8955-13AB-41E2-82B3-FB1484F31314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66675" cy="876300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2-k1-value">
            <a:extLst>
              <a:ext uri="{FF2B5EF4-FFF2-40B4-BE49-F238E27FC236}">
                <a16:creationId xmlns:a16="http://schemas.microsoft.com/office/drawing/2014/main" id="{D488CB79-7F9C-479F-AE0E-4C1ACC424576}"/>
              </a:ext>
            </a:extLst>
          </p:cNvPr>
          <p:cNvSpPr>
            <a:spLocks noGrp="1"/>
          </p:cNvSpPr>
          <p:nvPr/>
        </p:nvSpPr>
        <p:spPr>
          <a:xfrm>
            <a:off x="666750" y="132397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324D"/>
                </a:solidFill>
              </a:defRPr>
            </a:pPr>
            <a:r>
              <a:rPr sz="2475" b="1">
                <a:solidFill>
                  <a:srgbClr val="17324D"/>
                </a:solidFill>
              </a:rPr>
              <a:t>16</a:t>
            </a:r>
          </a:p>
        </p:txBody>
      </p:sp>
      <p:sp>
        <p:nvSpPr>
          <p:cNvPr id="10" name="s2-k1-label">
            <a:extLst>
              <a:ext uri="{FF2B5EF4-FFF2-40B4-BE49-F238E27FC236}">
                <a16:creationId xmlns:a16="http://schemas.microsoft.com/office/drawing/2014/main" id="{8615B07B-D570-4C3F-9649-D584BA6159ED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2305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IRISH ORGANISATIONS</a:t>
            </a:r>
          </a:p>
        </p:txBody>
      </p:sp>
      <p:sp>
        <p:nvSpPr>
          <p:cNvPr id="11" name="s2-k1-note">
            <a:extLst>
              <a:ext uri="{FF2B5EF4-FFF2-40B4-BE49-F238E27FC236}">
                <a16:creationId xmlns:a16="http://schemas.microsoft.com/office/drawing/2014/main" id="{70C5C738-DF4C-42EE-8AA6-1666E7A240E4}"/>
              </a:ext>
            </a:extLst>
          </p:cNvPr>
          <p:cNvSpPr>
            <a:spLocks noGrp="1"/>
          </p:cNvSpPr>
          <p:nvPr/>
        </p:nvSpPr>
        <p:spPr>
          <a:xfrm>
            <a:off x="2047875" y="128587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788"/>
                </a:solidFill>
              </a:defRPr>
            </a:pPr>
            <a:r>
              <a:rPr sz="900" b="0">
                <a:solidFill>
                  <a:srgbClr val="667788"/>
                </a:solidFill>
              </a:rPr>
              <a:t>25 records</a:t>
            </a:r>
          </a:p>
        </p:txBody>
      </p:sp>
      <p:sp>
        <p:nvSpPr>
          <p:cNvPr id="12" name="s2-k2-card">
            <a:extLst>
              <a:ext uri="{FF2B5EF4-FFF2-40B4-BE49-F238E27FC236}">
                <a16:creationId xmlns:a16="http://schemas.microsoft.com/office/drawing/2014/main" id="{A1FB2697-8A74-42EF-8295-F611AFFD2394}"/>
              </a:ext>
            </a:extLst>
          </p:cNvPr>
          <p:cNvSpPr>
            <a:spLocks noGrp="1"/>
          </p:cNvSpPr>
          <p:nvPr/>
        </p:nvSpPr>
        <p:spPr>
          <a:xfrm>
            <a:off x="3305175" y="1190625"/>
            <a:ext cx="26860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2-k2-accent">
            <a:extLst>
              <a:ext uri="{FF2B5EF4-FFF2-40B4-BE49-F238E27FC236}">
                <a16:creationId xmlns:a16="http://schemas.microsoft.com/office/drawing/2014/main" id="{1F2F7774-E90B-424D-9650-4D60498B7CE1}"/>
              </a:ext>
            </a:extLst>
          </p:cNvPr>
          <p:cNvSpPr>
            <a:spLocks noGrp="1"/>
          </p:cNvSpPr>
          <p:nvPr/>
        </p:nvSpPr>
        <p:spPr>
          <a:xfrm>
            <a:off x="3305175" y="1190625"/>
            <a:ext cx="66675" cy="8763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2-k2-value">
            <a:extLst>
              <a:ext uri="{FF2B5EF4-FFF2-40B4-BE49-F238E27FC236}">
                <a16:creationId xmlns:a16="http://schemas.microsoft.com/office/drawing/2014/main" id="{BE8683F3-93BD-454D-B9D4-B10BB6D6FC95}"/>
              </a:ext>
            </a:extLst>
          </p:cNvPr>
          <p:cNvSpPr>
            <a:spLocks noGrp="1"/>
          </p:cNvSpPr>
          <p:nvPr/>
        </p:nvSpPr>
        <p:spPr>
          <a:xfrm>
            <a:off x="3514725" y="132397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324D"/>
                </a:solidFill>
              </a:defRPr>
            </a:pPr>
            <a:r>
              <a:rPr sz="2475" b="1">
                <a:solidFill>
                  <a:srgbClr val="17324D"/>
                </a:solidFill>
              </a:rPr>
              <a:t>13</a:t>
            </a:r>
          </a:p>
        </p:txBody>
      </p:sp>
      <p:sp>
        <p:nvSpPr>
          <p:cNvPr id="15" name="s2-k2-label">
            <a:extLst>
              <a:ext uri="{FF2B5EF4-FFF2-40B4-BE49-F238E27FC236}">
                <a16:creationId xmlns:a16="http://schemas.microsoft.com/office/drawing/2014/main" id="{A324706D-B27B-4D55-9D1D-C89A6420C639}"/>
              </a:ext>
            </a:extLst>
          </p:cNvPr>
          <p:cNvSpPr>
            <a:spLocks noGrp="1"/>
          </p:cNvSpPr>
          <p:nvPr/>
        </p:nvSpPr>
        <p:spPr>
          <a:xfrm>
            <a:off x="3514725" y="1790700"/>
            <a:ext cx="2305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NEW ZEALAND ORGANISATIONS</a:t>
            </a:r>
          </a:p>
        </p:txBody>
      </p:sp>
      <p:sp>
        <p:nvSpPr>
          <p:cNvPr id="16" name="s2-k2-note">
            <a:extLst>
              <a:ext uri="{FF2B5EF4-FFF2-40B4-BE49-F238E27FC236}">
                <a16:creationId xmlns:a16="http://schemas.microsoft.com/office/drawing/2014/main" id="{A281AD50-8AAC-476E-A0EF-6FC1006CE76D}"/>
              </a:ext>
            </a:extLst>
          </p:cNvPr>
          <p:cNvSpPr>
            <a:spLocks noGrp="1"/>
          </p:cNvSpPr>
          <p:nvPr/>
        </p:nvSpPr>
        <p:spPr>
          <a:xfrm>
            <a:off x="4895850" y="128587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788"/>
                </a:solidFill>
              </a:defRPr>
            </a:pPr>
            <a:r>
              <a:rPr sz="900" b="0">
                <a:solidFill>
                  <a:srgbClr val="667788"/>
                </a:solidFill>
              </a:rPr>
              <a:t>18 records</a:t>
            </a:r>
          </a:p>
        </p:txBody>
      </p:sp>
      <p:sp>
        <p:nvSpPr>
          <p:cNvPr id="17" name="s2-k3-card">
            <a:extLst>
              <a:ext uri="{FF2B5EF4-FFF2-40B4-BE49-F238E27FC236}">
                <a16:creationId xmlns:a16="http://schemas.microsoft.com/office/drawing/2014/main" id="{978BD29C-AD51-41F6-9A7C-B949C1FAED81}"/>
              </a:ext>
            </a:extLst>
          </p:cNvPr>
          <p:cNvSpPr>
            <a:spLocks noGrp="1"/>
          </p:cNvSpPr>
          <p:nvPr/>
        </p:nvSpPr>
        <p:spPr>
          <a:xfrm>
            <a:off x="6153150" y="1190625"/>
            <a:ext cx="26860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2-k3-accent">
            <a:extLst>
              <a:ext uri="{FF2B5EF4-FFF2-40B4-BE49-F238E27FC236}">
                <a16:creationId xmlns:a16="http://schemas.microsoft.com/office/drawing/2014/main" id="{B8D8A204-B9E9-482D-8202-72F51167B011}"/>
              </a:ext>
            </a:extLst>
          </p:cNvPr>
          <p:cNvSpPr>
            <a:spLocks noGrp="1"/>
          </p:cNvSpPr>
          <p:nvPr/>
        </p:nvSpPr>
        <p:spPr>
          <a:xfrm>
            <a:off x="6153150" y="1190625"/>
            <a:ext cx="66675" cy="8763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2-k3-value">
            <a:extLst>
              <a:ext uri="{FF2B5EF4-FFF2-40B4-BE49-F238E27FC236}">
                <a16:creationId xmlns:a16="http://schemas.microsoft.com/office/drawing/2014/main" id="{302BCC96-D4BA-4094-AC3E-CF3E3A35BC75}"/>
              </a:ext>
            </a:extLst>
          </p:cNvPr>
          <p:cNvSpPr>
            <a:spLocks noGrp="1"/>
          </p:cNvSpPr>
          <p:nvPr/>
        </p:nvSpPr>
        <p:spPr>
          <a:xfrm>
            <a:off x="6362700" y="132397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324D"/>
                </a:solidFill>
              </a:defRPr>
            </a:pPr>
            <a:r>
              <a:rPr sz="2475" b="1">
                <a:solidFill>
                  <a:srgbClr val="17324D"/>
                </a:solidFill>
              </a:rPr>
              <a:t>EUR 13.0m</a:t>
            </a:r>
          </a:p>
        </p:txBody>
      </p:sp>
      <p:sp>
        <p:nvSpPr>
          <p:cNvPr id="20" name="s2-k3-label">
            <a:extLst>
              <a:ext uri="{FF2B5EF4-FFF2-40B4-BE49-F238E27FC236}">
                <a16:creationId xmlns:a16="http://schemas.microsoft.com/office/drawing/2014/main" id="{D42B9E71-1C7B-4C7E-A126-A00796954916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2305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IRISH EC CONTRIBUTION</a:t>
            </a:r>
          </a:p>
        </p:txBody>
      </p:sp>
      <p:sp>
        <p:nvSpPr>
          <p:cNvPr id="21" name="s2-k4-card">
            <a:extLst>
              <a:ext uri="{FF2B5EF4-FFF2-40B4-BE49-F238E27FC236}">
                <a16:creationId xmlns:a16="http://schemas.microsoft.com/office/drawing/2014/main" id="{2611502B-A6AD-4287-989F-398AC9DB6343}"/>
              </a:ext>
            </a:extLst>
          </p:cNvPr>
          <p:cNvSpPr>
            <a:spLocks noGrp="1"/>
          </p:cNvSpPr>
          <p:nvPr/>
        </p:nvSpPr>
        <p:spPr>
          <a:xfrm>
            <a:off x="9001125" y="1190625"/>
            <a:ext cx="26860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2-k4-accent">
            <a:extLst>
              <a:ext uri="{FF2B5EF4-FFF2-40B4-BE49-F238E27FC236}">
                <a16:creationId xmlns:a16="http://schemas.microsoft.com/office/drawing/2014/main" id="{F22EB34A-6043-4BD4-A14B-A89EDF9DCC4D}"/>
              </a:ext>
            </a:extLst>
          </p:cNvPr>
          <p:cNvSpPr>
            <a:spLocks noGrp="1"/>
          </p:cNvSpPr>
          <p:nvPr/>
        </p:nvSpPr>
        <p:spPr>
          <a:xfrm>
            <a:off x="9001125" y="1190625"/>
            <a:ext cx="66675" cy="8763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2-k4-value">
            <a:extLst>
              <a:ext uri="{FF2B5EF4-FFF2-40B4-BE49-F238E27FC236}">
                <a16:creationId xmlns:a16="http://schemas.microsoft.com/office/drawing/2014/main" id="{65B5C764-07D1-4DE1-9B0A-2BE4FB1AA35B}"/>
              </a:ext>
            </a:extLst>
          </p:cNvPr>
          <p:cNvSpPr>
            <a:spLocks noGrp="1"/>
          </p:cNvSpPr>
          <p:nvPr/>
        </p:nvSpPr>
        <p:spPr>
          <a:xfrm>
            <a:off x="9210675" y="132397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324D"/>
                </a:solidFill>
              </a:defRPr>
            </a:pPr>
            <a:r>
              <a:rPr sz="2475" b="1">
                <a:solidFill>
                  <a:srgbClr val="17324D"/>
                </a:solidFill>
              </a:rPr>
              <a:t>EUR 4.3m</a:t>
            </a:r>
          </a:p>
        </p:txBody>
      </p:sp>
      <p:sp>
        <p:nvSpPr>
          <p:cNvPr id="24" name="s2-k4-label">
            <a:extLst>
              <a:ext uri="{FF2B5EF4-FFF2-40B4-BE49-F238E27FC236}">
                <a16:creationId xmlns:a16="http://schemas.microsoft.com/office/drawing/2014/main" id="{9D67C7EE-7E35-4E93-8C4F-B8F19ADB84CF}"/>
              </a:ext>
            </a:extLst>
          </p:cNvPr>
          <p:cNvSpPr>
            <a:spLocks noGrp="1"/>
          </p:cNvSpPr>
          <p:nvPr/>
        </p:nvSpPr>
        <p:spPr>
          <a:xfrm>
            <a:off x="9210675" y="1790700"/>
            <a:ext cx="2305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NZ EC CONTRIBUTION</a:t>
            </a:r>
          </a:p>
        </p:txBody>
      </p:sp>
      <p:sp>
        <p:nvSpPr>
          <p:cNvPr id="25" name="s2-ie-panel">
            <a:extLst>
              <a:ext uri="{FF2B5EF4-FFF2-40B4-BE49-F238E27FC236}">
                <a16:creationId xmlns:a16="http://schemas.microsoft.com/office/drawing/2014/main" id="{23A71291-21DA-412B-9655-FBF2357AAB35}"/>
              </a:ext>
            </a:extLst>
          </p:cNvPr>
          <p:cNvSpPr>
            <a:spLocks noGrp="1"/>
          </p:cNvSpPr>
          <p:nvPr/>
        </p:nvSpPr>
        <p:spPr>
          <a:xfrm>
            <a:off x="457200" y="2257425"/>
            <a:ext cx="5534025" cy="2733675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2-ie-title">
            <a:extLst>
              <a:ext uri="{FF2B5EF4-FFF2-40B4-BE49-F238E27FC236}">
                <a16:creationId xmlns:a16="http://schemas.microsoft.com/office/drawing/2014/main" id="{6E5B7D57-F689-4B40-8EBE-C771406007DA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51530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Most active organisations in Ireland</a:t>
            </a:r>
          </a:p>
        </p:txBody>
      </p:sp>
      <p:sp>
        <p:nvSpPr>
          <p:cNvPr id="27" name="s2-ie-subtitle">
            <a:extLst>
              <a:ext uri="{FF2B5EF4-FFF2-40B4-BE49-F238E27FC236}">
                <a16:creationId xmlns:a16="http://schemas.microsoft.com/office/drawing/2014/main" id="{44274C62-0076-4E3A-BA36-A915AF2B69DE}"/>
              </a:ext>
            </a:extLst>
          </p:cNvPr>
          <p:cNvSpPr>
            <a:spLocks noGrp="1"/>
          </p:cNvSpPr>
          <p:nvPr/>
        </p:nvSpPr>
        <p:spPr>
          <a:xfrm>
            <a:off x="647700" y="2714625"/>
            <a:ext cx="5153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Distinct projects within the bilateral portfolio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666750" y="2914650"/>
          <a:ext cx="5067300" cy="188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2-nz-panel">
            <a:extLst>
              <a:ext uri="{FF2B5EF4-FFF2-40B4-BE49-F238E27FC236}">
                <a16:creationId xmlns:a16="http://schemas.microsoft.com/office/drawing/2014/main" id="{CCC90F2F-BF9B-4FA6-BCB2-1DDE6E4BD399}"/>
              </a:ext>
            </a:extLst>
          </p:cNvPr>
          <p:cNvSpPr>
            <a:spLocks noGrp="1"/>
          </p:cNvSpPr>
          <p:nvPr/>
        </p:nvSpPr>
        <p:spPr>
          <a:xfrm>
            <a:off x="6162675" y="2257425"/>
            <a:ext cx="5524500" cy="2733675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2-nz-title">
            <a:extLst>
              <a:ext uri="{FF2B5EF4-FFF2-40B4-BE49-F238E27FC236}">
                <a16:creationId xmlns:a16="http://schemas.microsoft.com/office/drawing/2014/main" id="{C4A23D97-6C2B-4E61-A08E-7A8202BC6EA0}"/>
              </a:ext>
            </a:extLst>
          </p:cNvPr>
          <p:cNvSpPr>
            <a:spLocks noGrp="1"/>
          </p:cNvSpPr>
          <p:nvPr/>
        </p:nvSpPr>
        <p:spPr>
          <a:xfrm>
            <a:off x="6353175" y="24003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Most active organisations in New Zealand</a:t>
            </a:r>
          </a:p>
        </p:txBody>
      </p:sp>
      <p:sp>
        <p:nvSpPr>
          <p:cNvPr id="31" name="s2-nz-subtitle">
            <a:extLst>
              <a:ext uri="{FF2B5EF4-FFF2-40B4-BE49-F238E27FC236}">
                <a16:creationId xmlns:a16="http://schemas.microsoft.com/office/drawing/2014/main" id="{F4C139E7-7321-4306-8432-25FA99B20267}"/>
              </a:ext>
            </a:extLst>
          </p:cNvPr>
          <p:cNvSpPr>
            <a:spLocks noGrp="1"/>
          </p:cNvSpPr>
          <p:nvPr/>
        </p:nvSpPr>
        <p:spPr>
          <a:xfrm>
            <a:off x="6353175" y="2714625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Distinct projects within the bilateral portfolio</a:t>
            </a:r>
          </a:p>
        </p:txBody>
      </p:sp>
      <p:graphicFrame>
        <p:nvGraphicFramePr>
          <p:cNvPr id="71" name="Chart"/>
          <p:cNvGraphicFramePr/>
          <p:nvPr/>
        </p:nvGraphicFramePr>
        <p:xfrm>
          <a:off x="6372225" y="2914650"/>
          <a:ext cx="5067300" cy="188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s2-bottom">
            <a:extLst>
              <a:ext uri="{FF2B5EF4-FFF2-40B4-BE49-F238E27FC236}">
                <a16:creationId xmlns:a16="http://schemas.microsoft.com/office/drawing/2014/main" id="{3A5B51D0-6A8E-4350-88DE-498AACEF97B8}"/>
              </a:ext>
            </a:extLst>
          </p:cNvPr>
          <p:cNvSpPr>
            <a:spLocks noGrp="1"/>
          </p:cNvSpPr>
          <p:nvPr/>
        </p:nvSpPr>
        <p:spPr>
          <a:xfrm>
            <a:off x="457200" y="5172075"/>
            <a:ext cx="11229975" cy="1000125"/>
          </a:xfrm>
          <a:prstGeom prst="roundRect">
            <a:avLst>
              <a:gd name="adj" fmla="val 15238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2-bottom-title">
            <a:extLst>
              <a:ext uri="{FF2B5EF4-FFF2-40B4-BE49-F238E27FC236}">
                <a16:creationId xmlns:a16="http://schemas.microsoft.com/office/drawing/2014/main" id="{8EBC6925-EBAB-44BD-ABB0-962D7B98E06D}"/>
              </a:ext>
            </a:extLst>
          </p:cNvPr>
          <p:cNvSpPr>
            <a:spLocks noGrp="1"/>
          </p:cNvSpPr>
          <p:nvPr/>
        </p:nvSpPr>
        <p:spPr>
          <a:xfrm>
            <a:off x="695325" y="522922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The bilateral footprint is institutionally diverse</a:t>
            </a:r>
          </a:p>
        </p:txBody>
      </p:sp>
      <p:sp>
        <p:nvSpPr>
          <p:cNvPr id="35" name="s2-bottom-a">
            <a:extLst>
              <a:ext uri="{FF2B5EF4-FFF2-40B4-BE49-F238E27FC236}">
                <a16:creationId xmlns:a16="http://schemas.microsoft.com/office/drawing/2014/main" id="{48B7E832-7FF9-4FB7-A7E5-D506DB1E2537}"/>
              </a:ext>
            </a:extLst>
          </p:cNvPr>
          <p:cNvSpPr>
            <a:spLocks noGrp="1"/>
          </p:cNvSpPr>
          <p:nvPr/>
        </p:nvSpPr>
        <p:spPr>
          <a:xfrm>
            <a:off x="695325" y="5600700"/>
            <a:ext cx="4953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3ECF1"/>
                </a:solidFill>
              </a:defRPr>
            </a:pPr>
            <a:r>
              <a:rPr sz="1275" b="0" dirty="0">
                <a:solidFill>
                  <a:srgbClr val="E3ECF1"/>
                </a:solidFill>
              </a:rPr>
              <a:t>Ireland contributes a broader institutional base and coordinates three projects.</a:t>
            </a:r>
          </a:p>
        </p:txBody>
      </p:sp>
      <p:sp>
        <p:nvSpPr>
          <p:cNvPr id="36" name="s2-bottom-b">
            <a:extLst>
              <a:ext uri="{FF2B5EF4-FFF2-40B4-BE49-F238E27FC236}">
                <a16:creationId xmlns:a16="http://schemas.microsoft.com/office/drawing/2014/main" id="{5BD30BF9-DF2C-444B-B3BC-B40A5C5B406D}"/>
              </a:ext>
            </a:extLst>
          </p:cNvPr>
          <p:cNvSpPr>
            <a:spLocks noGrp="1"/>
          </p:cNvSpPr>
          <p:nvPr/>
        </p:nvSpPr>
        <p:spPr>
          <a:xfrm>
            <a:off x="6175201" y="5600699"/>
            <a:ext cx="5143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3ECF1"/>
                </a:solidFill>
              </a:defRPr>
            </a:pPr>
            <a:r>
              <a:rPr sz="1275" b="0" dirty="0">
                <a:solidFill>
                  <a:srgbClr val="E3ECF1"/>
                </a:solidFill>
              </a:rPr>
              <a:t>New Zealand participation is concentrated in universities, public bodies and applied research </a:t>
            </a:r>
            <a:r>
              <a:rPr sz="1275" b="0" dirty="0" err="1">
                <a:solidFill>
                  <a:srgbClr val="E3ECF1"/>
                </a:solidFill>
              </a:rPr>
              <a:t>organisations</a:t>
            </a:r>
            <a:r>
              <a:rPr sz="1275" b="0" dirty="0">
                <a:solidFill>
                  <a:srgbClr val="E3ECF1"/>
                </a:solidFill>
              </a:rPr>
              <a:t>.</a:t>
            </a:r>
          </a:p>
        </p:txBody>
      </p:sp>
      <p:sp>
        <p:nvSpPr>
          <p:cNvPr id="37" name="footer-line-2">
            <a:extLst>
              <a:ext uri="{FF2B5EF4-FFF2-40B4-BE49-F238E27FC236}">
                <a16:creationId xmlns:a16="http://schemas.microsoft.com/office/drawing/2014/main" id="{F0CA7D9A-73EE-4C79-AB64-74D9B824CC79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footer-source-2">
            <a:extLst>
              <a:ext uri="{FF2B5EF4-FFF2-40B4-BE49-F238E27FC236}">
                <a16:creationId xmlns:a16="http://schemas.microsoft.com/office/drawing/2014/main" id="{A8F721F9-03F7-4849-8940-ACF8E63AEE12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XML portfolio; database snapshot 21 Aug 2026.</a:t>
            </a:r>
          </a:p>
        </p:txBody>
      </p:sp>
      <p:sp>
        <p:nvSpPr>
          <p:cNvPr id="39" name="footer-page-2">
            <a:extLst>
              <a:ext uri="{FF2B5EF4-FFF2-40B4-BE49-F238E27FC236}">
                <a16:creationId xmlns:a16="http://schemas.microsoft.com/office/drawing/2014/main" id="{B5D6364B-5A9F-4432-9C3D-FE5663375795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2 / 14</a:t>
            </a:r>
          </a:p>
        </p:txBody>
      </p:sp>
    </p:spTree>
    <p:extLst>
      <p:ext uri="{BB962C8B-B14F-4D97-AF65-F5344CB8AC3E}">
        <p14:creationId xmlns:p14="http://schemas.microsoft.com/office/powerpoint/2010/main" val="36197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-header-0">
            <a:extLst>
              <a:ext uri="{FF2B5EF4-FFF2-40B4-BE49-F238E27FC236}">
                <a16:creationId xmlns:a16="http://schemas.microsoft.com/office/drawing/2014/main" id="{FBDB2C9D-4287-4075-8392-09D3FE1724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0">
            <a:extLst>
              <a:ext uri="{FF2B5EF4-FFF2-40B4-BE49-F238E27FC236}">
                <a16:creationId xmlns:a16="http://schemas.microsoft.com/office/drawing/2014/main" id="{77DCED15-08B2-4D6A-A188-B45D05BFC5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0">
            <a:extLst>
              <a:ext uri="{FF2B5EF4-FFF2-40B4-BE49-F238E27FC236}">
                <a16:creationId xmlns:a16="http://schemas.microsoft.com/office/drawing/2014/main" id="{9BE13068-227E-41CC-B112-A693C7F06EDE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28E5B"/>
                </a:solidFill>
              </a:defRPr>
            </a:pPr>
            <a:r>
              <a:rPr sz="1050" b="1">
                <a:solidFill>
                  <a:srgbClr val="F28E5B"/>
                </a:solidFill>
              </a:rPr>
              <a:t>CLUSTER 1 - HEALTH</a:t>
            </a:r>
          </a:p>
        </p:txBody>
      </p:sp>
      <p:sp>
        <p:nvSpPr>
          <p:cNvPr id="4" name="p-acronym-0">
            <a:extLst>
              <a:ext uri="{FF2B5EF4-FFF2-40B4-BE49-F238E27FC236}">
                <a16:creationId xmlns:a16="http://schemas.microsoft.com/office/drawing/2014/main" id="{8304FBAA-F0D4-47C0-97EB-55E640EA2624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BE READY NOW</a:t>
            </a:r>
          </a:p>
        </p:txBody>
      </p:sp>
      <p:sp>
        <p:nvSpPr>
          <p:cNvPr id="5" name="p-title-0">
            <a:extLst>
              <a:ext uri="{FF2B5EF4-FFF2-40B4-BE49-F238E27FC236}">
                <a16:creationId xmlns:a16="http://schemas.microsoft.com/office/drawing/2014/main" id="{8E5E9505-02A0-4002-9548-29C9FB731757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European partnership for pandemic preparedness</a:t>
            </a:r>
          </a:p>
        </p:txBody>
      </p:sp>
      <p:sp>
        <p:nvSpPr>
          <p:cNvPr id="6" name="p-number-0">
            <a:extLst>
              <a:ext uri="{FF2B5EF4-FFF2-40B4-BE49-F238E27FC236}">
                <a16:creationId xmlns:a16="http://schemas.microsoft.com/office/drawing/2014/main" id="{47468456-0655-4570-9265-5966005C7ACB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1 / 12</a:t>
            </a:r>
          </a:p>
        </p:txBody>
      </p:sp>
      <p:sp>
        <p:nvSpPr>
          <p:cNvPr id="7" name="p-id-0">
            <a:extLst>
              <a:ext uri="{FF2B5EF4-FFF2-40B4-BE49-F238E27FC236}">
                <a16:creationId xmlns:a16="http://schemas.microsoft.com/office/drawing/2014/main" id="{C98B734B-05CC-4810-A5B9-0A418C1E39A1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101226682</a:t>
            </a:r>
          </a:p>
        </p:txBody>
      </p:sp>
      <p:sp>
        <p:nvSpPr>
          <p:cNvPr id="8" name="p0-k1-card">
            <a:extLst>
              <a:ext uri="{FF2B5EF4-FFF2-40B4-BE49-F238E27FC236}">
                <a16:creationId xmlns:a16="http://schemas.microsoft.com/office/drawing/2014/main" id="{9A78269A-23DA-457E-8FB3-4ABC71C929F1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0-k1-accent">
            <a:extLst>
              <a:ext uri="{FF2B5EF4-FFF2-40B4-BE49-F238E27FC236}">
                <a16:creationId xmlns:a16="http://schemas.microsoft.com/office/drawing/2014/main" id="{BBEAB69B-829D-4953-825C-463EAD8569F1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0-k1-value">
            <a:extLst>
              <a:ext uri="{FF2B5EF4-FFF2-40B4-BE49-F238E27FC236}">
                <a16:creationId xmlns:a16="http://schemas.microsoft.com/office/drawing/2014/main" id="{FB1BF5AE-55D4-4607-B11A-E39F54464ABC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57.3m</a:t>
            </a:r>
          </a:p>
        </p:txBody>
      </p:sp>
      <p:sp>
        <p:nvSpPr>
          <p:cNvPr id="11" name="p0-k1-label">
            <a:extLst>
              <a:ext uri="{FF2B5EF4-FFF2-40B4-BE49-F238E27FC236}">
                <a16:creationId xmlns:a16="http://schemas.microsoft.com/office/drawing/2014/main" id="{DA2E7F26-83AD-49BB-A4A1-EBC5254898B6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0-k2-card">
            <a:extLst>
              <a:ext uri="{FF2B5EF4-FFF2-40B4-BE49-F238E27FC236}">
                <a16:creationId xmlns:a16="http://schemas.microsoft.com/office/drawing/2014/main" id="{EF0BAFE5-86DC-43B2-8192-43D5E3C930C2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0-k2-accent">
            <a:extLst>
              <a:ext uri="{FF2B5EF4-FFF2-40B4-BE49-F238E27FC236}">
                <a16:creationId xmlns:a16="http://schemas.microsoft.com/office/drawing/2014/main" id="{DAE58D1C-6525-44F3-9408-B07EF4B39618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0-k2-value">
            <a:extLst>
              <a:ext uri="{FF2B5EF4-FFF2-40B4-BE49-F238E27FC236}">
                <a16:creationId xmlns:a16="http://schemas.microsoft.com/office/drawing/2014/main" id="{A0F87D67-F7B3-4DDA-9D3B-CB70B95BD2F4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COFUND</a:t>
            </a:r>
          </a:p>
        </p:txBody>
      </p:sp>
      <p:sp>
        <p:nvSpPr>
          <p:cNvPr id="15" name="p0-k2-label">
            <a:extLst>
              <a:ext uri="{FF2B5EF4-FFF2-40B4-BE49-F238E27FC236}">
                <a16:creationId xmlns:a16="http://schemas.microsoft.com/office/drawing/2014/main" id="{8530C7A8-3A5A-40BB-8C5D-F65D8802E2D6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0-k3-card">
            <a:extLst>
              <a:ext uri="{FF2B5EF4-FFF2-40B4-BE49-F238E27FC236}">
                <a16:creationId xmlns:a16="http://schemas.microsoft.com/office/drawing/2014/main" id="{70FED98E-E089-4A89-9681-705A1A39B167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0-k3-accent">
            <a:extLst>
              <a:ext uri="{FF2B5EF4-FFF2-40B4-BE49-F238E27FC236}">
                <a16:creationId xmlns:a16="http://schemas.microsoft.com/office/drawing/2014/main" id="{DBD79B8B-6125-4D91-AFD0-AF37F02ACC55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0-k3-value">
            <a:extLst>
              <a:ext uri="{FF2B5EF4-FFF2-40B4-BE49-F238E27FC236}">
                <a16:creationId xmlns:a16="http://schemas.microsoft.com/office/drawing/2014/main" id="{DB066426-6896-41FD-BA6F-DD86843288CB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Jan 2026 - Dec 2032</a:t>
            </a:r>
          </a:p>
        </p:txBody>
      </p:sp>
      <p:sp>
        <p:nvSpPr>
          <p:cNvPr id="19" name="p0-k3-label">
            <a:extLst>
              <a:ext uri="{FF2B5EF4-FFF2-40B4-BE49-F238E27FC236}">
                <a16:creationId xmlns:a16="http://schemas.microsoft.com/office/drawing/2014/main" id="{2A625072-0958-4922-9E81-91F1D10947E9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84 MONTHS</a:t>
            </a:r>
          </a:p>
        </p:txBody>
      </p:sp>
      <p:sp>
        <p:nvSpPr>
          <p:cNvPr id="20" name="p0-k4-card">
            <a:extLst>
              <a:ext uri="{FF2B5EF4-FFF2-40B4-BE49-F238E27FC236}">
                <a16:creationId xmlns:a16="http://schemas.microsoft.com/office/drawing/2014/main" id="{D281248F-4840-46CD-B316-6847276165F1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0-k4-accent">
            <a:extLst>
              <a:ext uri="{FF2B5EF4-FFF2-40B4-BE49-F238E27FC236}">
                <a16:creationId xmlns:a16="http://schemas.microsoft.com/office/drawing/2014/main" id="{F9FE3A07-11D4-4564-9F76-2FC9EB977482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0-k4-value">
            <a:extLst>
              <a:ext uri="{FF2B5EF4-FFF2-40B4-BE49-F238E27FC236}">
                <a16:creationId xmlns:a16="http://schemas.microsoft.com/office/drawing/2014/main" id="{70719AEF-8A9A-41EA-B798-D557BB21A6A7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81 orgs / 27 countries</a:t>
            </a:r>
          </a:p>
        </p:txBody>
      </p:sp>
      <p:sp>
        <p:nvSpPr>
          <p:cNvPr id="23" name="p0-k4-label">
            <a:extLst>
              <a:ext uri="{FF2B5EF4-FFF2-40B4-BE49-F238E27FC236}">
                <a16:creationId xmlns:a16="http://schemas.microsoft.com/office/drawing/2014/main" id="{1CD8FCAF-FB8A-4EFE-87EA-1A63169ECFF6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0">
            <a:extLst>
              <a:ext uri="{FF2B5EF4-FFF2-40B4-BE49-F238E27FC236}">
                <a16:creationId xmlns:a16="http://schemas.microsoft.com/office/drawing/2014/main" id="{1C0C94A5-26FD-4678-8191-30BFDAD01401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0">
            <a:extLst>
              <a:ext uri="{FF2B5EF4-FFF2-40B4-BE49-F238E27FC236}">
                <a16:creationId xmlns:a16="http://schemas.microsoft.com/office/drawing/2014/main" id="{BCCE2A37-F495-4635-BC3E-67997477CC45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0">
            <a:extLst>
              <a:ext uri="{FF2B5EF4-FFF2-40B4-BE49-F238E27FC236}">
                <a16:creationId xmlns:a16="http://schemas.microsoft.com/office/drawing/2014/main" id="{D4C8A6B3-3627-4089-9E01-21095EC8E0EF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Builds a coordinated European research and innovation ecosystem for pandemic preparedness, aligning funders, public-health bodies, clinical networks and research infrastructures around shared priorities.</a:t>
            </a:r>
          </a:p>
        </p:txBody>
      </p:sp>
      <p:sp>
        <p:nvSpPr>
          <p:cNvPr id="27" name="p-lens-0">
            <a:extLst>
              <a:ext uri="{FF2B5EF4-FFF2-40B4-BE49-F238E27FC236}">
                <a16:creationId xmlns:a16="http://schemas.microsoft.com/office/drawing/2014/main" id="{28CAF859-A1F9-4683-A199-D35EF409AF06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0">
            <a:extLst>
              <a:ext uri="{FF2B5EF4-FFF2-40B4-BE49-F238E27FC236}">
                <a16:creationId xmlns:a16="http://schemas.microsoft.com/office/drawing/2014/main" id="{C20EF54B-C199-48F2-9F9A-FB56DEECDC6B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0">
            <a:extLst>
              <a:ext uri="{FF2B5EF4-FFF2-40B4-BE49-F238E27FC236}">
                <a16:creationId xmlns:a16="http://schemas.microsoft.com/office/drawing/2014/main" id="{3718B9CA-606E-42E0-8E05-F5C9830B6563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 dirty="0">
                <a:solidFill>
                  <a:srgbClr val="17324D"/>
                </a:solidFill>
              </a:rPr>
              <a:t>6 bilateral participants | EUR 1.8m recorded EC contribution</a:t>
            </a:r>
          </a:p>
        </p:txBody>
      </p:sp>
      <p:sp>
        <p:nvSpPr>
          <p:cNvPr id="30" name="p-call-label-0">
            <a:extLst>
              <a:ext uri="{FF2B5EF4-FFF2-40B4-BE49-F238E27FC236}">
                <a16:creationId xmlns:a16="http://schemas.microsoft.com/office/drawing/2014/main" id="{277C6EA8-BC28-48F1-9C85-4A9501FFDAA5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0">
            <a:extLst>
              <a:ext uri="{FF2B5EF4-FFF2-40B4-BE49-F238E27FC236}">
                <a16:creationId xmlns:a16="http://schemas.microsoft.com/office/drawing/2014/main" id="{2EDC8038-AAF2-44FA-9421-6857E4429836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HORIZON-HLTH-2024-DISEASE-12</a:t>
            </a:r>
          </a:p>
        </p:txBody>
      </p:sp>
      <p:sp>
        <p:nvSpPr>
          <p:cNvPr id="32" name="p-topic-label-0">
            <a:extLst>
              <a:ext uri="{FF2B5EF4-FFF2-40B4-BE49-F238E27FC236}">
                <a16:creationId xmlns:a16="http://schemas.microsoft.com/office/drawing/2014/main" id="{B202BAB8-BB1F-43BF-9772-11AA7E9E83B3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0">
            <a:extLst>
              <a:ext uri="{FF2B5EF4-FFF2-40B4-BE49-F238E27FC236}">
                <a16:creationId xmlns:a16="http://schemas.microsoft.com/office/drawing/2014/main" id="{74C5E0A8-291D-48F2-A845-0CB55FF93BC4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HORIZON-HLTH-2024-DISEASE-12-01</a:t>
            </a:r>
          </a:p>
        </p:txBody>
      </p:sp>
      <p:sp>
        <p:nvSpPr>
          <p:cNvPr id="34" name="p-topic-title-0">
            <a:extLst>
              <a:ext uri="{FF2B5EF4-FFF2-40B4-BE49-F238E27FC236}">
                <a16:creationId xmlns:a16="http://schemas.microsoft.com/office/drawing/2014/main" id="{3B67B766-8F35-4ECF-B120-C489DDA3FFD6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European partnership for pandemic preparedness</a:t>
            </a:r>
          </a:p>
        </p:txBody>
      </p:sp>
      <p:sp>
        <p:nvSpPr>
          <p:cNvPr id="35" name="p-coord-label-0">
            <a:extLst>
              <a:ext uri="{FF2B5EF4-FFF2-40B4-BE49-F238E27FC236}">
                <a16:creationId xmlns:a16="http://schemas.microsoft.com/office/drawing/2014/main" id="{AC19103D-CBA1-4B81-8C9E-AD19E4E5092B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0">
            <a:extLst>
              <a:ext uri="{FF2B5EF4-FFF2-40B4-BE49-F238E27FC236}">
                <a16:creationId xmlns:a16="http://schemas.microsoft.com/office/drawing/2014/main" id="{811B2DC3-7B26-49A5-81E6-4D66866B54CD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INSTITUT NATIONAL DE LA SANTE ET DE LA RECHERCHE MEDICALE (France)</a:t>
            </a:r>
          </a:p>
        </p:txBody>
      </p:sp>
      <p:sp>
        <p:nvSpPr>
          <p:cNvPr id="37" name="ie-panel-0">
            <a:extLst>
              <a:ext uri="{FF2B5EF4-FFF2-40B4-BE49-F238E27FC236}">
                <a16:creationId xmlns:a16="http://schemas.microsoft.com/office/drawing/2014/main" id="{2119A520-F517-4D0A-9715-F36AA8CF279B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0">
            <a:extLst>
              <a:ext uri="{FF2B5EF4-FFF2-40B4-BE49-F238E27FC236}">
                <a16:creationId xmlns:a16="http://schemas.microsoft.com/office/drawing/2014/main" id="{F295839D-4FCB-4D43-B843-B44160CFE50E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0">
            <a:extLst>
              <a:ext uri="{FF2B5EF4-FFF2-40B4-BE49-F238E27FC236}">
                <a16:creationId xmlns:a16="http://schemas.microsoft.com/office/drawing/2014/main" id="{ED797DA7-AAC5-41CA-B9DB-D97B15A6F587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0">
            <a:extLst>
              <a:ext uri="{FF2B5EF4-FFF2-40B4-BE49-F238E27FC236}">
                <a16:creationId xmlns:a16="http://schemas.microsoft.com/office/drawing/2014/main" id="{141AD45C-9B3A-4D99-9D1E-DCA1233E4700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0">
            <a:extLst>
              <a:ext uri="{FF2B5EF4-FFF2-40B4-BE49-F238E27FC236}">
                <a16:creationId xmlns:a16="http://schemas.microsoft.com/office/drawing/2014/main" id="{74040426-FFB9-4A5B-ABC5-FD2C176ABF12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4 organisations | EUR 1.6m</a:t>
            </a:r>
          </a:p>
        </p:txBody>
      </p:sp>
      <p:sp>
        <p:nvSpPr>
          <p:cNvPr id="42" name="ie-rule-0">
            <a:extLst>
              <a:ext uri="{FF2B5EF4-FFF2-40B4-BE49-F238E27FC236}">
                <a16:creationId xmlns:a16="http://schemas.microsoft.com/office/drawing/2014/main" id="{31E55603-71A9-48BB-9DEA-DAFB657FA074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0-0">
            <a:extLst>
              <a:ext uri="{FF2B5EF4-FFF2-40B4-BE49-F238E27FC236}">
                <a16:creationId xmlns:a16="http://schemas.microsoft.com/office/drawing/2014/main" id="{ACD9EB8B-CCF2-4E39-BAC0-A64AFEBA9233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Health Research Board</a:t>
            </a:r>
          </a:p>
        </p:txBody>
      </p:sp>
      <p:sp>
        <p:nvSpPr>
          <p:cNvPr id="44" name="ie-org-role-0-0">
            <a:extLst>
              <a:ext uri="{FF2B5EF4-FFF2-40B4-BE49-F238E27FC236}">
                <a16:creationId xmlns:a16="http://schemas.microsoft.com/office/drawing/2014/main" id="{4A8CFE2C-A4E5-42F0-B40C-F4D1027D0E19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Public Body | Beneficiary / Participant</a:t>
            </a:r>
          </a:p>
        </p:txBody>
      </p:sp>
      <p:sp>
        <p:nvSpPr>
          <p:cNvPr id="45" name="ie-org-ec-0-0">
            <a:extLst>
              <a:ext uri="{FF2B5EF4-FFF2-40B4-BE49-F238E27FC236}">
                <a16:creationId xmlns:a16="http://schemas.microsoft.com/office/drawing/2014/main" id="{8E51D64C-289C-4E9A-B6FF-E122891468E5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1.0m</a:t>
            </a:r>
          </a:p>
        </p:txBody>
      </p:sp>
      <p:sp>
        <p:nvSpPr>
          <p:cNvPr id="46" name="ie-org-name-0-1">
            <a:extLst>
              <a:ext uri="{FF2B5EF4-FFF2-40B4-BE49-F238E27FC236}">
                <a16:creationId xmlns:a16="http://schemas.microsoft.com/office/drawing/2014/main" id="{B423D99C-48A8-4976-9C55-7B7EE1564E2B}"/>
              </a:ext>
            </a:extLst>
          </p:cNvPr>
          <p:cNvSpPr>
            <a:spLocks noGrp="1"/>
          </p:cNvSpPr>
          <p:nvPr/>
        </p:nvSpPr>
        <p:spPr>
          <a:xfrm>
            <a:off x="6896100" y="313372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Research Ireland</a:t>
            </a:r>
          </a:p>
        </p:txBody>
      </p:sp>
      <p:sp>
        <p:nvSpPr>
          <p:cNvPr id="47" name="ie-org-role-0-1">
            <a:extLst>
              <a:ext uri="{FF2B5EF4-FFF2-40B4-BE49-F238E27FC236}">
                <a16:creationId xmlns:a16="http://schemas.microsoft.com/office/drawing/2014/main" id="{A5B4CF1B-7CF3-490E-8374-B31D82696655}"/>
              </a:ext>
            </a:extLst>
          </p:cNvPr>
          <p:cNvSpPr>
            <a:spLocks noGrp="1"/>
          </p:cNvSpPr>
          <p:nvPr/>
        </p:nvSpPr>
        <p:spPr>
          <a:xfrm>
            <a:off x="6896100" y="330517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Public Body | Beneficiary / Participant</a:t>
            </a:r>
          </a:p>
        </p:txBody>
      </p:sp>
      <p:sp>
        <p:nvSpPr>
          <p:cNvPr id="48" name="ie-org-ec-0-1">
            <a:extLst>
              <a:ext uri="{FF2B5EF4-FFF2-40B4-BE49-F238E27FC236}">
                <a16:creationId xmlns:a16="http://schemas.microsoft.com/office/drawing/2014/main" id="{79A013D7-E4C8-4253-8C20-C6ACAC117A27}"/>
              </a:ext>
            </a:extLst>
          </p:cNvPr>
          <p:cNvSpPr>
            <a:spLocks noGrp="1"/>
          </p:cNvSpPr>
          <p:nvPr/>
        </p:nvSpPr>
        <p:spPr>
          <a:xfrm>
            <a:off x="10306050" y="315277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557k</a:t>
            </a:r>
          </a:p>
        </p:txBody>
      </p:sp>
      <p:sp>
        <p:nvSpPr>
          <p:cNvPr id="49" name="ie-org-name-0-2">
            <a:extLst>
              <a:ext uri="{FF2B5EF4-FFF2-40B4-BE49-F238E27FC236}">
                <a16:creationId xmlns:a16="http://schemas.microsoft.com/office/drawing/2014/main" id="{386A49C2-0FC8-4DBC-8EDD-FD08C417C2E6}"/>
              </a:ext>
            </a:extLst>
          </p:cNvPr>
          <p:cNvSpPr>
            <a:spLocks noGrp="1"/>
          </p:cNvSpPr>
          <p:nvPr/>
        </p:nvSpPr>
        <p:spPr>
          <a:xfrm>
            <a:off x="6896100" y="34099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University of Galway</a:t>
            </a:r>
          </a:p>
        </p:txBody>
      </p:sp>
      <p:sp>
        <p:nvSpPr>
          <p:cNvPr id="50" name="ie-org-role-0-2">
            <a:extLst>
              <a:ext uri="{FF2B5EF4-FFF2-40B4-BE49-F238E27FC236}">
                <a16:creationId xmlns:a16="http://schemas.microsoft.com/office/drawing/2014/main" id="{C8B35B1B-BF21-4A9B-9EEA-441589B4321C}"/>
              </a:ext>
            </a:extLst>
          </p:cNvPr>
          <p:cNvSpPr>
            <a:spLocks noGrp="1"/>
          </p:cNvSpPr>
          <p:nvPr/>
        </p:nvSpPr>
        <p:spPr>
          <a:xfrm>
            <a:off x="6896100" y="35814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51" name="ie-org-ec-0-2">
            <a:extLst>
              <a:ext uri="{FF2B5EF4-FFF2-40B4-BE49-F238E27FC236}">
                <a16:creationId xmlns:a16="http://schemas.microsoft.com/office/drawing/2014/main" id="{99B4783A-8464-42A1-BE41-54C9F4DCD2D8}"/>
              </a:ext>
            </a:extLst>
          </p:cNvPr>
          <p:cNvSpPr>
            <a:spLocks noGrp="1"/>
          </p:cNvSpPr>
          <p:nvPr/>
        </p:nvSpPr>
        <p:spPr>
          <a:xfrm>
            <a:off x="10306050" y="34290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0</a:t>
            </a:r>
          </a:p>
        </p:txBody>
      </p:sp>
      <p:sp>
        <p:nvSpPr>
          <p:cNvPr id="52" name="ie-org-name-0-3">
            <a:extLst>
              <a:ext uri="{FF2B5EF4-FFF2-40B4-BE49-F238E27FC236}">
                <a16:creationId xmlns:a16="http://schemas.microsoft.com/office/drawing/2014/main" id="{8CB136FC-0944-4139-99E7-FF69AEC1CBFA}"/>
              </a:ext>
            </a:extLst>
          </p:cNvPr>
          <p:cNvSpPr>
            <a:spLocks noGrp="1"/>
          </p:cNvSpPr>
          <p:nvPr/>
        </p:nvSpPr>
        <p:spPr>
          <a:xfrm>
            <a:off x="6896100" y="368617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University College Dublin</a:t>
            </a:r>
          </a:p>
        </p:txBody>
      </p:sp>
      <p:sp>
        <p:nvSpPr>
          <p:cNvPr id="53" name="ie-org-role-0-3">
            <a:extLst>
              <a:ext uri="{FF2B5EF4-FFF2-40B4-BE49-F238E27FC236}">
                <a16:creationId xmlns:a16="http://schemas.microsoft.com/office/drawing/2014/main" id="{900DEC0A-3E61-4219-BC0D-7600C7F348CF}"/>
              </a:ext>
            </a:extLst>
          </p:cNvPr>
          <p:cNvSpPr>
            <a:spLocks noGrp="1"/>
          </p:cNvSpPr>
          <p:nvPr/>
        </p:nvSpPr>
        <p:spPr>
          <a:xfrm>
            <a:off x="6896100" y="385762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54" name="ie-org-ec-0-3">
            <a:extLst>
              <a:ext uri="{FF2B5EF4-FFF2-40B4-BE49-F238E27FC236}">
                <a16:creationId xmlns:a16="http://schemas.microsoft.com/office/drawing/2014/main" id="{97957F97-06C2-4D8D-9ACB-FB0B9D0147AD}"/>
              </a:ext>
            </a:extLst>
          </p:cNvPr>
          <p:cNvSpPr>
            <a:spLocks noGrp="1"/>
          </p:cNvSpPr>
          <p:nvPr/>
        </p:nvSpPr>
        <p:spPr>
          <a:xfrm>
            <a:off x="10306050" y="370522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0</a:t>
            </a:r>
          </a:p>
        </p:txBody>
      </p:sp>
      <p:sp>
        <p:nvSpPr>
          <p:cNvPr id="55" name="nz-panel-0">
            <a:extLst>
              <a:ext uri="{FF2B5EF4-FFF2-40B4-BE49-F238E27FC236}">
                <a16:creationId xmlns:a16="http://schemas.microsoft.com/office/drawing/2014/main" id="{9FE1C322-5F4C-41C3-A804-3B1A9C95BAC9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nz-badge-0">
            <a:extLst>
              <a:ext uri="{FF2B5EF4-FFF2-40B4-BE49-F238E27FC236}">
                <a16:creationId xmlns:a16="http://schemas.microsoft.com/office/drawing/2014/main" id="{FDD12505-60C7-439A-AB7A-0AA3416739B7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nz-code-0">
            <a:extLst>
              <a:ext uri="{FF2B5EF4-FFF2-40B4-BE49-F238E27FC236}">
                <a16:creationId xmlns:a16="http://schemas.microsoft.com/office/drawing/2014/main" id="{CA7956B5-79A6-442B-9E25-EA0F665195D5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58" name="nz-title-0">
            <a:extLst>
              <a:ext uri="{FF2B5EF4-FFF2-40B4-BE49-F238E27FC236}">
                <a16:creationId xmlns:a16="http://schemas.microsoft.com/office/drawing/2014/main" id="{1FA22D7E-509B-4A0A-BC21-285069B7D49E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9" name="nz-total-0">
            <a:extLst>
              <a:ext uri="{FF2B5EF4-FFF2-40B4-BE49-F238E27FC236}">
                <a16:creationId xmlns:a16="http://schemas.microsoft.com/office/drawing/2014/main" id="{0B157D23-15A4-440C-B7FF-A935ED93541B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2 organisations | EUR 190k</a:t>
            </a:r>
          </a:p>
        </p:txBody>
      </p:sp>
      <p:sp>
        <p:nvSpPr>
          <p:cNvPr id="60" name="nz-rule-0">
            <a:extLst>
              <a:ext uri="{FF2B5EF4-FFF2-40B4-BE49-F238E27FC236}">
                <a16:creationId xmlns:a16="http://schemas.microsoft.com/office/drawing/2014/main" id="{14435BD0-9A42-4C77-A8D1-90867BDC823E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nz-org-name-0-0">
            <a:extLst>
              <a:ext uri="{FF2B5EF4-FFF2-40B4-BE49-F238E27FC236}">
                <a16:creationId xmlns:a16="http://schemas.microsoft.com/office/drawing/2014/main" id="{913880C7-7890-4D4D-9BCC-1301D88EA4DB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Ministry of Health</a:t>
            </a:r>
          </a:p>
        </p:txBody>
      </p:sp>
      <p:sp>
        <p:nvSpPr>
          <p:cNvPr id="62" name="nz-org-role-0-0">
            <a:extLst>
              <a:ext uri="{FF2B5EF4-FFF2-40B4-BE49-F238E27FC236}">
                <a16:creationId xmlns:a16="http://schemas.microsoft.com/office/drawing/2014/main" id="{DD103819-6F59-4DA2-A591-5469078F53D7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Public Body | Beneficiary / Participant</a:t>
            </a:r>
          </a:p>
        </p:txBody>
      </p:sp>
      <p:sp>
        <p:nvSpPr>
          <p:cNvPr id="63" name="nz-org-ec-0-0">
            <a:extLst>
              <a:ext uri="{FF2B5EF4-FFF2-40B4-BE49-F238E27FC236}">
                <a16:creationId xmlns:a16="http://schemas.microsoft.com/office/drawing/2014/main" id="{8FF39985-16F1-427F-9AF4-86EBA4CF4A36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30k</a:t>
            </a:r>
          </a:p>
        </p:txBody>
      </p:sp>
      <p:sp>
        <p:nvSpPr>
          <p:cNvPr id="64" name="nz-org-name-0-1">
            <a:extLst>
              <a:ext uri="{FF2B5EF4-FFF2-40B4-BE49-F238E27FC236}">
                <a16:creationId xmlns:a16="http://schemas.microsoft.com/office/drawing/2014/main" id="{0ED4ADC5-AAF3-4FFF-A6AA-057DE9DD2B40}"/>
              </a:ext>
            </a:extLst>
          </p:cNvPr>
          <p:cNvSpPr>
            <a:spLocks noGrp="1"/>
          </p:cNvSpPr>
          <p:nvPr/>
        </p:nvSpPr>
        <p:spPr>
          <a:xfrm>
            <a:off x="6896100" y="538162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Medical Research Institute of NZ</a:t>
            </a:r>
          </a:p>
        </p:txBody>
      </p:sp>
      <p:sp>
        <p:nvSpPr>
          <p:cNvPr id="65" name="nz-org-role-0-1">
            <a:extLst>
              <a:ext uri="{FF2B5EF4-FFF2-40B4-BE49-F238E27FC236}">
                <a16:creationId xmlns:a16="http://schemas.microsoft.com/office/drawing/2014/main" id="{DCD8CE6D-48C6-47A8-BE6C-7C582F412B1E}"/>
              </a:ext>
            </a:extLst>
          </p:cNvPr>
          <p:cNvSpPr>
            <a:spLocks noGrp="1"/>
          </p:cNvSpPr>
          <p:nvPr/>
        </p:nvSpPr>
        <p:spPr>
          <a:xfrm>
            <a:off x="6896100" y="555307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66" name="nz-org-ec-0-1">
            <a:extLst>
              <a:ext uri="{FF2B5EF4-FFF2-40B4-BE49-F238E27FC236}">
                <a16:creationId xmlns:a16="http://schemas.microsoft.com/office/drawing/2014/main" id="{9B19C70A-A756-45D3-8242-4D165FACF1D2}"/>
              </a:ext>
            </a:extLst>
          </p:cNvPr>
          <p:cNvSpPr>
            <a:spLocks noGrp="1"/>
          </p:cNvSpPr>
          <p:nvPr/>
        </p:nvSpPr>
        <p:spPr>
          <a:xfrm>
            <a:off x="10306050" y="540067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160k</a:t>
            </a:r>
          </a:p>
        </p:txBody>
      </p:sp>
      <p:sp>
        <p:nvSpPr>
          <p:cNvPr id="67" name="footer-line-3">
            <a:extLst>
              <a:ext uri="{FF2B5EF4-FFF2-40B4-BE49-F238E27FC236}">
                <a16:creationId xmlns:a16="http://schemas.microsoft.com/office/drawing/2014/main" id="{77E19C10-0BA5-4A53-98D7-32CA8EBC0446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8" name="footer-source-3">
            <a:extLst>
              <a:ext uri="{FF2B5EF4-FFF2-40B4-BE49-F238E27FC236}">
                <a16:creationId xmlns:a16="http://schemas.microsoft.com/office/drawing/2014/main" id="{238ECAC8-6E96-42DD-9723-40E1C681604D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101226682; database snapshot 21 Aug 2026.</a:t>
            </a:r>
          </a:p>
        </p:txBody>
      </p:sp>
      <p:sp>
        <p:nvSpPr>
          <p:cNvPr id="69" name="footer-page-3">
            <a:extLst>
              <a:ext uri="{FF2B5EF4-FFF2-40B4-BE49-F238E27FC236}">
                <a16:creationId xmlns:a16="http://schemas.microsoft.com/office/drawing/2014/main" id="{2A51C886-B8FC-4E22-8E64-4D930A775CAD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3 / 14</a:t>
            </a:r>
          </a:p>
        </p:txBody>
      </p:sp>
    </p:spTree>
    <p:extLst>
      <p:ext uri="{BB962C8B-B14F-4D97-AF65-F5344CB8AC3E}">
        <p14:creationId xmlns:p14="http://schemas.microsoft.com/office/powerpoint/2010/main" val="155399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-header-1">
            <a:extLst>
              <a:ext uri="{FF2B5EF4-FFF2-40B4-BE49-F238E27FC236}">
                <a16:creationId xmlns:a16="http://schemas.microsoft.com/office/drawing/2014/main" id="{FFA66A7D-5AEB-4184-A9BD-445A03747A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1">
            <a:extLst>
              <a:ext uri="{FF2B5EF4-FFF2-40B4-BE49-F238E27FC236}">
                <a16:creationId xmlns:a16="http://schemas.microsoft.com/office/drawing/2014/main" id="{88E139C5-B988-4DB0-8B50-EFA075FA90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1">
            <a:extLst>
              <a:ext uri="{FF2B5EF4-FFF2-40B4-BE49-F238E27FC236}">
                <a16:creationId xmlns:a16="http://schemas.microsoft.com/office/drawing/2014/main" id="{50485FFA-353C-4229-9624-C2DE9A806D7A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28E5B"/>
                </a:solidFill>
              </a:defRPr>
            </a:pPr>
            <a:r>
              <a:rPr sz="1050" b="1">
                <a:solidFill>
                  <a:srgbClr val="F28E5B"/>
                </a:solidFill>
              </a:rPr>
              <a:t>CLUSTER 1 - HEALTH</a:t>
            </a:r>
          </a:p>
        </p:txBody>
      </p:sp>
      <p:sp>
        <p:nvSpPr>
          <p:cNvPr id="4" name="p-acronym-1">
            <a:extLst>
              <a:ext uri="{FF2B5EF4-FFF2-40B4-BE49-F238E27FC236}">
                <a16:creationId xmlns:a16="http://schemas.microsoft.com/office/drawing/2014/main" id="{4636C9F5-AC9C-45A7-A4E8-EE4781E74D2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EP BrainHealth</a:t>
            </a:r>
          </a:p>
        </p:txBody>
      </p:sp>
      <p:sp>
        <p:nvSpPr>
          <p:cNvPr id="5" name="p-title-1">
            <a:extLst>
              <a:ext uri="{FF2B5EF4-FFF2-40B4-BE49-F238E27FC236}">
                <a16:creationId xmlns:a16="http://schemas.microsoft.com/office/drawing/2014/main" id="{F54A98C1-9AC5-499B-8623-D1A2B0C38579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European Partnership for Brain Health</a:t>
            </a:r>
          </a:p>
        </p:txBody>
      </p:sp>
      <p:sp>
        <p:nvSpPr>
          <p:cNvPr id="6" name="p-number-1">
            <a:extLst>
              <a:ext uri="{FF2B5EF4-FFF2-40B4-BE49-F238E27FC236}">
                <a16:creationId xmlns:a16="http://schemas.microsoft.com/office/drawing/2014/main" id="{A61E910E-C6F5-4809-A02D-1A45490AA1E8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2 / 12</a:t>
            </a:r>
          </a:p>
        </p:txBody>
      </p:sp>
      <p:sp>
        <p:nvSpPr>
          <p:cNvPr id="7" name="p-id-1">
            <a:extLst>
              <a:ext uri="{FF2B5EF4-FFF2-40B4-BE49-F238E27FC236}">
                <a16:creationId xmlns:a16="http://schemas.microsoft.com/office/drawing/2014/main" id="{4861A177-3732-4E90-B003-57EC3A87ADAE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101259512</a:t>
            </a:r>
          </a:p>
        </p:txBody>
      </p:sp>
      <p:sp>
        <p:nvSpPr>
          <p:cNvPr id="8" name="p1-k1-card">
            <a:extLst>
              <a:ext uri="{FF2B5EF4-FFF2-40B4-BE49-F238E27FC236}">
                <a16:creationId xmlns:a16="http://schemas.microsoft.com/office/drawing/2014/main" id="{163D764C-D20B-4EE7-96E5-F171C9251745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1-k1-accent">
            <a:extLst>
              <a:ext uri="{FF2B5EF4-FFF2-40B4-BE49-F238E27FC236}">
                <a16:creationId xmlns:a16="http://schemas.microsoft.com/office/drawing/2014/main" id="{25034C92-B989-402D-9296-C73BD5214792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1-k1-value">
            <a:extLst>
              <a:ext uri="{FF2B5EF4-FFF2-40B4-BE49-F238E27FC236}">
                <a16:creationId xmlns:a16="http://schemas.microsoft.com/office/drawing/2014/main" id="{489CEE29-DCB0-4856-AD34-DD23E79ADDD0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146.5m</a:t>
            </a:r>
          </a:p>
        </p:txBody>
      </p:sp>
      <p:sp>
        <p:nvSpPr>
          <p:cNvPr id="11" name="p1-k1-label">
            <a:extLst>
              <a:ext uri="{FF2B5EF4-FFF2-40B4-BE49-F238E27FC236}">
                <a16:creationId xmlns:a16="http://schemas.microsoft.com/office/drawing/2014/main" id="{A9A6C311-1A09-4152-9190-8827B76D9C68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1-k2-card">
            <a:extLst>
              <a:ext uri="{FF2B5EF4-FFF2-40B4-BE49-F238E27FC236}">
                <a16:creationId xmlns:a16="http://schemas.microsoft.com/office/drawing/2014/main" id="{F33B7C85-155D-4528-BE69-FC53B567D95F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1-k2-accent">
            <a:extLst>
              <a:ext uri="{FF2B5EF4-FFF2-40B4-BE49-F238E27FC236}">
                <a16:creationId xmlns:a16="http://schemas.microsoft.com/office/drawing/2014/main" id="{384F6314-86AC-43AD-993A-0FE457821A09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1-k2-value">
            <a:extLst>
              <a:ext uri="{FF2B5EF4-FFF2-40B4-BE49-F238E27FC236}">
                <a16:creationId xmlns:a16="http://schemas.microsoft.com/office/drawing/2014/main" id="{70132C71-4147-4437-9C12-E816B64A89F2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COFUND</a:t>
            </a:r>
          </a:p>
        </p:txBody>
      </p:sp>
      <p:sp>
        <p:nvSpPr>
          <p:cNvPr id="15" name="p1-k2-label">
            <a:extLst>
              <a:ext uri="{FF2B5EF4-FFF2-40B4-BE49-F238E27FC236}">
                <a16:creationId xmlns:a16="http://schemas.microsoft.com/office/drawing/2014/main" id="{0B3D5F9F-0E30-49BB-B7BA-53FFB94C0969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1-k3-card">
            <a:extLst>
              <a:ext uri="{FF2B5EF4-FFF2-40B4-BE49-F238E27FC236}">
                <a16:creationId xmlns:a16="http://schemas.microsoft.com/office/drawing/2014/main" id="{81399307-4A26-4B30-A671-EF04432144C2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1-k3-accent">
            <a:extLst>
              <a:ext uri="{FF2B5EF4-FFF2-40B4-BE49-F238E27FC236}">
                <a16:creationId xmlns:a16="http://schemas.microsoft.com/office/drawing/2014/main" id="{7512B73D-ACAF-4209-AB7E-8087E4CFF40E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1-k3-value">
            <a:extLst>
              <a:ext uri="{FF2B5EF4-FFF2-40B4-BE49-F238E27FC236}">
                <a16:creationId xmlns:a16="http://schemas.microsoft.com/office/drawing/2014/main" id="{577D88BC-7BF1-47C4-A788-74D962A520C0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Jan 2026 - Dec 2035</a:t>
            </a:r>
          </a:p>
        </p:txBody>
      </p:sp>
      <p:sp>
        <p:nvSpPr>
          <p:cNvPr id="19" name="p1-k3-label">
            <a:extLst>
              <a:ext uri="{FF2B5EF4-FFF2-40B4-BE49-F238E27FC236}">
                <a16:creationId xmlns:a16="http://schemas.microsoft.com/office/drawing/2014/main" id="{1D380963-A159-443D-AB28-8DCC27567059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120 MONTHS</a:t>
            </a:r>
          </a:p>
        </p:txBody>
      </p:sp>
      <p:sp>
        <p:nvSpPr>
          <p:cNvPr id="20" name="p1-k4-card">
            <a:extLst>
              <a:ext uri="{FF2B5EF4-FFF2-40B4-BE49-F238E27FC236}">
                <a16:creationId xmlns:a16="http://schemas.microsoft.com/office/drawing/2014/main" id="{B005B424-7DBB-498F-AF7C-B35E00AB4444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1-k4-accent">
            <a:extLst>
              <a:ext uri="{FF2B5EF4-FFF2-40B4-BE49-F238E27FC236}">
                <a16:creationId xmlns:a16="http://schemas.microsoft.com/office/drawing/2014/main" id="{CF7F5026-48A1-4AF6-BF6F-EE957F52A712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1-k4-value">
            <a:extLst>
              <a:ext uri="{FF2B5EF4-FFF2-40B4-BE49-F238E27FC236}">
                <a16:creationId xmlns:a16="http://schemas.microsoft.com/office/drawing/2014/main" id="{E92FF0E9-BA31-45DB-8CB0-C3D297F9A0AD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59 orgs / 34 countries</a:t>
            </a:r>
          </a:p>
        </p:txBody>
      </p:sp>
      <p:sp>
        <p:nvSpPr>
          <p:cNvPr id="23" name="p1-k4-label">
            <a:extLst>
              <a:ext uri="{FF2B5EF4-FFF2-40B4-BE49-F238E27FC236}">
                <a16:creationId xmlns:a16="http://schemas.microsoft.com/office/drawing/2014/main" id="{01D75C4B-33CD-46AA-9F92-6F203F6BBD6A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1">
            <a:extLst>
              <a:ext uri="{FF2B5EF4-FFF2-40B4-BE49-F238E27FC236}">
                <a16:creationId xmlns:a16="http://schemas.microsoft.com/office/drawing/2014/main" id="{AF2ADE46-008A-4B95-8485-FD8C4C8FFA58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1">
            <a:extLst>
              <a:ext uri="{FF2B5EF4-FFF2-40B4-BE49-F238E27FC236}">
                <a16:creationId xmlns:a16="http://schemas.microsoft.com/office/drawing/2014/main" id="{F2E9B86E-47EF-485E-B89E-CCCED0C74040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1">
            <a:extLst>
              <a:ext uri="{FF2B5EF4-FFF2-40B4-BE49-F238E27FC236}">
                <a16:creationId xmlns:a16="http://schemas.microsoft.com/office/drawing/2014/main" id="{6D94CA02-FB83-4110-BD4A-0CB56BB93DC9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Creates a coordinated European partnership for brain health, connecting research, innovation and implementation to reduce the burden of neurological and mental disorders.</a:t>
            </a:r>
          </a:p>
        </p:txBody>
      </p:sp>
      <p:sp>
        <p:nvSpPr>
          <p:cNvPr id="27" name="p-lens-1">
            <a:extLst>
              <a:ext uri="{FF2B5EF4-FFF2-40B4-BE49-F238E27FC236}">
                <a16:creationId xmlns:a16="http://schemas.microsoft.com/office/drawing/2014/main" id="{6C75B155-27AB-4D03-BCB6-A1B8C6131166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1">
            <a:extLst>
              <a:ext uri="{FF2B5EF4-FFF2-40B4-BE49-F238E27FC236}">
                <a16:creationId xmlns:a16="http://schemas.microsoft.com/office/drawing/2014/main" id="{65BDD519-E42D-4EFE-A037-BA08EF18FD44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1">
            <a:extLst>
              <a:ext uri="{FF2B5EF4-FFF2-40B4-BE49-F238E27FC236}">
                <a16:creationId xmlns:a16="http://schemas.microsoft.com/office/drawing/2014/main" id="{5C533D98-C7CC-440C-AF0B-1D78151BF85B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3 bilateral participants | EUR 3.5m recorded EC contribution</a:t>
            </a:r>
          </a:p>
        </p:txBody>
      </p:sp>
      <p:sp>
        <p:nvSpPr>
          <p:cNvPr id="30" name="p-call-label-1">
            <a:extLst>
              <a:ext uri="{FF2B5EF4-FFF2-40B4-BE49-F238E27FC236}">
                <a16:creationId xmlns:a16="http://schemas.microsoft.com/office/drawing/2014/main" id="{B72FC2EC-BFC6-420F-BDC2-1681F443A30C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1">
            <a:extLst>
              <a:ext uri="{FF2B5EF4-FFF2-40B4-BE49-F238E27FC236}">
                <a16:creationId xmlns:a16="http://schemas.microsoft.com/office/drawing/2014/main" id="{D79E4B2A-E975-413B-945E-5D656D46DFD5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HORIZON-HLTH-2025-02</a:t>
            </a:r>
          </a:p>
        </p:txBody>
      </p:sp>
      <p:sp>
        <p:nvSpPr>
          <p:cNvPr id="32" name="p-topic-label-1">
            <a:extLst>
              <a:ext uri="{FF2B5EF4-FFF2-40B4-BE49-F238E27FC236}">
                <a16:creationId xmlns:a16="http://schemas.microsoft.com/office/drawing/2014/main" id="{E0806B08-6CC8-4A11-B584-E5056305CE2A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1">
            <a:extLst>
              <a:ext uri="{FF2B5EF4-FFF2-40B4-BE49-F238E27FC236}">
                <a16:creationId xmlns:a16="http://schemas.microsoft.com/office/drawing/2014/main" id="{478465BC-05D3-4F54-B3BC-FF59B17EE931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HORIZON-HLTH-2025-02-DISEASE-01</a:t>
            </a:r>
          </a:p>
        </p:txBody>
      </p:sp>
      <p:sp>
        <p:nvSpPr>
          <p:cNvPr id="34" name="p-topic-title-1">
            <a:extLst>
              <a:ext uri="{FF2B5EF4-FFF2-40B4-BE49-F238E27FC236}">
                <a16:creationId xmlns:a16="http://schemas.microsoft.com/office/drawing/2014/main" id="{2CB72173-2768-42C7-8286-B50B6A3F1628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European Partnership for Brain Health</a:t>
            </a:r>
          </a:p>
        </p:txBody>
      </p:sp>
      <p:sp>
        <p:nvSpPr>
          <p:cNvPr id="35" name="p-coord-label-1">
            <a:extLst>
              <a:ext uri="{FF2B5EF4-FFF2-40B4-BE49-F238E27FC236}">
                <a16:creationId xmlns:a16="http://schemas.microsoft.com/office/drawing/2014/main" id="{2677AC00-1B3A-4EA4-9D5A-CEEB494077CC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1">
            <a:extLst>
              <a:ext uri="{FF2B5EF4-FFF2-40B4-BE49-F238E27FC236}">
                <a16:creationId xmlns:a16="http://schemas.microsoft.com/office/drawing/2014/main" id="{549E9DC3-6D8D-4536-9FA2-8AC366D183AA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DEUTSCHES ZENTRUM FUR LUFT - UND RAUMFAHRT EV (Germany)</a:t>
            </a:r>
          </a:p>
        </p:txBody>
      </p:sp>
      <p:sp>
        <p:nvSpPr>
          <p:cNvPr id="37" name="ie-panel-1">
            <a:extLst>
              <a:ext uri="{FF2B5EF4-FFF2-40B4-BE49-F238E27FC236}">
                <a16:creationId xmlns:a16="http://schemas.microsoft.com/office/drawing/2014/main" id="{02CADF6C-B5B8-4114-B366-F8A64DDB30B4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1">
            <a:extLst>
              <a:ext uri="{FF2B5EF4-FFF2-40B4-BE49-F238E27FC236}">
                <a16:creationId xmlns:a16="http://schemas.microsoft.com/office/drawing/2014/main" id="{854F166D-28D9-414A-A4EC-1B915B26671E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1">
            <a:extLst>
              <a:ext uri="{FF2B5EF4-FFF2-40B4-BE49-F238E27FC236}">
                <a16:creationId xmlns:a16="http://schemas.microsoft.com/office/drawing/2014/main" id="{86F9B2DF-E536-4BA8-8C3F-AC1478CB55B0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1">
            <a:extLst>
              <a:ext uri="{FF2B5EF4-FFF2-40B4-BE49-F238E27FC236}">
                <a16:creationId xmlns:a16="http://schemas.microsoft.com/office/drawing/2014/main" id="{CB0DE489-0A9C-4679-A0C9-CD1E63D8E7B4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1">
            <a:extLst>
              <a:ext uri="{FF2B5EF4-FFF2-40B4-BE49-F238E27FC236}">
                <a16:creationId xmlns:a16="http://schemas.microsoft.com/office/drawing/2014/main" id="{1F98D974-0189-4376-A10B-EFAB97360989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2 organisations | EUR 3.2m</a:t>
            </a:r>
          </a:p>
        </p:txBody>
      </p:sp>
      <p:sp>
        <p:nvSpPr>
          <p:cNvPr id="42" name="ie-rule-1">
            <a:extLst>
              <a:ext uri="{FF2B5EF4-FFF2-40B4-BE49-F238E27FC236}">
                <a16:creationId xmlns:a16="http://schemas.microsoft.com/office/drawing/2014/main" id="{B5951693-24A0-40C1-B899-B1D7E8B46C4F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1-0">
            <a:extLst>
              <a:ext uri="{FF2B5EF4-FFF2-40B4-BE49-F238E27FC236}">
                <a16:creationId xmlns:a16="http://schemas.microsoft.com/office/drawing/2014/main" id="{AAAA2109-807F-4ACB-A1FD-84183C2D0FF8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Research Ireland</a:t>
            </a:r>
          </a:p>
        </p:txBody>
      </p:sp>
      <p:sp>
        <p:nvSpPr>
          <p:cNvPr id="44" name="ie-org-role-1-0">
            <a:extLst>
              <a:ext uri="{FF2B5EF4-FFF2-40B4-BE49-F238E27FC236}">
                <a16:creationId xmlns:a16="http://schemas.microsoft.com/office/drawing/2014/main" id="{5BBCC24B-F171-418E-8637-5C1F1FFC8E5A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Public Body | Beneficiary / Participant</a:t>
            </a:r>
          </a:p>
        </p:txBody>
      </p:sp>
      <p:sp>
        <p:nvSpPr>
          <p:cNvPr id="45" name="ie-org-ec-1-0">
            <a:extLst>
              <a:ext uri="{FF2B5EF4-FFF2-40B4-BE49-F238E27FC236}">
                <a16:creationId xmlns:a16="http://schemas.microsoft.com/office/drawing/2014/main" id="{98C9659F-86D8-4C8F-BF15-AF1419D3A968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1.3m</a:t>
            </a:r>
          </a:p>
        </p:txBody>
      </p:sp>
      <p:sp>
        <p:nvSpPr>
          <p:cNvPr id="46" name="ie-org-name-1-1">
            <a:extLst>
              <a:ext uri="{FF2B5EF4-FFF2-40B4-BE49-F238E27FC236}">
                <a16:creationId xmlns:a16="http://schemas.microsoft.com/office/drawing/2014/main" id="{AD3A30AA-27B6-49DF-AFF4-58E4D13108A5}"/>
              </a:ext>
            </a:extLst>
          </p:cNvPr>
          <p:cNvSpPr>
            <a:spLocks noGrp="1"/>
          </p:cNvSpPr>
          <p:nvPr/>
        </p:nvSpPr>
        <p:spPr>
          <a:xfrm>
            <a:off x="6896100" y="326707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Health Research Board</a:t>
            </a:r>
          </a:p>
        </p:txBody>
      </p:sp>
      <p:sp>
        <p:nvSpPr>
          <p:cNvPr id="47" name="ie-org-role-1-1">
            <a:extLst>
              <a:ext uri="{FF2B5EF4-FFF2-40B4-BE49-F238E27FC236}">
                <a16:creationId xmlns:a16="http://schemas.microsoft.com/office/drawing/2014/main" id="{DC2622BE-A2BB-43F7-A484-D28D7D87EF67}"/>
              </a:ext>
            </a:extLst>
          </p:cNvPr>
          <p:cNvSpPr>
            <a:spLocks noGrp="1"/>
          </p:cNvSpPr>
          <p:nvPr/>
        </p:nvSpPr>
        <p:spPr>
          <a:xfrm>
            <a:off x="6896100" y="343852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Public Body | Beneficiary / Participant</a:t>
            </a:r>
          </a:p>
        </p:txBody>
      </p:sp>
      <p:sp>
        <p:nvSpPr>
          <p:cNvPr id="48" name="ie-org-ec-1-1">
            <a:extLst>
              <a:ext uri="{FF2B5EF4-FFF2-40B4-BE49-F238E27FC236}">
                <a16:creationId xmlns:a16="http://schemas.microsoft.com/office/drawing/2014/main" id="{24BCEBF7-8944-4551-BE45-7273AD228552}"/>
              </a:ext>
            </a:extLst>
          </p:cNvPr>
          <p:cNvSpPr>
            <a:spLocks noGrp="1"/>
          </p:cNvSpPr>
          <p:nvPr/>
        </p:nvSpPr>
        <p:spPr>
          <a:xfrm>
            <a:off x="10306050" y="328612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1.9m</a:t>
            </a:r>
          </a:p>
        </p:txBody>
      </p:sp>
      <p:sp>
        <p:nvSpPr>
          <p:cNvPr id="49" name="nz-panel-1">
            <a:extLst>
              <a:ext uri="{FF2B5EF4-FFF2-40B4-BE49-F238E27FC236}">
                <a16:creationId xmlns:a16="http://schemas.microsoft.com/office/drawing/2014/main" id="{A9F1F100-FD62-43C8-A6B0-F53B52BA2C9E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nz-badge-1">
            <a:extLst>
              <a:ext uri="{FF2B5EF4-FFF2-40B4-BE49-F238E27FC236}">
                <a16:creationId xmlns:a16="http://schemas.microsoft.com/office/drawing/2014/main" id="{82F1EA5B-972D-4D99-B643-6EEEA67AE0BD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nz-code-1">
            <a:extLst>
              <a:ext uri="{FF2B5EF4-FFF2-40B4-BE49-F238E27FC236}">
                <a16:creationId xmlns:a16="http://schemas.microsoft.com/office/drawing/2014/main" id="{5D3B36AD-D94F-4D9A-84B1-E7F7991EC87D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52" name="nz-title-1">
            <a:extLst>
              <a:ext uri="{FF2B5EF4-FFF2-40B4-BE49-F238E27FC236}">
                <a16:creationId xmlns:a16="http://schemas.microsoft.com/office/drawing/2014/main" id="{90CFDA16-EB36-4E3E-A6DA-DA96891E9F5F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3" name="nz-total-1">
            <a:extLst>
              <a:ext uri="{FF2B5EF4-FFF2-40B4-BE49-F238E27FC236}">
                <a16:creationId xmlns:a16="http://schemas.microsoft.com/office/drawing/2014/main" id="{F2DFC6DF-8726-4902-93ED-EDA7B366ABA5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327k</a:t>
            </a:r>
          </a:p>
        </p:txBody>
      </p:sp>
      <p:sp>
        <p:nvSpPr>
          <p:cNvPr id="54" name="nz-rule-1">
            <a:extLst>
              <a:ext uri="{FF2B5EF4-FFF2-40B4-BE49-F238E27FC236}">
                <a16:creationId xmlns:a16="http://schemas.microsoft.com/office/drawing/2014/main" id="{BE4F395E-A6EC-4EC4-B7D7-6A402535F706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nz-org-name-1-0">
            <a:extLst>
              <a:ext uri="{FF2B5EF4-FFF2-40B4-BE49-F238E27FC236}">
                <a16:creationId xmlns:a16="http://schemas.microsoft.com/office/drawing/2014/main" id="{F59F47D6-038D-464B-B33C-BB6F8ECE40B8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University of Otago</a:t>
            </a:r>
          </a:p>
        </p:txBody>
      </p:sp>
      <p:sp>
        <p:nvSpPr>
          <p:cNvPr id="56" name="nz-org-role-1-0">
            <a:extLst>
              <a:ext uri="{FF2B5EF4-FFF2-40B4-BE49-F238E27FC236}">
                <a16:creationId xmlns:a16="http://schemas.microsoft.com/office/drawing/2014/main" id="{A366BD15-5170-45B7-8590-6CD69C3B68D4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57" name="nz-org-ec-1-0">
            <a:extLst>
              <a:ext uri="{FF2B5EF4-FFF2-40B4-BE49-F238E27FC236}">
                <a16:creationId xmlns:a16="http://schemas.microsoft.com/office/drawing/2014/main" id="{1A320810-903C-4400-9EF7-AFD34122B3D0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327k</a:t>
            </a:r>
          </a:p>
        </p:txBody>
      </p:sp>
      <p:sp>
        <p:nvSpPr>
          <p:cNvPr id="58" name="footer-line-4">
            <a:extLst>
              <a:ext uri="{FF2B5EF4-FFF2-40B4-BE49-F238E27FC236}">
                <a16:creationId xmlns:a16="http://schemas.microsoft.com/office/drawing/2014/main" id="{A76B0CE3-0FFF-4AF1-ABD4-F7D443BCD250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footer-source-4">
            <a:extLst>
              <a:ext uri="{FF2B5EF4-FFF2-40B4-BE49-F238E27FC236}">
                <a16:creationId xmlns:a16="http://schemas.microsoft.com/office/drawing/2014/main" id="{58131227-9A3B-4816-83D1-A7CB23A573B4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101259512; database snapshot 21 Aug 2026.</a:t>
            </a:r>
          </a:p>
        </p:txBody>
      </p:sp>
      <p:sp>
        <p:nvSpPr>
          <p:cNvPr id="60" name="footer-page-4">
            <a:extLst>
              <a:ext uri="{FF2B5EF4-FFF2-40B4-BE49-F238E27FC236}">
                <a16:creationId xmlns:a16="http://schemas.microsoft.com/office/drawing/2014/main" id="{82ED8268-5C81-4FF3-9605-E303DB0CCEC9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4 / 14</a:t>
            </a:r>
          </a:p>
        </p:txBody>
      </p:sp>
    </p:spTree>
    <p:extLst>
      <p:ext uri="{BB962C8B-B14F-4D97-AF65-F5344CB8AC3E}">
        <p14:creationId xmlns:p14="http://schemas.microsoft.com/office/powerpoint/2010/main" val="75743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-header-2">
            <a:extLst>
              <a:ext uri="{FF2B5EF4-FFF2-40B4-BE49-F238E27FC236}">
                <a16:creationId xmlns:a16="http://schemas.microsoft.com/office/drawing/2014/main" id="{6C628BCD-3C3E-419D-A493-070F5D1CFC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2">
            <a:extLst>
              <a:ext uri="{FF2B5EF4-FFF2-40B4-BE49-F238E27FC236}">
                <a16:creationId xmlns:a16="http://schemas.microsoft.com/office/drawing/2014/main" id="{0BC8ACAB-8413-429A-A880-59EBDE2181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2">
            <a:extLst>
              <a:ext uri="{FF2B5EF4-FFF2-40B4-BE49-F238E27FC236}">
                <a16:creationId xmlns:a16="http://schemas.microsoft.com/office/drawing/2014/main" id="{17592B7E-3A4F-4CE5-AE16-1425893AD7FF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28E5B"/>
                </a:solidFill>
              </a:defRPr>
            </a:pPr>
            <a:r>
              <a:rPr sz="1050" b="1">
                <a:solidFill>
                  <a:srgbClr val="F28E5B"/>
                </a:solidFill>
              </a:rPr>
              <a:t>CLUSTER 1 - HEALTH</a:t>
            </a:r>
          </a:p>
        </p:txBody>
      </p:sp>
      <p:sp>
        <p:nvSpPr>
          <p:cNvPr id="4" name="p-acronym-2">
            <a:extLst>
              <a:ext uri="{FF2B5EF4-FFF2-40B4-BE49-F238E27FC236}">
                <a16:creationId xmlns:a16="http://schemas.microsoft.com/office/drawing/2014/main" id="{527F680D-E15D-4505-BB0C-B31504A7825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ERDERA</a:t>
            </a:r>
          </a:p>
        </p:txBody>
      </p:sp>
      <p:sp>
        <p:nvSpPr>
          <p:cNvPr id="5" name="p-title-2">
            <a:extLst>
              <a:ext uri="{FF2B5EF4-FFF2-40B4-BE49-F238E27FC236}">
                <a16:creationId xmlns:a16="http://schemas.microsoft.com/office/drawing/2014/main" id="{1D5CD9EE-F985-454C-8BD2-A778E950332E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European Rare Diseases Research Alliance</a:t>
            </a:r>
          </a:p>
        </p:txBody>
      </p:sp>
      <p:sp>
        <p:nvSpPr>
          <p:cNvPr id="6" name="p-number-2">
            <a:extLst>
              <a:ext uri="{FF2B5EF4-FFF2-40B4-BE49-F238E27FC236}">
                <a16:creationId xmlns:a16="http://schemas.microsoft.com/office/drawing/2014/main" id="{9FC73C68-CE53-48E2-A4AE-73A219D9F279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3 / 12</a:t>
            </a:r>
          </a:p>
        </p:txBody>
      </p:sp>
      <p:sp>
        <p:nvSpPr>
          <p:cNvPr id="7" name="p-id-2">
            <a:extLst>
              <a:ext uri="{FF2B5EF4-FFF2-40B4-BE49-F238E27FC236}">
                <a16:creationId xmlns:a16="http://schemas.microsoft.com/office/drawing/2014/main" id="{8896A356-9B43-435D-9DD2-CB79FD02BEB9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101156595</a:t>
            </a:r>
          </a:p>
        </p:txBody>
      </p:sp>
      <p:sp>
        <p:nvSpPr>
          <p:cNvPr id="8" name="p2-k1-card">
            <a:extLst>
              <a:ext uri="{FF2B5EF4-FFF2-40B4-BE49-F238E27FC236}">
                <a16:creationId xmlns:a16="http://schemas.microsoft.com/office/drawing/2014/main" id="{B5956089-1138-46A0-82AC-F3BCB9D8444C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2-k1-accent">
            <a:extLst>
              <a:ext uri="{FF2B5EF4-FFF2-40B4-BE49-F238E27FC236}">
                <a16:creationId xmlns:a16="http://schemas.microsoft.com/office/drawing/2014/main" id="{E913D95A-E27C-4B7E-8CB2-6252F1C8279A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2-k1-value">
            <a:extLst>
              <a:ext uri="{FF2B5EF4-FFF2-40B4-BE49-F238E27FC236}">
                <a16:creationId xmlns:a16="http://schemas.microsoft.com/office/drawing/2014/main" id="{C39B631B-D1FE-484A-BA02-0BE9519986F0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56.3m</a:t>
            </a:r>
          </a:p>
        </p:txBody>
      </p:sp>
      <p:sp>
        <p:nvSpPr>
          <p:cNvPr id="11" name="p2-k1-label">
            <a:extLst>
              <a:ext uri="{FF2B5EF4-FFF2-40B4-BE49-F238E27FC236}">
                <a16:creationId xmlns:a16="http://schemas.microsoft.com/office/drawing/2014/main" id="{B1BF7ADD-06D5-4691-B7D0-F643DD8D66A2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2-k2-card">
            <a:extLst>
              <a:ext uri="{FF2B5EF4-FFF2-40B4-BE49-F238E27FC236}">
                <a16:creationId xmlns:a16="http://schemas.microsoft.com/office/drawing/2014/main" id="{8D774A7F-219E-4F96-9D1B-BAEA3BB86E88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2-k2-accent">
            <a:extLst>
              <a:ext uri="{FF2B5EF4-FFF2-40B4-BE49-F238E27FC236}">
                <a16:creationId xmlns:a16="http://schemas.microsoft.com/office/drawing/2014/main" id="{A8998422-5778-456C-A764-C04BC607A9D0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2-k2-value">
            <a:extLst>
              <a:ext uri="{FF2B5EF4-FFF2-40B4-BE49-F238E27FC236}">
                <a16:creationId xmlns:a16="http://schemas.microsoft.com/office/drawing/2014/main" id="{8CA42078-35B1-44B6-8ADD-294427BC91A7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COFUND</a:t>
            </a:r>
          </a:p>
        </p:txBody>
      </p:sp>
      <p:sp>
        <p:nvSpPr>
          <p:cNvPr id="15" name="p2-k2-label">
            <a:extLst>
              <a:ext uri="{FF2B5EF4-FFF2-40B4-BE49-F238E27FC236}">
                <a16:creationId xmlns:a16="http://schemas.microsoft.com/office/drawing/2014/main" id="{B30DF945-EE9C-4475-8E06-623D3C685D0E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2-k3-card">
            <a:extLst>
              <a:ext uri="{FF2B5EF4-FFF2-40B4-BE49-F238E27FC236}">
                <a16:creationId xmlns:a16="http://schemas.microsoft.com/office/drawing/2014/main" id="{834DCDA9-67DE-4304-8B23-D881FC8D09C0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2-k3-accent">
            <a:extLst>
              <a:ext uri="{FF2B5EF4-FFF2-40B4-BE49-F238E27FC236}">
                <a16:creationId xmlns:a16="http://schemas.microsoft.com/office/drawing/2014/main" id="{EDC206F7-D419-46FB-A035-8EDB0A2E0853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2-k3-value">
            <a:extLst>
              <a:ext uri="{FF2B5EF4-FFF2-40B4-BE49-F238E27FC236}">
                <a16:creationId xmlns:a16="http://schemas.microsoft.com/office/drawing/2014/main" id="{291CCA43-14BA-4A80-B07E-4F80B6F6BE24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Sep 2024 - Aug 2031</a:t>
            </a:r>
          </a:p>
        </p:txBody>
      </p:sp>
      <p:sp>
        <p:nvSpPr>
          <p:cNvPr id="19" name="p2-k3-label">
            <a:extLst>
              <a:ext uri="{FF2B5EF4-FFF2-40B4-BE49-F238E27FC236}">
                <a16:creationId xmlns:a16="http://schemas.microsoft.com/office/drawing/2014/main" id="{6D006F8C-E73B-4885-A764-823C6E050791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84 MONTHS</a:t>
            </a:r>
          </a:p>
        </p:txBody>
      </p:sp>
      <p:sp>
        <p:nvSpPr>
          <p:cNvPr id="20" name="p2-k4-card">
            <a:extLst>
              <a:ext uri="{FF2B5EF4-FFF2-40B4-BE49-F238E27FC236}">
                <a16:creationId xmlns:a16="http://schemas.microsoft.com/office/drawing/2014/main" id="{63FF8C4F-8429-4DF9-806F-04A8F6CD47BC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2-k4-accent">
            <a:extLst>
              <a:ext uri="{FF2B5EF4-FFF2-40B4-BE49-F238E27FC236}">
                <a16:creationId xmlns:a16="http://schemas.microsoft.com/office/drawing/2014/main" id="{4C92B831-28EE-4094-9BA0-E53973A0F94A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2-k4-value">
            <a:extLst>
              <a:ext uri="{FF2B5EF4-FFF2-40B4-BE49-F238E27FC236}">
                <a16:creationId xmlns:a16="http://schemas.microsoft.com/office/drawing/2014/main" id="{5D574812-DAC4-4E6D-B070-8A4B7DE9B72C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178 orgs / 38 countries</a:t>
            </a:r>
          </a:p>
        </p:txBody>
      </p:sp>
      <p:sp>
        <p:nvSpPr>
          <p:cNvPr id="23" name="p2-k4-label">
            <a:extLst>
              <a:ext uri="{FF2B5EF4-FFF2-40B4-BE49-F238E27FC236}">
                <a16:creationId xmlns:a16="http://schemas.microsoft.com/office/drawing/2014/main" id="{CF864EF9-47E8-4D64-8B38-00D3E0ECCD41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2">
            <a:extLst>
              <a:ext uri="{FF2B5EF4-FFF2-40B4-BE49-F238E27FC236}">
                <a16:creationId xmlns:a16="http://schemas.microsoft.com/office/drawing/2014/main" id="{ABA23E16-69AC-4B05-874C-0FD9E0A793CB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2">
            <a:extLst>
              <a:ext uri="{FF2B5EF4-FFF2-40B4-BE49-F238E27FC236}">
                <a16:creationId xmlns:a16="http://schemas.microsoft.com/office/drawing/2014/main" id="{94B26FA8-3D14-4E84-B247-429546A10FAD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2">
            <a:extLst>
              <a:ext uri="{FF2B5EF4-FFF2-40B4-BE49-F238E27FC236}">
                <a16:creationId xmlns:a16="http://schemas.microsoft.com/office/drawing/2014/main" id="{9C9B2BD3-BB7A-4406-8C3C-7800EF9B5D6F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Strengthens the European rare-disease ecosystem through patient-led research, improved diagnosis and treatment pathways, connected data and coordinated funding.</a:t>
            </a:r>
          </a:p>
        </p:txBody>
      </p:sp>
      <p:sp>
        <p:nvSpPr>
          <p:cNvPr id="27" name="p-lens-2">
            <a:extLst>
              <a:ext uri="{FF2B5EF4-FFF2-40B4-BE49-F238E27FC236}">
                <a16:creationId xmlns:a16="http://schemas.microsoft.com/office/drawing/2014/main" id="{9E3B05FE-216A-4232-8006-76FFEA95B560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2">
            <a:extLst>
              <a:ext uri="{FF2B5EF4-FFF2-40B4-BE49-F238E27FC236}">
                <a16:creationId xmlns:a16="http://schemas.microsoft.com/office/drawing/2014/main" id="{E3C18B4D-B054-4DA7-A8E5-A43A47495066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2">
            <a:extLst>
              <a:ext uri="{FF2B5EF4-FFF2-40B4-BE49-F238E27FC236}">
                <a16:creationId xmlns:a16="http://schemas.microsoft.com/office/drawing/2014/main" id="{44EC0B0B-B7C1-416B-AE2C-9E3D3976736B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5 bilateral participants | EUR 720k recorded EC contribution</a:t>
            </a:r>
          </a:p>
        </p:txBody>
      </p:sp>
      <p:sp>
        <p:nvSpPr>
          <p:cNvPr id="30" name="p-call-label-2">
            <a:extLst>
              <a:ext uri="{FF2B5EF4-FFF2-40B4-BE49-F238E27FC236}">
                <a16:creationId xmlns:a16="http://schemas.microsoft.com/office/drawing/2014/main" id="{6D9A9A28-F15C-4C09-9C7B-CD250CDF9631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2">
            <a:extLst>
              <a:ext uri="{FF2B5EF4-FFF2-40B4-BE49-F238E27FC236}">
                <a16:creationId xmlns:a16="http://schemas.microsoft.com/office/drawing/2014/main" id="{A56D015D-35CC-4705-B367-2F549908E7C0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HORIZON-HLTH-2023-DISEASE-07</a:t>
            </a:r>
          </a:p>
        </p:txBody>
      </p:sp>
      <p:sp>
        <p:nvSpPr>
          <p:cNvPr id="32" name="p-topic-label-2">
            <a:extLst>
              <a:ext uri="{FF2B5EF4-FFF2-40B4-BE49-F238E27FC236}">
                <a16:creationId xmlns:a16="http://schemas.microsoft.com/office/drawing/2014/main" id="{BF90634B-C86A-4463-8A29-D7F8F8F58983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2">
            <a:extLst>
              <a:ext uri="{FF2B5EF4-FFF2-40B4-BE49-F238E27FC236}">
                <a16:creationId xmlns:a16="http://schemas.microsoft.com/office/drawing/2014/main" id="{FCD7384E-0F95-4813-B71F-DC4EFB1F1EFF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HORIZON-HLTH-2023-DISEASE-07-01</a:t>
            </a:r>
          </a:p>
        </p:txBody>
      </p:sp>
      <p:sp>
        <p:nvSpPr>
          <p:cNvPr id="34" name="p-topic-title-2">
            <a:extLst>
              <a:ext uri="{FF2B5EF4-FFF2-40B4-BE49-F238E27FC236}">
                <a16:creationId xmlns:a16="http://schemas.microsoft.com/office/drawing/2014/main" id="{2D51676A-A4CB-436C-B70A-C43C29D80964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European Partnership on Rare Diseases</a:t>
            </a:r>
          </a:p>
        </p:txBody>
      </p:sp>
      <p:sp>
        <p:nvSpPr>
          <p:cNvPr id="35" name="p-coord-label-2">
            <a:extLst>
              <a:ext uri="{FF2B5EF4-FFF2-40B4-BE49-F238E27FC236}">
                <a16:creationId xmlns:a16="http://schemas.microsoft.com/office/drawing/2014/main" id="{2BFF4A27-01DC-4737-9AAF-A47E922569FE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2">
            <a:extLst>
              <a:ext uri="{FF2B5EF4-FFF2-40B4-BE49-F238E27FC236}">
                <a16:creationId xmlns:a16="http://schemas.microsoft.com/office/drawing/2014/main" id="{B9A2880E-18DF-4CD7-83A7-6FEBC4E5CD10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INSTITUT NATIONAL DE LA SANTE ET DE LA RECHERCHE MEDICALE (France)</a:t>
            </a:r>
          </a:p>
        </p:txBody>
      </p:sp>
      <p:sp>
        <p:nvSpPr>
          <p:cNvPr id="37" name="ie-panel-2">
            <a:extLst>
              <a:ext uri="{FF2B5EF4-FFF2-40B4-BE49-F238E27FC236}">
                <a16:creationId xmlns:a16="http://schemas.microsoft.com/office/drawing/2014/main" id="{9DF7A912-35A3-495B-9801-F36E7ED7FCFF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2">
            <a:extLst>
              <a:ext uri="{FF2B5EF4-FFF2-40B4-BE49-F238E27FC236}">
                <a16:creationId xmlns:a16="http://schemas.microsoft.com/office/drawing/2014/main" id="{3E3807CE-DA5F-4E07-964A-CD19FA003085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2">
            <a:extLst>
              <a:ext uri="{FF2B5EF4-FFF2-40B4-BE49-F238E27FC236}">
                <a16:creationId xmlns:a16="http://schemas.microsoft.com/office/drawing/2014/main" id="{A7D33D65-C7EB-40FA-BD6C-06CDBCC5DB5E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2">
            <a:extLst>
              <a:ext uri="{FF2B5EF4-FFF2-40B4-BE49-F238E27FC236}">
                <a16:creationId xmlns:a16="http://schemas.microsoft.com/office/drawing/2014/main" id="{70826538-537E-4976-AD5D-1D3CC3A9500C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2">
            <a:extLst>
              <a:ext uri="{FF2B5EF4-FFF2-40B4-BE49-F238E27FC236}">
                <a16:creationId xmlns:a16="http://schemas.microsoft.com/office/drawing/2014/main" id="{1E7DD574-665C-49C5-B0BE-7E71E244E6E0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4 organisations | EUR 689k</a:t>
            </a:r>
          </a:p>
        </p:txBody>
      </p:sp>
      <p:sp>
        <p:nvSpPr>
          <p:cNvPr id="42" name="ie-rule-2">
            <a:extLst>
              <a:ext uri="{FF2B5EF4-FFF2-40B4-BE49-F238E27FC236}">
                <a16:creationId xmlns:a16="http://schemas.microsoft.com/office/drawing/2014/main" id="{9C8E9E86-2974-4BA8-8977-6692862C8765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2-0">
            <a:extLst>
              <a:ext uri="{FF2B5EF4-FFF2-40B4-BE49-F238E27FC236}">
                <a16:creationId xmlns:a16="http://schemas.microsoft.com/office/drawing/2014/main" id="{20B1764B-E985-4485-A689-8C8821C8C421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Health Research Board</a:t>
            </a:r>
          </a:p>
        </p:txBody>
      </p:sp>
      <p:sp>
        <p:nvSpPr>
          <p:cNvPr id="44" name="ie-org-role-2-0">
            <a:extLst>
              <a:ext uri="{FF2B5EF4-FFF2-40B4-BE49-F238E27FC236}">
                <a16:creationId xmlns:a16="http://schemas.microsoft.com/office/drawing/2014/main" id="{A7AB1321-45C5-4066-8419-24BE8156EDE2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Public Body | Beneficiary / Participant</a:t>
            </a:r>
          </a:p>
        </p:txBody>
      </p:sp>
      <p:sp>
        <p:nvSpPr>
          <p:cNvPr id="45" name="ie-org-ec-2-0">
            <a:extLst>
              <a:ext uri="{FF2B5EF4-FFF2-40B4-BE49-F238E27FC236}">
                <a16:creationId xmlns:a16="http://schemas.microsoft.com/office/drawing/2014/main" id="{21A1C805-85DB-43D5-81DF-F56CBB38EDE2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597k</a:t>
            </a:r>
          </a:p>
        </p:txBody>
      </p:sp>
      <p:sp>
        <p:nvSpPr>
          <p:cNvPr id="46" name="ie-org-name-2-1">
            <a:extLst>
              <a:ext uri="{FF2B5EF4-FFF2-40B4-BE49-F238E27FC236}">
                <a16:creationId xmlns:a16="http://schemas.microsoft.com/office/drawing/2014/main" id="{40EE7305-37F1-4D16-911E-E656850E54CA}"/>
              </a:ext>
            </a:extLst>
          </p:cNvPr>
          <p:cNvSpPr>
            <a:spLocks noGrp="1"/>
          </p:cNvSpPr>
          <p:nvPr/>
        </p:nvSpPr>
        <p:spPr>
          <a:xfrm>
            <a:off x="6896100" y="313372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RCSI</a:t>
            </a:r>
          </a:p>
        </p:txBody>
      </p:sp>
      <p:sp>
        <p:nvSpPr>
          <p:cNvPr id="47" name="ie-org-role-2-1">
            <a:extLst>
              <a:ext uri="{FF2B5EF4-FFF2-40B4-BE49-F238E27FC236}">
                <a16:creationId xmlns:a16="http://schemas.microsoft.com/office/drawing/2014/main" id="{43F1E45C-1E5C-430F-9F22-BB09F8AF28D7}"/>
              </a:ext>
            </a:extLst>
          </p:cNvPr>
          <p:cNvSpPr>
            <a:spLocks noGrp="1"/>
          </p:cNvSpPr>
          <p:nvPr/>
        </p:nvSpPr>
        <p:spPr>
          <a:xfrm>
            <a:off x="6896100" y="330517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48" name="ie-org-ec-2-1">
            <a:extLst>
              <a:ext uri="{FF2B5EF4-FFF2-40B4-BE49-F238E27FC236}">
                <a16:creationId xmlns:a16="http://schemas.microsoft.com/office/drawing/2014/main" id="{BCE6329F-976C-4DB8-9B6A-2D94F98B3D77}"/>
              </a:ext>
            </a:extLst>
          </p:cNvPr>
          <p:cNvSpPr>
            <a:spLocks noGrp="1"/>
          </p:cNvSpPr>
          <p:nvPr/>
        </p:nvSpPr>
        <p:spPr>
          <a:xfrm>
            <a:off x="10306050" y="315277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38k</a:t>
            </a:r>
          </a:p>
        </p:txBody>
      </p:sp>
      <p:sp>
        <p:nvSpPr>
          <p:cNvPr id="49" name="ie-org-name-2-2">
            <a:extLst>
              <a:ext uri="{FF2B5EF4-FFF2-40B4-BE49-F238E27FC236}">
                <a16:creationId xmlns:a16="http://schemas.microsoft.com/office/drawing/2014/main" id="{35A39932-DC92-4340-BC2C-DC6D6E30FD6B}"/>
              </a:ext>
            </a:extLst>
          </p:cNvPr>
          <p:cNvSpPr>
            <a:spLocks noGrp="1"/>
          </p:cNvSpPr>
          <p:nvPr/>
        </p:nvSpPr>
        <p:spPr>
          <a:xfrm>
            <a:off x="6896100" y="34099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University College Dublin</a:t>
            </a:r>
          </a:p>
        </p:txBody>
      </p:sp>
      <p:sp>
        <p:nvSpPr>
          <p:cNvPr id="50" name="ie-org-role-2-2">
            <a:extLst>
              <a:ext uri="{FF2B5EF4-FFF2-40B4-BE49-F238E27FC236}">
                <a16:creationId xmlns:a16="http://schemas.microsoft.com/office/drawing/2014/main" id="{D526A185-A929-4A74-9648-EA0009CFF0BF}"/>
              </a:ext>
            </a:extLst>
          </p:cNvPr>
          <p:cNvSpPr>
            <a:spLocks noGrp="1"/>
          </p:cNvSpPr>
          <p:nvPr/>
        </p:nvSpPr>
        <p:spPr>
          <a:xfrm>
            <a:off x="6896100" y="35814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51" name="ie-org-ec-2-2">
            <a:extLst>
              <a:ext uri="{FF2B5EF4-FFF2-40B4-BE49-F238E27FC236}">
                <a16:creationId xmlns:a16="http://schemas.microsoft.com/office/drawing/2014/main" id="{2FAC6344-A5B7-4C13-A836-18329E66816B}"/>
              </a:ext>
            </a:extLst>
          </p:cNvPr>
          <p:cNvSpPr>
            <a:spLocks noGrp="1"/>
          </p:cNvSpPr>
          <p:nvPr/>
        </p:nvSpPr>
        <p:spPr>
          <a:xfrm>
            <a:off x="10306050" y="34290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29k</a:t>
            </a:r>
          </a:p>
        </p:txBody>
      </p:sp>
      <p:sp>
        <p:nvSpPr>
          <p:cNvPr id="52" name="ie-org-name-2-3">
            <a:extLst>
              <a:ext uri="{FF2B5EF4-FFF2-40B4-BE49-F238E27FC236}">
                <a16:creationId xmlns:a16="http://schemas.microsoft.com/office/drawing/2014/main" id="{C3A38F3B-20E9-4E75-B48E-6E8CC3B7B48C}"/>
              </a:ext>
            </a:extLst>
          </p:cNvPr>
          <p:cNvSpPr>
            <a:spLocks noGrp="1"/>
          </p:cNvSpPr>
          <p:nvPr/>
        </p:nvSpPr>
        <p:spPr>
          <a:xfrm>
            <a:off x="6896100" y="368617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Health Research Charities Ireland</a:t>
            </a:r>
          </a:p>
        </p:txBody>
      </p:sp>
      <p:sp>
        <p:nvSpPr>
          <p:cNvPr id="53" name="ie-org-role-2-3">
            <a:extLst>
              <a:ext uri="{FF2B5EF4-FFF2-40B4-BE49-F238E27FC236}">
                <a16:creationId xmlns:a16="http://schemas.microsoft.com/office/drawing/2014/main" id="{CC52AE3C-9BBB-4336-BDC2-01C61B37E34B}"/>
              </a:ext>
            </a:extLst>
          </p:cNvPr>
          <p:cNvSpPr>
            <a:spLocks noGrp="1"/>
          </p:cNvSpPr>
          <p:nvPr/>
        </p:nvSpPr>
        <p:spPr>
          <a:xfrm>
            <a:off x="6896100" y="385762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Other | Beneficiary / Participant</a:t>
            </a:r>
          </a:p>
        </p:txBody>
      </p:sp>
      <p:sp>
        <p:nvSpPr>
          <p:cNvPr id="54" name="ie-org-ec-2-3">
            <a:extLst>
              <a:ext uri="{FF2B5EF4-FFF2-40B4-BE49-F238E27FC236}">
                <a16:creationId xmlns:a16="http://schemas.microsoft.com/office/drawing/2014/main" id="{198A3FE5-5ABE-4B2D-8535-2A56DF81ED5A}"/>
              </a:ext>
            </a:extLst>
          </p:cNvPr>
          <p:cNvSpPr>
            <a:spLocks noGrp="1"/>
          </p:cNvSpPr>
          <p:nvPr/>
        </p:nvSpPr>
        <p:spPr>
          <a:xfrm>
            <a:off x="10306050" y="370522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24k</a:t>
            </a:r>
          </a:p>
        </p:txBody>
      </p:sp>
      <p:sp>
        <p:nvSpPr>
          <p:cNvPr id="55" name="nz-panel-2">
            <a:extLst>
              <a:ext uri="{FF2B5EF4-FFF2-40B4-BE49-F238E27FC236}">
                <a16:creationId xmlns:a16="http://schemas.microsoft.com/office/drawing/2014/main" id="{591DCE40-2915-49E2-94BB-25C1279B5D47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nz-badge-2">
            <a:extLst>
              <a:ext uri="{FF2B5EF4-FFF2-40B4-BE49-F238E27FC236}">
                <a16:creationId xmlns:a16="http://schemas.microsoft.com/office/drawing/2014/main" id="{CBDEEC8E-593A-411C-A99B-FDBFADF8EEC5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nz-code-2">
            <a:extLst>
              <a:ext uri="{FF2B5EF4-FFF2-40B4-BE49-F238E27FC236}">
                <a16:creationId xmlns:a16="http://schemas.microsoft.com/office/drawing/2014/main" id="{A2DB6D43-5064-4871-BFB1-A1C74384AC61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58" name="nz-title-2">
            <a:extLst>
              <a:ext uri="{FF2B5EF4-FFF2-40B4-BE49-F238E27FC236}">
                <a16:creationId xmlns:a16="http://schemas.microsoft.com/office/drawing/2014/main" id="{9E09F8CB-BEBD-429C-82C5-1EC402E1AF02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9" name="nz-total-2">
            <a:extLst>
              <a:ext uri="{FF2B5EF4-FFF2-40B4-BE49-F238E27FC236}">
                <a16:creationId xmlns:a16="http://schemas.microsoft.com/office/drawing/2014/main" id="{A308F0CF-9241-43CC-819E-BF2D879247A0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32k</a:t>
            </a:r>
          </a:p>
        </p:txBody>
      </p:sp>
      <p:sp>
        <p:nvSpPr>
          <p:cNvPr id="60" name="nz-rule-2">
            <a:extLst>
              <a:ext uri="{FF2B5EF4-FFF2-40B4-BE49-F238E27FC236}">
                <a16:creationId xmlns:a16="http://schemas.microsoft.com/office/drawing/2014/main" id="{8134FC88-4DE1-46A5-9E82-775788F726E3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nz-org-name-2-0">
            <a:extLst>
              <a:ext uri="{FF2B5EF4-FFF2-40B4-BE49-F238E27FC236}">
                <a16:creationId xmlns:a16="http://schemas.microsoft.com/office/drawing/2014/main" id="{5DBFB1B0-D24F-48B6-BAD4-F9FF0C8D6DB8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University of Otago</a:t>
            </a:r>
          </a:p>
        </p:txBody>
      </p:sp>
      <p:sp>
        <p:nvSpPr>
          <p:cNvPr id="62" name="nz-org-role-2-0">
            <a:extLst>
              <a:ext uri="{FF2B5EF4-FFF2-40B4-BE49-F238E27FC236}">
                <a16:creationId xmlns:a16="http://schemas.microsoft.com/office/drawing/2014/main" id="{C3AD7583-BC42-4D7B-B93D-FEDE69C3F700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63" name="nz-org-ec-2-0">
            <a:extLst>
              <a:ext uri="{FF2B5EF4-FFF2-40B4-BE49-F238E27FC236}">
                <a16:creationId xmlns:a16="http://schemas.microsoft.com/office/drawing/2014/main" id="{5F95D250-1990-4358-9005-48223F5E6D0A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32k</a:t>
            </a:r>
          </a:p>
        </p:txBody>
      </p:sp>
      <p:sp>
        <p:nvSpPr>
          <p:cNvPr id="64" name="footer-line-5">
            <a:extLst>
              <a:ext uri="{FF2B5EF4-FFF2-40B4-BE49-F238E27FC236}">
                <a16:creationId xmlns:a16="http://schemas.microsoft.com/office/drawing/2014/main" id="{BBB90463-F612-488F-8624-18F0D423DFCD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5" name="footer-source-5">
            <a:extLst>
              <a:ext uri="{FF2B5EF4-FFF2-40B4-BE49-F238E27FC236}">
                <a16:creationId xmlns:a16="http://schemas.microsoft.com/office/drawing/2014/main" id="{D061254B-3013-47C6-BBEC-70853656D101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101156595; database snapshot 21 Aug 2026.</a:t>
            </a:r>
          </a:p>
        </p:txBody>
      </p:sp>
      <p:sp>
        <p:nvSpPr>
          <p:cNvPr id="66" name="footer-page-5">
            <a:extLst>
              <a:ext uri="{FF2B5EF4-FFF2-40B4-BE49-F238E27FC236}">
                <a16:creationId xmlns:a16="http://schemas.microsoft.com/office/drawing/2014/main" id="{A65C9426-2289-473F-8719-77E0BF1AD473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5 / 14</a:t>
            </a:r>
          </a:p>
        </p:txBody>
      </p:sp>
    </p:spTree>
    <p:extLst>
      <p:ext uri="{BB962C8B-B14F-4D97-AF65-F5344CB8AC3E}">
        <p14:creationId xmlns:p14="http://schemas.microsoft.com/office/powerpoint/2010/main" val="1130435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-header-3">
            <a:extLst>
              <a:ext uri="{FF2B5EF4-FFF2-40B4-BE49-F238E27FC236}">
                <a16:creationId xmlns:a16="http://schemas.microsoft.com/office/drawing/2014/main" id="{0B8369B6-2993-44EB-99FD-4C60042FBE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3">
            <a:extLst>
              <a:ext uri="{FF2B5EF4-FFF2-40B4-BE49-F238E27FC236}">
                <a16:creationId xmlns:a16="http://schemas.microsoft.com/office/drawing/2014/main" id="{8C9021A9-C110-4250-A782-391CC83245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3">
            <a:extLst>
              <a:ext uri="{FF2B5EF4-FFF2-40B4-BE49-F238E27FC236}">
                <a16:creationId xmlns:a16="http://schemas.microsoft.com/office/drawing/2014/main" id="{800838BE-1282-4621-92FB-E47FFAAD8069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28E5B"/>
                </a:solidFill>
              </a:defRPr>
            </a:pPr>
            <a:r>
              <a:rPr sz="1050" b="1">
                <a:solidFill>
                  <a:srgbClr val="F28E5B"/>
                </a:solidFill>
              </a:rPr>
              <a:t>CLUSTER 1 - HEALTH</a:t>
            </a:r>
          </a:p>
        </p:txBody>
      </p:sp>
      <p:sp>
        <p:nvSpPr>
          <p:cNvPr id="4" name="p-acronym-3">
            <a:extLst>
              <a:ext uri="{FF2B5EF4-FFF2-40B4-BE49-F238E27FC236}">
                <a16:creationId xmlns:a16="http://schemas.microsoft.com/office/drawing/2014/main" id="{BD294368-83CC-42D1-9F56-90F9C5DB233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m2M</a:t>
            </a:r>
          </a:p>
        </p:txBody>
      </p:sp>
      <p:sp>
        <p:nvSpPr>
          <p:cNvPr id="5" name="p-title-3">
            <a:extLst>
              <a:ext uri="{FF2B5EF4-FFF2-40B4-BE49-F238E27FC236}">
                <a16:creationId xmlns:a16="http://schemas.microsoft.com/office/drawing/2014/main" id="{F7BB98FA-4EBD-47D0-89F9-15705FE6FF52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Bioprinting platform for programmable regenerative grafts</a:t>
            </a:r>
          </a:p>
        </p:txBody>
      </p:sp>
      <p:sp>
        <p:nvSpPr>
          <p:cNvPr id="6" name="p-number-3">
            <a:extLst>
              <a:ext uri="{FF2B5EF4-FFF2-40B4-BE49-F238E27FC236}">
                <a16:creationId xmlns:a16="http://schemas.microsoft.com/office/drawing/2014/main" id="{9CA034FB-100A-41A2-B00B-E7643AF86D5B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4 / 12</a:t>
            </a:r>
          </a:p>
        </p:txBody>
      </p:sp>
      <p:sp>
        <p:nvSpPr>
          <p:cNvPr id="7" name="p-id-3">
            <a:extLst>
              <a:ext uri="{FF2B5EF4-FFF2-40B4-BE49-F238E27FC236}">
                <a16:creationId xmlns:a16="http://schemas.microsoft.com/office/drawing/2014/main" id="{56DA15D8-8117-44A2-867C-BA94ABEBC85D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101191729</a:t>
            </a:r>
          </a:p>
        </p:txBody>
      </p:sp>
      <p:sp>
        <p:nvSpPr>
          <p:cNvPr id="8" name="p3-k1-card">
            <a:extLst>
              <a:ext uri="{FF2B5EF4-FFF2-40B4-BE49-F238E27FC236}">
                <a16:creationId xmlns:a16="http://schemas.microsoft.com/office/drawing/2014/main" id="{D35E3F99-03EA-4D3A-83DC-57DDBCE4AD7B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3-k1-accent">
            <a:extLst>
              <a:ext uri="{FF2B5EF4-FFF2-40B4-BE49-F238E27FC236}">
                <a16:creationId xmlns:a16="http://schemas.microsoft.com/office/drawing/2014/main" id="{81341153-8EE8-45BE-BE85-DA2405214A1A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3-k1-value">
            <a:extLst>
              <a:ext uri="{FF2B5EF4-FFF2-40B4-BE49-F238E27FC236}">
                <a16:creationId xmlns:a16="http://schemas.microsoft.com/office/drawing/2014/main" id="{F36C8A6D-EEDB-4D7B-83C0-FB916E744B4A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8.0m</a:t>
            </a:r>
          </a:p>
        </p:txBody>
      </p:sp>
      <p:sp>
        <p:nvSpPr>
          <p:cNvPr id="11" name="p3-k1-label">
            <a:extLst>
              <a:ext uri="{FF2B5EF4-FFF2-40B4-BE49-F238E27FC236}">
                <a16:creationId xmlns:a16="http://schemas.microsoft.com/office/drawing/2014/main" id="{6A1DE615-8A7B-4134-9903-06C046275D64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3-k2-card">
            <a:extLst>
              <a:ext uri="{FF2B5EF4-FFF2-40B4-BE49-F238E27FC236}">
                <a16:creationId xmlns:a16="http://schemas.microsoft.com/office/drawing/2014/main" id="{ABC69671-276F-4A28-B80E-CE09BF157ED8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3-k2-accent">
            <a:extLst>
              <a:ext uri="{FF2B5EF4-FFF2-40B4-BE49-F238E27FC236}">
                <a16:creationId xmlns:a16="http://schemas.microsoft.com/office/drawing/2014/main" id="{99F72B7E-F84E-4513-A812-59E9C2281B85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3-k2-value">
            <a:extLst>
              <a:ext uri="{FF2B5EF4-FFF2-40B4-BE49-F238E27FC236}">
                <a16:creationId xmlns:a16="http://schemas.microsoft.com/office/drawing/2014/main" id="{F6DFC4BB-74F9-4AF8-BCDA-A819D4B2B767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RIA</a:t>
            </a:r>
          </a:p>
        </p:txBody>
      </p:sp>
      <p:sp>
        <p:nvSpPr>
          <p:cNvPr id="15" name="p3-k2-label">
            <a:extLst>
              <a:ext uri="{FF2B5EF4-FFF2-40B4-BE49-F238E27FC236}">
                <a16:creationId xmlns:a16="http://schemas.microsoft.com/office/drawing/2014/main" id="{7B3AE244-F405-4CE7-B1D5-90C0E14E0636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3-k3-card">
            <a:extLst>
              <a:ext uri="{FF2B5EF4-FFF2-40B4-BE49-F238E27FC236}">
                <a16:creationId xmlns:a16="http://schemas.microsoft.com/office/drawing/2014/main" id="{A4628849-7D81-46BF-9AFD-F7F6C71312C8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3-k3-accent">
            <a:extLst>
              <a:ext uri="{FF2B5EF4-FFF2-40B4-BE49-F238E27FC236}">
                <a16:creationId xmlns:a16="http://schemas.microsoft.com/office/drawing/2014/main" id="{DB81145C-16F9-48B0-9B9B-33FB170416DD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3-k3-value">
            <a:extLst>
              <a:ext uri="{FF2B5EF4-FFF2-40B4-BE49-F238E27FC236}">
                <a16:creationId xmlns:a16="http://schemas.microsoft.com/office/drawing/2014/main" id="{016AE104-AD20-45F8-911C-521C40167C77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Dec 2024 - Nov 2028</a:t>
            </a:r>
          </a:p>
        </p:txBody>
      </p:sp>
      <p:sp>
        <p:nvSpPr>
          <p:cNvPr id="19" name="p3-k3-label">
            <a:extLst>
              <a:ext uri="{FF2B5EF4-FFF2-40B4-BE49-F238E27FC236}">
                <a16:creationId xmlns:a16="http://schemas.microsoft.com/office/drawing/2014/main" id="{8117A26E-E522-41C8-877B-EF0B50145BE2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48 MONTHS</a:t>
            </a:r>
          </a:p>
        </p:txBody>
      </p:sp>
      <p:sp>
        <p:nvSpPr>
          <p:cNvPr id="20" name="p3-k4-card">
            <a:extLst>
              <a:ext uri="{FF2B5EF4-FFF2-40B4-BE49-F238E27FC236}">
                <a16:creationId xmlns:a16="http://schemas.microsoft.com/office/drawing/2014/main" id="{4CE35915-7217-41CC-A52D-63B637C3D161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3-k4-accent">
            <a:extLst>
              <a:ext uri="{FF2B5EF4-FFF2-40B4-BE49-F238E27FC236}">
                <a16:creationId xmlns:a16="http://schemas.microsoft.com/office/drawing/2014/main" id="{F84ECC1D-F264-41FE-BFF6-916DBEEC79C4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3-k4-value">
            <a:extLst>
              <a:ext uri="{FF2B5EF4-FFF2-40B4-BE49-F238E27FC236}">
                <a16:creationId xmlns:a16="http://schemas.microsoft.com/office/drawing/2014/main" id="{9E20134A-6550-4699-83DB-0DDEF79CD0FD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13 orgs / 8 countries</a:t>
            </a:r>
          </a:p>
        </p:txBody>
      </p:sp>
      <p:sp>
        <p:nvSpPr>
          <p:cNvPr id="23" name="p3-k4-label">
            <a:extLst>
              <a:ext uri="{FF2B5EF4-FFF2-40B4-BE49-F238E27FC236}">
                <a16:creationId xmlns:a16="http://schemas.microsoft.com/office/drawing/2014/main" id="{99576E46-A882-4EF5-A57A-FEFFADE0EA1C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3">
            <a:extLst>
              <a:ext uri="{FF2B5EF4-FFF2-40B4-BE49-F238E27FC236}">
                <a16:creationId xmlns:a16="http://schemas.microsoft.com/office/drawing/2014/main" id="{35474F28-73C3-433E-942E-B822C524ADA3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3">
            <a:extLst>
              <a:ext uri="{FF2B5EF4-FFF2-40B4-BE49-F238E27FC236}">
                <a16:creationId xmlns:a16="http://schemas.microsoft.com/office/drawing/2014/main" id="{28ABCB56-AC3D-4E62-B5B2-0DDE52971404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3">
            <a:extLst>
              <a:ext uri="{FF2B5EF4-FFF2-40B4-BE49-F238E27FC236}">
                <a16:creationId xmlns:a16="http://schemas.microsoft.com/office/drawing/2014/main" id="{A55AAD30-C7CE-4C2E-A66E-5B66E638D701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Develops a bioprinting platform that assembles cellular aggregates and microtissues into programmable regenerative grafts with more biomimetic structure and function.</a:t>
            </a:r>
          </a:p>
        </p:txBody>
      </p:sp>
      <p:sp>
        <p:nvSpPr>
          <p:cNvPr id="27" name="p-lens-3">
            <a:extLst>
              <a:ext uri="{FF2B5EF4-FFF2-40B4-BE49-F238E27FC236}">
                <a16:creationId xmlns:a16="http://schemas.microsoft.com/office/drawing/2014/main" id="{305CB9EC-9AF9-4934-BCFA-B64C15E1A58D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3">
            <a:extLst>
              <a:ext uri="{FF2B5EF4-FFF2-40B4-BE49-F238E27FC236}">
                <a16:creationId xmlns:a16="http://schemas.microsoft.com/office/drawing/2014/main" id="{B0C14279-453C-4D68-8CB8-5270C0C903A9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3">
            <a:extLst>
              <a:ext uri="{FF2B5EF4-FFF2-40B4-BE49-F238E27FC236}">
                <a16:creationId xmlns:a16="http://schemas.microsoft.com/office/drawing/2014/main" id="{4F815D58-F3CC-4BE0-9674-845FAC282D35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4 bilateral participants | EUR 2.6m recorded EC contribution</a:t>
            </a:r>
          </a:p>
        </p:txBody>
      </p:sp>
      <p:sp>
        <p:nvSpPr>
          <p:cNvPr id="30" name="p-call-label-3">
            <a:extLst>
              <a:ext uri="{FF2B5EF4-FFF2-40B4-BE49-F238E27FC236}">
                <a16:creationId xmlns:a16="http://schemas.microsoft.com/office/drawing/2014/main" id="{BB790E2D-152B-417E-827C-F2E76AB52DC1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3">
            <a:extLst>
              <a:ext uri="{FF2B5EF4-FFF2-40B4-BE49-F238E27FC236}">
                <a16:creationId xmlns:a16="http://schemas.microsoft.com/office/drawing/2014/main" id="{5DB84C07-33CC-4FC1-89B6-EC1920047350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HORIZON-HLTH-2024-TOOL-11</a:t>
            </a:r>
          </a:p>
        </p:txBody>
      </p:sp>
      <p:sp>
        <p:nvSpPr>
          <p:cNvPr id="32" name="p-topic-label-3">
            <a:extLst>
              <a:ext uri="{FF2B5EF4-FFF2-40B4-BE49-F238E27FC236}">
                <a16:creationId xmlns:a16="http://schemas.microsoft.com/office/drawing/2014/main" id="{AA4E372B-4625-4ED4-AB16-0C61CFEBF844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3">
            <a:extLst>
              <a:ext uri="{FF2B5EF4-FFF2-40B4-BE49-F238E27FC236}">
                <a16:creationId xmlns:a16="http://schemas.microsoft.com/office/drawing/2014/main" id="{0F1F4206-6174-4127-A2A5-F78E9C85B167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HORIZON-HLTH-2024-TOOL-11-02</a:t>
            </a:r>
          </a:p>
        </p:txBody>
      </p:sp>
      <p:sp>
        <p:nvSpPr>
          <p:cNvPr id="34" name="p-topic-title-3">
            <a:extLst>
              <a:ext uri="{FF2B5EF4-FFF2-40B4-BE49-F238E27FC236}">
                <a16:creationId xmlns:a16="http://schemas.microsoft.com/office/drawing/2014/main" id="{259A1E3F-EE5B-42F3-80D7-BB49BB36B211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Bio-printing of living cells for regenerative medicine</a:t>
            </a:r>
          </a:p>
        </p:txBody>
      </p:sp>
      <p:sp>
        <p:nvSpPr>
          <p:cNvPr id="35" name="p-coord-label-3">
            <a:extLst>
              <a:ext uri="{FF2B5EF4-FFF2-40B4-BE49-F238E27FC236}">
                <a16:creationId xmlns:a16="http://schemas.microsoft.com/office/drawing/2014/main" id="{11725643-C4B6-4FD9-9E83-9CB0EA4D4632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3">
            <a:extLst>
              <a:ext uri="{FF2B5EF4-FFF2-40B4-BE49-F238E27FC236}">
                <a16:creationId xmlns:a16="http://schemas.microsoft.com/office/drawing/2014/main" id="{A0963039-3141-4A8B-A740-018DA066DF68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THE PROVOST, FELLOWS, FOUNDATION SCHOLARS &amp; THE OTHER MEMBERS OF BOARD, OF THE COLLEGE OF THE HOLY &amp; UNDIVIDED TRINITY OF QUEEN ELIZABETH NEAR DUBLIN (Ireland)</a:t>
            </a:r>
          </a:p>
        </p:txBody>
      </p:sp>
      <p:sp>
        <p:nvSpPr>
          <p:cNvPr id="37" name="ie-panel-3">
            <a:extLst>
              <a:ext uri="{FF2B5EF4-FFF2-40B4-BE49-F238E27FC236}">
                <a16:creationId xmlns:a16="http://schemas.microsoft.com/office/drawing/2014/main" id="{D2DE6C3B-481E-499A-81AD-A4FCD20FC5CB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3">
            <a:extLst>
              <a:ext uri="{FF2B5EF4-FFF2-40B4-BE49-F238E27FC236}">
                <a16:creationId xmlns:a16="http://schemas.microsoft.com/office/drawing/2014/main" id="{2D95CB62-F22B-4AED-AB22-4B5D9D6087FD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3">
            <a:extLst>
              <a:ext uri="{FF2B5EF4-FFF2-40B4-BE49-F238E27FC236}">
                <a16:creationId xmlns:a16="http://schemas.microsoft.com/office/drawing/2014/main" id="{A33DD5ED-53D3-43F9-8CC4-FC16446AB5D1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3">
            <a:extLst>
              <a:ext uri="{FF2B5EF4-FFF2-40B4-BE49-F238E27FC236}">
                <a16:creationId xmlns:a16="http://schemas.microsoft.com/office/drawing/2014/main" id="{6BB62940-9306-46AE-AB8C-9A52A11053BB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3">
            <a:extLst>
              <a:ext uri="{FF2B5EF4-FFF2-40B4-BE49-F238E27FC236}">
                <a16:creationId xmlns:a16="http://schemas.microsoft.com/office/drawing/2014/main" id="{A5B96C59-1652-4CC4-B378-90E9B5945F92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3 organisations | EUR 2.4m</a:t>
            </a:r>
          </a:p>
        </p:txBody>
      </p:sp>
      <p:sp>
        <p:nvSpPr>
          <p:cNvPr id="42" name="ie-rule-3">
            <a:extLst>
              <a:ext uri="{FF2B5EF4-FFF2-40B4-BE49-F238E27FC236}">
                <a16:creationId xmlns:a16="http://schemas.microsoft.com/office/drawing/2014/main" id="{A43F0A97-8A11-4B37-85EC-DC247B8C721D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3-0">
            <a:extLst>
              <a:ext uri="{FF2B5EF4-FFF2-40B4-BE49-F238E27FC236}">
                <a16:creationId xmlns:a16="http://schemas.microsoft.com/office/drawing/2014/main" id="{36BF7F0B-5B45-4200-BBF6-BAAF56978C6A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Trinity College Dublin</a:t>
            </a:r>
          </a:p>
        </p:txBody>
      </p:sp>
      <p:sp>
        <p:nvSpPr>
          <p:cNvPr id="44" name="ie-org-role-3-0">
            <a:extLst>
              <a:ext uri="{FF2B5EF4-FFF2-40B4-BE49-F238E27FC236}">
                <a16:creationId xmlns:a16="http://schemas.microsoft.com/office/drawing/2014/main" id="{46E3007E-3C8A-464A-A246-2DD679713320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Coordinator</a:t>
            </a:r>
          </a:p>
        </p:txBody>
      </p:sp>
      <p:sp>
        <p:nvSpPr>
          <p:cNvPr id="45" name="ie-org-ec-3-0">
            <a:extLst>
              <a:ext uri="{FF2B5EF4-FFF2-40B4-BE49-F238E27FC236}">
                <a16:creationId xmlns:a16="http://schemas.microsoft.com/office/drawing/2014/main" id="{E72DA27C-134B-43C3-8F1C-8217A4846913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1.7m</a:t>
            </a:r>
          </a:p>
        </p:txBody>
      </p:sp>
      <p:sp>
        <p:nvSpPr>
          <p:cNvPr id="46" name="ie-org-name-3-1">
            <a:extLst>
              <a:ext uri="{FF2B5EF4-FFF2-40B4-BE49-F238E27FC236}">
                <a16:creationId xmlns:a16="http://schemas.microsoft.com/office/drawing/2014/main" id="{61112516-77D7-4939-9FF1-F4BF2C6C23EC}"/>
              </a:ext>
            </a:extLst>
          </p:cNvPr>
          <p:cNvSpPr>
            <a:spLocks noGrp="1"/>
          </p:cNvSpPr>
          <p:nvPr/>
        </p:nvSpPr>
        <p:spPr>
          <a:xfrm>
            <a:off x="6896100" y="31813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University College Dublin</a:t>
            </a:r>
          </a:p>
        </p:txBody>
      </p:sp>
      <p:sp>
        <p:nvSpPr>
          <p:cNvPr id="47" name="ie-org-role-3-1">
            <a:extLst>
              <a:ext uri="{FF2B5EF4-FFF2-40B4-BE49-F238E27FC236}">
                <a16:creationId xmlns:a16="http://schemas.microsoft.com/office/drawing/2014/main" id="{321B42CB-75FD-4801-AF8A-61D5F8B6DB02}"/>
              </a:ext>
            </a:extLst>
          </p:cNvPr>
          <p:cNvSpPr>
            <a:spLocks noGrp="1"/>
          </p:cNvSpPr>
          <p:nvPr/>
        </p:nvSpPr>
        <p:spPr>
          <a:xfrm>
            <a:off x="6896100" y="33528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48" name="ie-org-ec-3-1">
            <a:extLst>
              <a:ext uri="{FF2B5EF4-FFF2-40B4-BE49-F238E27FC236}">
                <a16:creationId xmlns:a16="http://schemas.microsoft.com/office/drawing/2014/main" id="{63AF3FAA-22A5-4E58-9FCD-AAE01C8FD8E6}"/>
              </a:ext>
            </a:extLst>
          </p:cNvPr>
          <p:cNvSpPr>
            <a:spLocks noGrp="1"/>
          </p:cNvSpPr>
          <p:nvPr/>
        </p:nvSpPr>
        <p:spPr>
          <a:xfrm>
            <a:off x="10306050" y="32004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503k</a:t>
            </a:r>
          </a:p>
        </p:txBody>
      </p:sp>
      <p:sp>
        <p:nvSpPr>
          <p:cNvPr id="49" name="ie-org-name-3-2">
            <a:extLst>
              <a:ext uri="{FF2B5EF4-FFF2-40B4-BE49-F238E27FC236}">
                <a16:creationId xmlns:a16="http://schemas.microsoft.com/office/drawing/2014/main" id="{1B335D4A-39C1-4782-BB3E-598BEA73C12B}"/>
              </a:ext>
            </a:extLst>
          </p:cNvPr>
          <p:cNvSpPr>
            <a:spLocks noGrp="1"/>
          </p:cNvSpPr>
          <p:nvPr/>
        </p:nvSpPr>
        <p:spPr>
          <a:xfrm>
            <a:off x="6896100" y="35052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F6S Tech</a:t>
            </a:r>
          </a:p>
        </p:txBody>
      </p:sp>
      <p:sp>
        <p:nvSpPr>
          <p:cNvPr id="50" name="ie-org-role-3-2">
            <a:extLst>
              <a:ext uri="{FF2B5EF4-FFF2-40B4-BE49-F238E27FC236}">
                <a16:creationId xmlns:a16="http://schemas.microsoft.com/office/drawing/2014/main" id="{A99C2BBD-511A-4DE7-995B-EABB3EE313B8}"/>
              </a:ext>
            </a:extLst>
          </p:cNvPr>
          <p:cNvSpPr>
            <a:spLocks noGrp="1"/>
          </p:cNvSpPr>
          <p:nvPr/>
        </p:nvSpPr>
        <p:spPr>
          <a:xfrm>
            <a:off x="6896100" y="36766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Other | Beneficiary / Participant</a:t>
            </a:r>
          </a:p>
        </p:txBody>
      </p:sp>
      <p:sp>
        <p:nvSpPr>
          <p:cNvPr id="51" name="ie-org-ec-3-2">
            <a:extLst>
              <a:ext uri="{FF2B5EF4-FFF2-40B4-BE49-F238E27FC236}">
                <a16:creationId xmlns:a16="http://schemas.microsoft.com/office/drawing/2014/main" id="{D5946577-CCEF-4531-AFAA-83CDDD1BCBBE}"/>
              </a:ext>
            </a:extLst>
          </p:cNvPr>
          <p:cNvSpPr>
            <a:spLocks noGrp="1"/>
          </p:cNvSpPr>
          <p:nvPr/>
        </p:nvSpPr>
        <p:spPr>
          <a:xfrm>
            <a:off x="10306050" y="35242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250k</a:t>
            </a:r>
          </a:p>
        </p:txBody>
      </p:sp>
      <p:sp>
        <p:nvSpPr>
          <p:cNvPr id="52" name="nz-panel-3">
            <a:extLst>
              <a:ext uri="{FF2B5EF4-FFF2-40B4-BE49-F238E27FC236}">
                <a16:creationId xmlns:a16="http://schemas.microsoft.com/office/drawing/2014/main" id="{F796AE71-5B84-4E95-B390-F7B3BF3FBCE3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nz-badge-3">
            <a:extLst>
              <a:ext uri="{FF2B5EF4-FFF2-40B4-BE49-F238E27FC236}">
                <a16:creationId xmlns:a16="http://schemas.microsoft.com/office/drawing/2014/main" id="{41380766-D164-4969-B79F-B42C7BAD1B4C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nz-code-3">
            <a:extLst>
              <a:ext uri="{FF2B5EF4-FFF2-40B4-BE49-F238E27FC236}">
                <a16:creationId xmlns:a16="http://schemas.microsoft.com/office/drawing/2014/main" id="{476E51C9-5272-4B1F-80B2-6DAEFE7F4156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55" name="nz-title-3">
            <a:extLst>
              <a:ext uri="{FF2B5EF4-FFF2-40B4-BE49-F238E27FC236}">
                <a16:creationId xmlns:a16="http://schemas.microsoft.com/office/drawing/2014/main" id="{C29565F4-01AB-4A7E-A532-7CFFF1940DF6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6" name="nz-total-3">
            <a:extLst>
              <a:ext uri="{FF2B5EF4-FFF2-40B4-BE49-F238E27FC236}">
                <a16:creationId xmlns:a16="http://schemas.microsoft.com/office/drawing/2014/main" id="{5D1A4745-E09D-4601-8B70-0E3B1715BEC2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158k</a:t>
            </a:r>
          </a:p>
        </p:txBody>
      </p:sp>
      <p:sp>
        <p:nvSpPr>
          <p:cNvPr id="57" name="nz-rule-3">
            <a:extLst>
              <a:ext uri="{FF2B5EF4-FFF2-40B4-BE49-F238E27FC236}">
                <a16:creationId xmlns:a16="http://schemas.microsoft.com/office/drawing/2014/main" id="{4904FA51-BA5F-4A8F-A2F7-9042052897B8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nz-org-name-3-0">
            <a:extLst>
              <a:ext uri="{FF2B5EF4-FFF2-40B4-BE49-F238E27FC236}">
                <a16:creationId xmlns:a16="http://schemas.microsoft.com/office/drawing/2014/main" id="{C134E45D-B420-4EF6-A9EB-24BAFC52EE0F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University of Otago</a:t>
            </a:r>
          </a:p>
        </p:txBody>
      </p:sp>
      <p:sp>
        <p:nvSpPr>
          <p:cNvPr id="59" name="nz-org-role-3-0">
            <a:extLst>
              <a:ext uri="{FF2B5EF4-FFF2-40B4-BE49-F238E27FC236}">
                <a16:creationId xmlns:a16="http://schemas.microsoft.com/office/drawing/2014/main" id="{34556816-B6A3-443F-9165-373E7947DFC1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60" name="nz-org-ec-3-0">
            <a:extLst>
              <a:ext uri="{FF2B5EF4-FFF2-40B4-BE49-F238E27FC236}">
                <a16:creationId xmlns:a16="http://schemas.microsoft.com/office/drawing/2014/main" id="{3D723319-EEB8-4DC1-851C-CFB0ED45C92F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158k</a:t>
            </a:r>
          </a:p>
        </p:txBody>
      </p:sp>
      <p:sp>
        <p:nvSpPr>
          <p:cNvPr id="61" name="footer-line-6">
            <a:extLst>
              <a:ext uri="{FF2B5EF4-FFF2-40B4-BE49-F238E27FC236}">
                <a16:creationId xmlns:a16="http://schemas.microsoft.com/office/drawing/2014/main" id="{FA2E340E-1D78-4B3D-B038-E4C1F2B78A1F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2" name="footer-source-6">
            <a:extLst>
              <a:ext uri="{FF2B5EF4-FFF2-40B4-BE49-F238E27FC236}">
                <a16:creationId xmlns:a16="http://schemas.microsoft.com/office/drawing/2014/main" id="{8299D03F-76E4-4151-9693-BE23445D1B96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101191729; database snapshot 21 Aug 2026.</a:t>
            </a:r>
          </a:p>
        </p:txBody>
      </p:sp>
      <p:sp>
        <p:nvSpPr>
          <p:cNvPr id="63" name="footer-page-6">
            <a:extLst>
              <a:ext uri="{FF2B5EF4-FFF2-40B4-BE49-F238E27FC236}">
                <a16:creationId xmlns:a16="http://schemas.microsoft.com/office/drawing/2014/main" id="{68422182-A428-49FF-9612-2308F969939B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6 / 14</a:t>
            </a:r>
          </a:p>
        </p:txBody>
      </p:sp>
    </p:spTree>
    <p:extLst>
      <p:ext uri="{BB962C8B-B14F-4D97-AF65-F5344CB8AC3E}">
        <p14:creationId xmlns:p14="http://schemas.microsoft.com/office/powerpoint/2010/main" val="1533088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-header-4">
            <a:extLst>
              <a:ext uri="{FF2B5EF4-FFF2-40B4-BE49-F238E27FC236}">
                <a16:creationId xmlns:a16="http://schemas.microsoft.com/office/drawing/2014/main" id="{80004BC7-848B-4112-B4A8-0C40ACC081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4">
            <a:extLst>
              <a:ext uri="{FF2B5EF4-FFF2-40B4-BE49-F238E27FC236}">
                <a16:creationId xmlns:a16="http://schemas.microsoft.com/office/drawing/2014/main" id="{F9FDACFE-B60A-4B7F-A171-1A44C60FA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4">
            <a:extLst>
              <a:ext uri="{FF2B5EF4-FFF2-40B4-BE49-F238E27FC236}">
                <a16:creationId xmlns:a16="http://schemas.microsoft.com/office/drawing/2014/main" id="{68B75475-A6C6-4D05-A879-7E4FCB4C98DB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8E6CBB"/>
                </a:solidFill>
              </a:defRPr>
            </a:pPr>
            <a:r>
              <a:rPr sz="1050" b="1">
                <a:solidFill>
                  <a:srgbClr val="8E6CBB"/>
                </a:solidFill>
              </a:rPr>
              <a:t>CLUSTER 2 - CULTURE, CREATIVITY &amp; SOCIETY</a:t>
            </a:r>
          </a:p>
        </p:txBody>
      </p:sp>
      <p:sp>
        <p:nvSpPr>
          <p:cNvPr id="4" name="p-acronym-4">
            <a:extLst>
              <a:ext uri="{FF2B5EF4-FFF2-40B4-BE49-F238E27FC236}">
                <a16:creationId xmlns:a16="http://schemas.microsoft.com/office/drawing/2014/main" id="{4A968CCE-3525-478D-8AE2-ED751AD23074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CIVIC STAGE</a:t>
            </a:r>
          </a:p>
        </p:txBody>
      </p:sp>
      <p:sp>
        <p:nvSpPr>
          <p:cNvPr id="5" name="p-title-4">
            <a:extLst>
              <a:ext uri="{FF2B5EF4-FFF2-40B4-BE49-F238E27FC236}">
                <a16:creationId xmlns:a16="http://schemas.microsoft.com/office/drawing/2014/main" id="{4AB8D20F-FBF5-4A95-AE72-FD0377F405ED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Participatory theatre for citizenship, inclusion and European values</a:t>
            </a:r>
          </a:p>
        </p:txBody>
      </p:sp>
      <p:sp>
        <p:nvSpPr>
          <p:cNvPr id="6" name="p-number-4">
            <a:extLst>
              <a:ext uri="{FF2B5EF4-FFF2-40B4-BE49-F238E27FC236}">
                <a16:creationId xmlns:a16="http://schemas.microsoft.com/office/drawing/2014/main" id="{A4B6CB7F-9245-407E-BD49-3C36C467087F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5 / 12</a:t>
            </a:r>
          </a:p>
        </p:txBody>
      </p:sp>
      <p:sp>
        <p:nvSpPr>
          <p:cNvPr id="7" name="p-id-4">
            <a:extLst>
              <a:ext uri="{FF2B5EF4-FFF2-40B4-BE49-F238E27FC236}">
                <a16:creationId xmlns:a16="http://schemas.microsoft.com/office/drawing/2014/main" id="{50CB1310-A310-4856-A976-CBF6A88B0FCE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101288029</a:t>
            </a:r>
          </a:p>
        </p:txBody>
      </p:sp>
      <p:sp>
        <p:nvSpPr>
          <p:cNvPr id="8" name="p4-k1-card">
            <a:extLst>
              <a:ext uri="{FF2B5EF4-FFF2-40B4-BE49-F238E27FC236}">
                <a16:creationId xmlns:a16="http://schemas.microsoft.com/office/drawing/2014/main" id="{8828C25A-3337-4E9B-91CA-68DB95C4A0C6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4-k1-accent">
            <a:extLst>
              <a:ext uri="{FF2B5EF4-FFF2-40B4-BE49-F238E27FC236}">
                <a16:creationId xmlns:a16="http://schemas.microsoft.com/office/drawing/2014/main" id="{B0922FFE-CCAA-4C1B-BF11-F333A303A3D5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4-k1-value">
            <a:extLst>
              <a:ext uri="{FF2B5EF4-FFF2-40B4-BE49-F238E27FC236}">
                <a16:creationId xmlns:a16="http://schemas.microsoft.com/office/drawing/2014/main" id="{439B5322-4D66-4D71-8BB4-6675164D688E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3.5m</a:t>
            </a:r>
          </a:p>
        </p:txBody>
      </p:sp>
      <p:sp>
        <p:nvSpPr>
          <p:cNvPr id="11" name="p4-k1-label">
            <a:extLst>
              <a:ext uri="{FF2B5EF4-FFF2-40B4-BE49-F238E27FC236}">
                <a16:creationId xmlns:a16="http://schemas.microsoft.com/office/drawing/2014/main" id="{546F35AF-BC6B-456D-B520-2F7AEDFF4E0B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4-k2-card">
            <a:extLst>
              <a:ext uri="{FF2B5EF4-FFF2-40B4-BE49-F238E27FC236}">
                <a16:creationId xmlns:a16="http://schemas.microsoft.com/office/drawing/2014/main" id="{E722B592-8F9E-4F8B-9B55-F3682AE5A212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4-k2-accent">
            <a:extLst>
              <a:ext uri="{FF2B5EF4-FFF2-40B4-BE49-F238E27FC236}">
                <a16:creationId xmlns:a16="http://schemas.microsoft.com/office/drawing/2014/main" id="{19F1D9A5-0AFD-4716-915B-53835ECE3C98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4-k2-value">
            <a:extLst>
              <a:ext uri="{FF2B5EF4-FFF2-40B4-BE49-F238E27FC236}">
                <a16:creationId xmlns:a16="http://schemas.microsoft.com/office/drawing/2014/main" id="{E1B84C2B-D787-450C-8D27-4CD3DE3FD28A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RIA</a:t>
            </a:r>
          </a:p>
        </p:txBody>
      </p:sp>
      <p:sp>
        <p:nvSpPr>
          <p:cNvPr id="15" name="p4-k2-label">
            <a:extLst>
              <a:ext uri="{FF2B5EF4-FFF2-40B4-BE49-F238E27FC236}">
                <a16:creationId xmlns:a16="http://schemas.microsoft.com/office/drawing/2014/main" id="{525C2796-F70B-499C-ABAE-6583CE66D4EB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4-k3-card">
            <a:extLst>
              <a:ext uri="{FF2B5EF4-FFF2-40B4-BE49-F238E27FC236}">
                <a16:creationId xmlns:a16="http://schemas.microsoft.com/office/drawing/2014/main" id="{F30E6FFC-12E8-4860-9938-3AC0A53A5189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4-k3-accent">
            <a:extLst>
              <a:ext uri="{FF2B5EF4-FFF2-40B4-BE49-F238E27FC236}">
                <a16:creationId xmlns:a16="http://schemas.microsoft.com/office/drawing/2014/main" id="{3F1D5E26-89CA-41C5-A0D1-9991D03F2D58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4-k3-value">
            <a:extLst>
              <a:ext uri="{FF2B5EF4-FFF2-40B4-BE49-F238E27FC236}">
                <a16:creationId xmlns:a16="http://schemas.microsoft.com/office/drawing/2014/main" id="{9C01CE30-8B09-4CD4-AC29-0D1B9304703D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Oct 2026 - Sep 2029</a:t>
            </a:r>
          </a:p>
        </p:txBody>
      </p:sp>
      <p:sp>
        <p:nvSpPr>
          <p:cNvPr id="19" name="p4-k3-label">
            <a:extLst>
              <a:ext uri="{FF2B5EF4-FFF2-40B4-BE49-F238E27FC236}">
                <a16:creationId xmlns:a16="http://schemas.microsoft.com/office/drawing/2014/main" id="{2D55D180-CCB1-4800-9739-BE6F88C831F1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36 MONTHS</a:t>
            </a:r>
          </a:p>
        </p:txBody>
      </p:sp>
      <p:sp>
        <p:nvSpPr>
          <p:cNvPr id="20" name="p4-k4-card">
            <a:extLst>
              <a:ext uri="{FF2B5EF4-FFF2-40B4-BE49-F238E27FC236}">
                <a16:creationId xmlns:a16="http://schemas.microsoft.com/office/drawing/2014/main" id="{490A4496-0CDD-41A5-B873-357B4E9AEC91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4-k4-accent">
            <a:extLst>
              <a:ext uri="{FF2B5EF4-FFF2-40B4-BE49-F238E27FC236}">
                <a16:creationId xmlns:a16="http://schemas.microsoft.com/office/drawing/2014/main" id="{07702014-2583-4541-AC1D-2EFBFB37208A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4-k4-value">
            <a:extLst>
              <a:ext uri="{FF2B5EF4-FFF2-40B4-BE49-F238E27FC236}">
                <a16:creationId xmlns:a16="http://schemas.microsoft.com/office/drawing/2014/main" id="{69F78400-5991-410C-A957-40256EAAA310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10 orgs / 9 countries</a:t>
            </a:r>
          </a:p>
        </p:txBody>
      </p:sp>
      <p:sp>
        <p:nvSpPr>
          <p:cNvPr id="23" name="p4-k4-label">
            <a:extLst>
              <a:ext uri="{FF2B5EF4-FFF2-40B4-BE49-F238E27FC236}">
                <a16:creationId xmlns:a16="http://schemas.microsoft.com/office/drawing/2014/main" id="{296C23C8-42F2-477A-8985-D6AE30EBCFFC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4">
            <a:extLst>
              <a:ext uri="{FF2B5EF4-FFF2-40B4-BE49-F238E27FC236}">
                <a16:creationId xmlns:a16="http://schemas.microsoft.com/office/drawing/2014/main" id="{FC03E9EC-3AA9-4908-8CE3-89FE142F9366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4">
            <a:extLst>
              <a:ext uri="{FF2B5EF4-FFF2-40B4-BE49-F238E27FC236}">
                <a16:creationId xmlns:a16="http://schemas.microsoft.com/office/drawing/2014/main" id="{1D4AB189-8735-4E64-A79D-DBB49084BFF6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4">
            <a:extLst>
              <a:ext uri="{FF2B5EF4-FFF2-40B4-BE49-F238E27FC236}">
                <a16:creationId xmlns:a16="http://schemas.microsoft.com/office/drawing/2014/main" id="{4AB9CC48-E5B6-47FD-9016-5E5EEEBE2BA0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Uses participatory theatre and co-creative learning to strengthen democratic participation, European values and inclusion among young people, especially marginalised groups.</a:t>
            </a:r>
          </a:p>
        </p:txBody>
      </p:sp>
      <p:sp>
        <p:nvSpPr>
          <p:cNvPr id="27" name="p-lens-4">
            <a:extLst>
              <a:ext uri="{FF2B5EF4-FFF2-40B4-BE49-F238E27FC236}">
                <a16:creationId xmlns:a16="http://schemas.microsoft.com/office/drawing/2014/main" id="{F599D8F0-E23B-473E-9C1B-C221D508B312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4">
            <a:extLst>
              <a:ext uri="{FF2B5EF4-FFF2-40B4-BE49-F238E27FC236}">
                <a16:creationId xmlns:a16="http://schemas.microsoft.com/office/drawing/2014/main" id="{CF5FCB18-5A70-4645-A099-CC3759F0110B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4">
            <a:extLst>
              <a:ext uri="{FF2B5EF4-FFF2-40B4-BE49-F238E27FC236}">
                <a16:creationId xmlns:a16="http://schemas.microsoft.com/office/drawing/2014/main" id="{2E458B27-92C6-4DD8-84F3-94865FA5D617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2 bilateral participants | EUR 938k recorded EC contribution</a:t>
            </a:r>
          </a:p>
        </p:txBody>
      </p:sp>
      <p:sp>
        <p:nvSpPr>
          <p:cNvPr id="30" name="p-call-label-4">
            <a:extLst>
              <a:ext uri="{FF2B5EF4-FFF2-40B4-BE49-F238E27FC236}">
                <a16:creationId xmlns:a16="http://schemas.microsoft.com/office/drawing/2014/main" id="{1F23CA2C-BB56-4C31-8769-1A32B15A0CB7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4">
            <a:extLst>
              <a:ext uri="{FF2B5EF4-FFF2-40B4-BE49-F238E27FC236}">
                <a16:creationId xmlns:a16="http://schemas.microsoft.com/office/drawing/2014/main" id="{2563C2DB-A4D6-47A6-A977-58C56A427671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HORIZON-CL2-2025-01</a:t>
            </a:r>
          </a:p>
        </p:txBody>
      </p:sp>
      <p:sp>
        <p:nvSpPr>
          <p:cNvPr id="32" name="p-topic-label-4">
            <a:extLst>
              <a:ext uri="{FF2B5EF4-FFF2-40B4-BE49-F238E27FC236}">
                <a16:creationId xmlns:a16="http://schemas.microsoft.com/office/drawing/2014/main" id="{547FC19F-9FDD-4A00-9CF1-31D932BAE9F8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4">
            <a:extLst>
              <a:ext uri="{FF2B5EF4-FFF2-40B4-BE49-F238E27FC236}">
                <a16:creationId xmlns:a16="http://schemas.microsoft.com/office/drawing/2014/main" id="{93605A04-69A6-40DC-B572-CB1F135C54BB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HORIZON-CL2-2025-01-DEMOCRACY-10</a:t>
            </a:r>
          </a:p>
        </p:txBody>
      </p:sp>
      <p:sp>
        <p:nvSpPr>
          <p:cNvPr id="34" name="p-topic-title-4">
            <a:extLst>
              <a:ext uri="{FF2B5EF4-FFF2-40B4-BE49-F238E27FC236}">
                <a16:creationId xmlns:a16="http://schemas.microsoft.com/office/drawing/2014/main" id="{499552D9-4523-482F-87EC-C35D698F67FB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The role of civic and citizenship education for strengthening civic and democratic participation and support for common European values</a:t>
            </a:r>
          </a:p>
        </p:txBody>
      </p:sp>
      <p:sp>
        <p:nvSpPr>
          <p:cNvPr id="35" name="p-coord-label-4">
            <a:extLst>
              <a:ext uri="{FF2B5EF4-FFF2-40B4-BE49-F238E27FC236}">
                <a16:creationId xmlns:a16="http://schemas.microsoft.com/office/drawing/2014/main" id="{FA80E4F4-299D-40E3-8727-EC647FCF1395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4">
            <a:extLst>
              <a:ext uri="{FF2B5EF4-FFF2-40B4-BE49-F238E27FC236}">
                <a16:creationId xmlns:a16="http://schemas.microsoft.com/office/drawing/2014/main" id="{C0D98663-657B-499C-A5B2-CA0734367C72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HOGSKULEN PA VESTLANDET (Norway)</a:t>
            </a:r>
          </a:p>
        </p:txBody>
      </p:sp>
      <p:sp>
        <p:nvSpPr>
          <p:cNvPr id="37" name="ie-panel-4">
            <a:extLst>
              <a:ext uri="{FF2B5EF4-FFF2-40B4-BE49-F238E27FC236}">
                <a16:creationId xmlns:a16="http://schemas.microsoft.com/office/drawing/2014/main" id="{89768C8C-0DA2-4C2B-B442-03EEBEBDB7EE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4">
            <a:extLst>
              <a:ext uri="{FF2B5EF4-FFF2-40B4-BE49-F238E27FC236}">
                <a16:creationId xmlns:a16="http://schemas.microsoft.com/office/drawing/2014/main" id="{7C94309A-AC1E-43D6-A5FE-A9E6E4D1AD28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4">
            <a:extLst>
              <a:ext uri="{FF2B5EF4-FFF2-40B4-BE49-F238E27FC236}">
                <a16:creationId xmlns:a16="http://schemas.microsoft.com/office/drawing/2014/main" id="{BDBA1F48-D69D-477B-94B6-3EDF859EDBBF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4">
            <a:extLst>
              <a:ext uri="{FF2B5EF4-FFF2-40B4-BE49-F238E27FC236}">
                <a16:creationId xmlns:a16="http://schemas.microsoft.com/office/drawing/2014/main" id="{92F9702C-1B05-416E-A886-1249E411D067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4">
            <a:extLst>
              <a:ext uri="{FF2B5EF4-FFF2-40B4-BE49-F238E27FC236}">
                <a16:creationId xmlns:a16="http://schemas.microsoft.com/office/drawing/2014/main" id="{0452740E-371C-472C-81E5-A82967438D51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500k</a:t>
            </a:r>
          </a:p>
        </p:txBody>
      </p:sp>
      <p:sp>
        <p:nvSpPr>
          <p:cNvPr id="42" name="ie-rule-4">
            <a:extLst>
              <a:ext uri="{FF2B5EF4-FFF2-40B4-BE49-F238E27FC236}">
                <a16:creationId xmlns:a16="http://schemas.microsoft.com/office/drawing/2014/main" id="{E00B2FCB-45B4-489A-902C-7B486DE19220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4-0">
            <a:extLst>
              <a:ext uri="{FF2B5EF4-FFF2-40B4-BE49-F238E27FC236}">
                <a16:creationId xmlns:a16="http://schemas.microsoft.com/office/drawing/2014/main" id="{8313648C-069D-439E-8584-BCAEBC11A3CF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Trinity College Dublin</a:t>
            </a:r>
          </a:p>
        </p:txBody>
      </p:sp>
      <p:sp>
        <p:nvSpPr>
          <p:cNvPr id="44" name="ie-org-role-4-0">
            <a:extLst>
              <a:ext uri="{FF2B5EF4-FFF2-40B4-BE49-F238E27FC236}">
                <a16:creationId xmlns:a16="http://schemas.microsoft.com/office/drawing/2014/main" id="{24087C50-105F-40B4-8AC6-45367E46150C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45" name="ie-org-ec-4-0">
            <a:extLst>
              <a:ext uri="{FF2B5EF4-FFF2-40B4-BE49-F238E27FC236}">
                <a16:creationId xmlns:a16="http://schemas.microsoft.com/office/drawing/2014/main" id="{6674123E-1142-4F54-827A-305E3F33889C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500k</a:t>
            </a:r>
          </a:p>
        </p:txBody>
      </p:sp>
      <p:sp>
        <p:nvSpPr>
          <p:cNvPr id="46" name="nz-panel-4">
            <a:extLst>
              <a:ext uri="{FF2B5EF4-FFF2-40B4-BE49-F238E27FC236}">
                <a16:creationId xmlns:a16="http://schemas.microsoft.com/office/drawing/2014/main" id="{30DA2637-446D-48BF-A1C3-AE10605C508F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nz-badge-4">
            <a:extLst>
              <a:ext uri="{FF2B5EF4-FFF2-40B4-BE49-F238E27FC236}">
                <a16:creationId xmlns:a16="http://schemas.microsoft.com/office/drawing/2014/main" id="{18F1F972-7422-46B1-AC0C-D794CED87FD5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nz-code-4">
            <a:extLst>
              <a:ext uri="{FF2B5EF4-FFF2-40B4-BE49-F238E27FC236}">
                <a16:creationId xmlns:a16="http://schemas.microsoft.com/office/drawing/2014/main" id="{49E56C68-A8CC-4CAC-9413-624A261916AF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49" name="nz-title-4">
            <a:extLst>
              <a:ext uri="{FF2B5EF4-FFF2-40B4-BE49-F238E27FC236}">
                <a16:creationId xmlns:a16="http://schemas.microsoft.com/office/drawing/2014/main" id="{BA4D91E9-C69F-4EAB-9A58-8836182C949E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0" name="nz-total-4">
            <a:extLst>
              <a:ext uri="{FF2B5EF4-FFF2-40B4-BE49-F238E27FC236}">
                <a16:creationId xmlns:a16="http://schemas.microsoft.com/office/drawing/2014/main" id="{F29B5D90-41F7-4970-80FC-0C4F3B4619C6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438k</a:t>
            </a:r>
          </a:p>
        </p:txBody>
      </p:sp>
      <p:sp>
        <p:nvSpPr>
          <p:cNvPr id="51" name="nz-rule-4">
            <a:extLst>
              <a:ext uri="{FF2B5EF4-FFF2-40B4-BE49-F238E27FC236}">
                <a16:creationId xmlns:a16="http://schemas.microsoft.com/office/drawing/2014/main" id="{274B086F-809A-40C2-912B-D614E4D102C3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nz-org-name-4-0">
            <a:extLst>
              <a:ext uri="{FF2B5EF4-FFF2-40B4-BE49-F238E27FC236}">
                <a16:creationId xmlns:a16="http://schemas.microsoft.com/office/drawing/2014/main" id="{7E596031-2F0A-40B4-9B0D-4B5E9C03ED77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University of Auckland</a:t>
            </a:r>
          </a:p>
        </p:txBody>
      </p:sp>
      <p:sp>
        <p:nvSpPr>
          <p:cNvPr id="53" name="nz-org-role-4-0">
            <a:extLst>
              <a:ext uri="{FF2B5EF4-FFF2-40B4-BE49-F238E27FC236}">
                <a16:creationId xmlns:a16="http://schemas.microsoft.com/office/drawing/2014/main" id="{9DD1383A-894A-4564-8177-72F4DBD81630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54" name="nz-org-ec-4-0">
            <a:extLst>
              <a:ext uri="{FF2B5EF4-FFF2-40B4-BE49-F238E27FC236}">
                <a16:creationId xmlns:a16="http://schemas.microsoft.com/office/drawing/2014/main" id="{50919AF9-2F4B-4404-9AD7-CF10921348AB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438k</a:t>
            </a:r>
          </a:p>
        </p:txBody>
      </p:sp>
      <p:sp>
        <p:nvSpPr>
          <p:cNvPr id="55" name="footer-line-7">
            <a:extLst>
              <a:ext uri="{FF2B5EF4-FFF2-40B4-BE49-F238E27FC236}">
                <a16:creationId xmlns:a16="http://schemas.microsoft.com/office/drawing/2014/main" id="{F9ACBE06-62FE-41E4-B178-4E291F3916FB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footer-source-7">
            <a:extLst>
              <a:ext uri="{FF2B5EF4-FFF2-40B4-BE49-F238E27FC236}">
                <a16:creationId xmlns:a16="http://schemas.microsoft.com/office/drawing/2014/main" id="{5DE2C3FF-E809-4E68-91BF-6EB6073DD149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101288029; database snapshot 21 Aug 2026.</a:t>
            </a:r>
          </a:p>
        </p:txBody>
      </p:sp>
      <p:sp>
        <p:nvSpPr>
          <p:cNvPr id="57" name="footer-page-7">
            <a:extLst>
              <a:ext uri="{FF2B5EF4-FFF2-40B4-BE49-F238E27FC236}">
                <a16:creationId xmlns:a16="http://schemas.microsoft.com/office/drawing/2014/main" id="{8775CB57-4EE1-44F1-B670-69CB402DE055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7 / 14</a:t>
            </a:r>
          </a:p>
        </p:txBody>
      </p:sp>
    </p:spTree>
    <p:extLst>
      <p:ext uri="{BB962C8B-B14F-4D97-AF65-F5344CB8AC3E}">
        <p14:creationId xmlns:p14="http://schemas.microsoft.com/office/powerpoint/2010/main" val="944125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-header-5">
            <a:extLst>
              <a:ext uri="{FF2B5EF4-FFF2-40B4-BE49-F238E27FC236}">
                <a16:creationId xmlns:a16="http://schemas.microsoft.com/office/drawing/2014/main" id="{0057F07E-0C0F-42DC-B162-304DA16703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5">
            <a:extLst>
              <a:ext uri="{FF2B5EF4-FFF2-40B4-BE49-F238E27FC236}">
                <a16:creationId xmlns:a16="http://schemas.microsoft.com/office/drawing/2014/main" id="{12B0487B-2F2C-4445-A34F-5B0371273F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5">
            <a:extLst>
              <a:ext uri="{FF2B5EF4-FFF2-40B4-BE49-F238E27FC236}">
                <a16:creationId xmlns:a16="http://schemas.microsoft.com/office/drawing/2014/main" id="{BE4F379A-7140-44CB-8B72-BA310043A850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8E6CBB"/>
                </a:solidFill>
              </a:defRPr>
            </a:pPr>
            <a:r>
              <a:rPr sz="1050" b="1">
                <a:solidFill>
                  <a:srgbClr val="8E6CBB"/>
                </a:solidFill>
              </a:rPr>
              <a:t>CLUSTER 2 - CULTURE, CREATIVITY &amp; SOCIETY</a:t>
            </a:r>
          </a:p>
        </p:txBody>
      </p:sp>
      <p:sp>
        <p:nvSpPr>
          <p:cNvPr id="4" name="p-acronym-5">
            <a:extLst>
              <a:ext uri="{FF2B5EF4-FFF2-40B4-BE49-F238E27FC236}">
                <a16:creationId xmlns:a16="http://schemas.microsoft.com/office/drawing/2014/main" id="{C285E97A-7394-4D3E-B077-FEAF48C97D97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EU-CIEMBLY</a:t>
            </a:r>
          </a:p>
        </p:txBody>
      </p:sp>
      <p:sp>
        <p:nvSpPr>
          <p:cNvPr id="5" name="p-title-5">
            <a:extLst>
              <a:ext uri="{FF2B5EF4-FFF2-40B4-BE49-F238E27FC236}">
                <a16:creationId xmlns:a16="http://schemas.microsoft.com/office/drawing/2014/main" id="{239B0E59-D774-474C-AD81-2D051A745921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Creating an Inclusive European Citizens' Assembly</a:t>
            </a:r>
          </a:p>
        </p:txBody>
      </p:sp>
      <p:sp>
        <p:nvSpPr>
          <p:cNvPr id="6" name="p-number-5">
            <a:extLst>
              <a:ext uri="{FF2B5EF4-FFF2-40B4-BE49-F238E27FC236}">
                <a16:creationId xmlns:a16="http://schemas.microsoft.com/office/drawing/2014/main" id="{150B9030-8232-41C4-843D-422F7F982F0A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6 / 12</a:t>
            </a:r>
          </a:p>
        </p:txBody>
      </p:sp>
      <p:sp>
        <p:nvSpPr>
          <p:cNvPr id="7" name="p-id-5">
            <a:extLst>
              <a:ext uri="{FF2B5EF4-FFF2-40B4-BE49-F238E27FC236}">
                <a16:creationId xmlns:a16="http://schemas.microsoft.com/office/drawing/2014/main" id="{084D7CA3-50DF-47C7-BC8E-C4652AD50556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101132694</a:t>
            </a:r>
          </a:p>
        </p:txBody>
      </p:sp>
      <p:sp>
        <p:nvSpPr>
          <p:cNvPr id="8" name="p5-k1-card">
            <a:extLst>
              <a:ext uri="{FF2B5EF4-FFF2-40B4-BE49-F238E27FC236}">
                <a16:creationId xmlns:a16="http://schemas.microsoft.com/office/drawing/2014/main" id="{ADB49E98-C8BE-47FA-93EB-39DAA52980BC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5-k1-accent">
            <a:extLst>
              <a:ext uri="{FF2B5EF4-FFF2-40B4-BE49-F238E27FC236}">
                <a16:creationId xmlns:a16="http://schemas.microsoft.com/office/drawing/2014/main" id="{73032D9D-81C8-4049-8F17-468F6716AC80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5-k1-value">
            <a:extLst>
              <a:ext uri="{FF2B5EF4-FFF2-40B4-BE49-F238E27FC236}">
                <a16:creationId xmlns:a16="http://schemas.microsoft.com/office/drawing/2014/main" id="{4C18ED1A-ED16-4114-A980-62520DDDB1F6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2.1m</a:t>
            </a:r>
          </a:p>
        </p:txBody>
      </p:sp>
      <p:sp>
        <p:nvSpPr>
          <p:cNvPr id="11" name="p5-k1-label">
            <a:extLst>
              <a:ext uri="{FF2B5EF4-FFF2-40B4-BE49-F238E27FC236}">
                <a16:creationId xmlns:a16="http://schemas.microsoft.com/office/drawing/2014/main" id="{D3635C69-FEFB-475B-B5D9-9837D8326398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5-k2-card">
            <a:extLst>
              <a:ext uri="{FF2B5EF4-FFF2-40B4-BE49-F238E27FC236}">
                <a16:creationId xmlns:a16="http://schemas.microsoft.com/office/drawing/2014/main" id="{6365DA4A-115C-4ECD-909E-98284AC2C46D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5-k2-accent">
            <a:extLst>
              <a:ext uri="{FF2B5EF4-FFF2-40B4-BE49-F238E27FC236}">
                <a16:creationId xmlns:a16="http://schemas.microsoft.com/office/drawing/2014/main" id="{7ACB0235-1169-4039-8A97-95E741A2153E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5-k2-value">
            <a:extLst>
              <a:ext uri="{FF2B5EF4-FFF2-40B4-BE49-F238E27FC236}">
                <a16:creationId xmlns:a16="http://schemas.microsoft.com/office/drawing/2014/main" id="{D1487BD4-64D6-475F-9ED6-4C2F0FCC2DE9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RIA</a:t>
            </a:r>
          </a:p>
        </p:txBody>
      </p:sp>
      <p:sp>
        <p:nvSpPr>
          <p:cNvPr id="15" name="p5-k2-label">
            <a:extLst>
              <a:ext uri="{FF2B5EF4-FFF2-40B4-BE49-F238E27FC236}">
                <a16:creationId xmlns:a16="http://schemas.microsoft.com/office/drawing/2014/main" id="{DCBD7DC3-F1C4-4AF7-924B-FA4C757A27E2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5-k3-card">
            <a:extLst>
              <a:ext uri="{FF2B5EF4-FFF2-40B4-BE49-F238E27FC236}">
                <a16:creationId xmlns:a16="http://schemas.microsoft.com/office/drawing/2014/main" id="{57D5D532-C3CF-4424-9B45-4CE57DC3BC15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5-k3-accent">
            <a:extLst>
              <a:ext uri="{FF2B5EF4-FFF2-40B4-BE49-F238E27FC236}">
                <a16:creationId xmlns:a16="http://schemas.microsoft.com/office/drawing/2014/main" id="{A3770DF5-9B58-4FA3-AD32-731236603DA4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5-k3-value">
            <a:extLst>
              <a:ext uri="{FF2B5EF4-FFF2-40B4-BE49-F238E27FC236}">
                <a16:creationId xmlns:a16="http://schemas.microsoft.com/office/drawing/2014/main" id="{8738D5E3-B09C-4266-B120-DF5E89C80658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Jan 2024 - Dec 2027</a:t>
            </a:r>
          </a:p>
        </p:txBody>
      </p:sp>
      <p:sp>
        <p:nvSpPr>
          <p:cNvPr id="19" name="p5-k3-label">
            <a:extLst>
              <a:ext uri="{FF2B5EF4-FFF2-40B4-BE49-F238E27FC236}">
                <a16:creationId xmlns:a16="http://schemas.microsoft.com/office/drawing/2014/main" id="{A5DC7E3B-E97C-43A6-9740-97C97C87945B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48 MONTHS</a:t>
            </a:r>
          </a:p>
        </p:txBody>
      </p:sp>
      <p:sp>
        <p:nvSpPr>
          <p:cNvPr id="20" name="p5-k4-card">
            <a:extLst>
              <a:ext uri="{FF2B5EF4-FFF2-40B4-BE49-F238E27FC236}">
                <a16:creationId xmlns:a16="http://schemas.microsoft.com/office/drawing/2014/main" id="{76B9B3E7-39C2-4410-9581-586B19541024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5-k4-accent">
            <a:extLst>
              <a:ext uri="{FF2B5EF4-FFF2-40B4-BE49-F238E27FC236}">
                <a16:creationId xmlns:a16="http://schemas.microsoft.com/office/drawing/2014/main" id="{9C00FDE5-F20F-4B47-A103-D1ED6623E6F3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5-k4-value">
            <a:extLst>
              <a:ext uri="{FF2B5EF4-FFF2-40B4-BE49-F238E27FC236}">
                <a16:creationId xmlns:a16="http://schemas.microsoft.com/office/drawing/2014/main" id="{677A4A8B-4C80-4306-8B30-D1428270AF38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11 orgs / 10 countries</a:t>
            </a:r>
          </a:p>
        </p:txBody>
      </p:sp>
      <p:sp>
        <p:nvSpPr>
          <p:cNvPr id="23" name="p5-k4-label">
            <a:extLst>
              <a:ext uri="{FF2B5EF4-FFF2-40B4-BE49-F238E27FC236}">
                <a16:creationId xmlns:a16="http://schemas.microsoft.com/office/drawing/2014/main" id="{FD93C127-E4FE-416F-99C4-4E39EB5B8907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5">
            <a:extLst>
              <a:ext uri="{FF2B5EF4-FFF2-40B4-BE49-F238E27FC236}">
                <a16:creationId xmlns:a16="http://schemas.microsoft.com/office/drawing/2014/main" id="{42C8EDA1-D690-4464-8611-209276DACBDA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5">
            <a:extLst>
              <a:ext uri="{FF2B5EF4-FFF2-40B4-BE49-F238E27FC236}">
                <a16:creationId xmlns:a16="http://schemas.microsoft.com/office/drawing/2014/main" id="{170081DC-78D8-4C42-97AD-6E8F43B7998D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5">
            <a:extLst>
              <a:ext uri="{FF2B5EF4-FFF2-40B4-BE49-F238E27FC236}">
                <a16:creationId xmlns:a16="http://schemas.microsoft.com/office/drawing/2014/main" id="{1A9ADCDF-2E00-490F-AA9C-AFC9B88423F5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Designs a more inclusive European Citizens' Assembly, embedding intersectionality, equality and representation into EU-level participatory and deliberative democracy.</a:t>
            </a:r>
          </a:p>
        </p:txBody>
      </p:sp>
      <p:sp>
        <p:nvSpPr>
          <p:cNvPr id="27" name="p-lens-5">
            <a:extLst>
              <a:ext uri="{FF2B5EF4-FFF2-40B4-BE49-F238E27FC236}">
                <a16:creationId xmlns:a16="http://schemas.microsoft.com/office/drawing/2014/main" id="{2A56D82C-20BC-4105-82E2-A37CEC46DA34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5">
            <a:extLst>
              <a:ext uri="{FF2B5EF4-FFF2-40B4-BE49-F238E27FC236}">
                <a16:creationId xmlns:a16="http://schemas.microsoft.com/office/drawing/2014/main" id="{88B2445E-808A-4C0D-A2FD-2ABFB00E0B29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5">
            <a:extLst>
              <a:ext uri="{FF2B5EF4-FFF2-40B4-BE49-F238E27FC236}">
                <a16:creationId xmlns:a16="http://schemas.microsoft.com/office/drawing/2014/main" id="{563A5EC2-DEF3-4C63-B908-53D96AE36C39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3 bilateral participants | EUR 578k recorded EC contribution</a:t>
            </a:r>
          </a:p>
        </p:txBody>
      </p:sp>
      <p:sp>
        <p:nvSpPr>
          <p:cNvPr id="30" name="p-call-label-5">
            <a:extLst>
              <a:ext uri="{FF2B5EF4-FFF2-40B4-BE49-F238E27FC236}">
                <a16:creationId xmlns:a16="http://schemas.microsoft.com/office/drawing/2014/main" id="{A443D83C-F0C9-4ACD-883C-EC46F949CEEC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5">
            <a:extLst>
              <a:ext uri="{FF2B5EF4-FFF2-40B4-BE49-F238E27FC236}">
                <a16:creationId xmlns:a16="http://schemas.microsoft.com/office/drawing/2014/main" id="{F9D9FE62-D266-46F8-85D8-F168C222C517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HORIZON-CL2-2023-DEMOCRACY-01</a:t>
            </a:r>
          </a:p>
        </p:txBody>
      </p:sp>
      <p:sp>
        <p:nvSpPr>
          <p:cNvPr id="32" name="p-topic-label-5">
            <a:extLst>
              <a:ext uri="{FF2B5EF4-FFF2-40B4-BE49-F238E27FC236}">
                <a16:creationId xmlns:a16="http://schemas.microsoft.com/office/drawing/2014/main" id="{371406DB-3112-40EA-B7A5-03D35B07C3D6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5">
            <a:extLst>
              <a:ext uri="{FF2B5EF4-FFF2-40B4-BE49-F238E27FC236}">
                <a16:creationId xmlns:a16="http://schemas.microsoft.com/office/drawing/2014/main" id="{2E5900ED-B49F-4A85-B7D1-322E3E002A67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HORIZON-CL2-2023-DEMOCRACY-01-07</a:t>
            </a:r>
          </a:p>
        </p:txBody>
      </p:sp>
      <p:sp>
        <p:nvSpPr>
          <p:cNvPr id="34" name="p-topic-title-5">
            <a:extLst>
              <a:ext uri="{FF2B5EF4-FFF2-40B4-BE49-F238E27FC236}">
                <a16:creationId xmlns:a16="http://schemas.microsoft.com/office/drawing/2014/main" id="{F72F7C4B-74EA-49C1-B516-6BB5B17F6936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Intersectionality and equality in deliberative and participatory democratic spaces</a:t>
            </a:r>
          </a:p>
        </p:txBody>
      </p:sp>
      <p:sp>
        <p:nvSpPr>
          <p:cNvPr id="35" name="p-coord-label-5">
            <a:extLst>
              <a:ext uri="{FF2B5EF4-FFF2-40B4-BE49-F238E27FC236}">
                <a16:creationId xmlns:a16="http://schemas.microsoft.com/office/drawing/2014/main" id="{01C1F13A-56CF-4AAB-900F-D2DA637C1AA6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5">
            <a:extLst>
              <a:ext uri="{FF2B5EF4-FFF2-40B4-BE49-F238E27FC236}">
                <a16:creationId xmlns:a16="http://schemas.microsoft.com/office/drawing/2014/main" id="{3DEA9420-72CD-4C68-9B89-9663928A8F07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UNIVERSIDADE DE COIMBRA (Portugal)</a:t>
            </a:r>
          </a:p>
        </p:txBody>
      </p:sp>
      <p:sp>
        <p:nvSpPr>
          <p:cNvPr id="37" name="ie-panel-5">
            <a:extLst>
              <a:ext uri="{FF2B5EF4-FFF2-40B4-BE49-F238E27FC236}">
                <a16:creationId xmlns:a16="http://schemas.microsoft.com/office/drawing/2014/main" id="{C69D879A-04FE-4B24-B0EE-B7697D8F54DA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5">
            <a:extLst>
              <a:ext uri="{FF2B5EF4-FFF2-40B4-BE49-F238E27FC236}">
                <a16:creationId xmlns:a16="http://schemas.microsoft.com/office/drawing/2014/main" id="{E73168DB-5C79-473D-98F3-E918486B594E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5">
            <a:extLst>
              <a:ext uri="{FF2B5EF4-FFF2-40B4-BE49-F238E27FC236}">
                <a16:creationId xmlns:a16="http://schemas.microsoft.com/office/drawing/2014/main" id="{51B4C3FC-5188-4CD5-923C-B4E9815581FC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5">
            <a:extLst>
              <a:ext uri="{FF2B5EF4-FFF2-40B4-BE49-F238E27FC236}">
                <a16:creationId xmlns:a16="http://schemas.microsoft.com/office/drawing/2014/main" id="{E58ADE01-4E5D-4EB6-85FE-831B4F417934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5">
            <a:extLst>
              <a:ext uri="{FF2B5EF4-FFF2-40B4-BE49-F238E27FC236}">
                <a16:creationId xmlns:a16="http://schemas.microsoft.com/office/drawing/2014/main" id="{1166CBEC-D2DE-430C-8942-4FD7C667E6E4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356k</a:t>
            </a:r>
          </a:p>
        </p:txBody>
      </p:sp>
      <p:sp>
        <p:nvSpPr>
          <p:cNvPr id="42" name="ie-rule-5">
            <a:extLst>
              <a:ext uri="{FF2B5EF4-FFF2-40B4-BE49-F238E27FC236}">
                <a16:creationId xmlns:a16="http://schemas.microsoft.com/office/drawing/2014/main" id="{52A7D3C1-E271-4358-91AD-4EF8441160F3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5-0">
            <a:extLst>
              <a:ext uri="{FF2B5EF4-FFF2-40B4-BE49-F238E27FC236}">
                <a16:creationId xmlns:a16="http://schemas.microsoft.com/office/drawing/2014/main" id="{69D53C2B-90FB-400F-A822-361E3230A909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Institute for Methods Innovation</a:t>
            </a:r>
          </a:p>
        </p:txBody>
      </p:sp>
      <p:sp>
        <p:nvSpPr>
          <p:cNvPr id="44" name="ie-org-role-5-0">
            <a:extLst>
              <a:ext uri="{FF2B5EF4-FFF2-40B4-BE49-F238E27FC236}">
                <a16:creationId xmlns:a16="http://schemas.microsoft.com/office/drawing/2014/main" id="{1292CF21-A5A8-487D-B2D2-FB59CE364BB8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Other | Beneficiary / Participant</a:t>
            </a:r>
          </a:p>
        </p:txBody>
      </p:sp>
      <p:sp>
        <p:nvSpPr>
          <p:cNvPr id="45" name="ie-org-ec-5-0">
            <a:extLst>
              <a:ext uri="{FF2B5EF4-FFF2-40B4-BE49-F238E27FC236}">
                <a16:creationId xmlns:a16="http://schemas.microsoft.com/office/drawing/2014/main" id="{909F6907-5ECD-4F63-ACA1-DF058EAC3269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356k</a:t>
            </a:r>
          </a:p>
        </p:txBody>
      </p:sp>
      <p:sp>
        <p:nvSpPr>
          <p:cNvPr id="46" name="nz-panel-5">
            <a:extLst>
              <a:ext uri="{FF2B5EF4-FFF2-40B4-BE49-F238E27FC236}">
                <a16:creationId xmlns:a16="http://schemas.microsoft.com/office/drawing/2014/main" id="{D314479F-AB95-4528-AAD4-8DFAC12AD22B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nz-badge-5">
            <a:extLst>
              <a:ext uri="{FF2B5EF4-FFF2-40B4-BE49-F238E27FC236}">
                <a16:creationId xmlns:a16="http://schemas.microsoft.com/office/drawing/2014/main" id="{348FAF2B-AFD8-4579-A1B8-E6CCC1A41DE7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nz-code-5">
            <a:extLst>
              <a:ext uri="{FF2B5EF4-FFF2-40B4-BE49-F238E27FC236}">
                <a16:creationId xmlns:a16="http://schemas.microsoft.com/office/drawing/2014/main" id="{25B65E37-4683-4D5D-A43F-07659C9038C4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49" name="nz-title-5">
            <a:extLst>
              <a:ext uri="{FF2B5EF4-FFF2-40B4-BE49-F238E27FC236}">
                <a16:creationId xmlns:a16="http://schemas.microsoft.com/office/drawing/2014/main" id="{BB1494E7-FD25-46D6-8F46-3E72ED0ED0BA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0" name="nz-total-5">
            <a:extLst>
              <a:ext uri="{FF2B5EF4-FFF2-40B4-BE49-F238E27FC236}">
                <a16:creationId xmlns:a16="http://schemas.microsoft.com/office/drawing/2014/main" id="{6CE63CA9-1880-469D-AC30-808C0ED19185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2 organisations | EUR 222k</a:t>
            </a:r>
          </a:p>
        </p:txBody>
      </p:sp>
      <p:sp>
        <p:nvSpPr>
          <p:cNvPr id="51" name="nz-rule-5">
            <a:extLst>
              <a:ext uri="{FF2B5EF4-FFF2-40B4-BE49-F238E27FC236}">
                <a16:creationId xmlns:a16="http://schemas.microsoft.com/office/drawing/2014/main" id="{390BAB1C-9CDD-4ED9-8696-1D622608FF6A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nz-org-name-5-0">
            <a:extLst>
              <a:ext uri="{FF2B5EF4-FFF2-40B4-BE49-F238E27FC236}">
                <a16:creationId xmlns:a16="http://schemas.microsoft.com/office/drawing/2014/main" id="{9E129F99-FDC0-4489-9023-4B2624DE24A9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Victoria University of Wellington</a:t>
            </a:r>
          </a:p>
        </p:txBody>
      </p:sp>
      <p:sp>
        <p:nvSpPr>
          <p:cNvPr id="53" name="nz-org-role-5-0">
            <a:extLst>
              <a:ext uri="{FF2B5EF4-FFF2-40B4-BE49-F238E27FC236}">
                <a16:creationId xmlns:a16="http://schemas.microsoft.com/office/drawing/2014/main" id="{1298F49F-50E0-457D-A432-66E5F38E478A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Research Organisation | Beneficiary / Participant</a:t>
            </a:r>
          </a:p>
        </p:txBody>
      </p:sp>
      <p:sp>
        <p:nvSpPr>
          <p:cNvPr id="54" name="nz-org-ec-5-0">
            <a:extLst>
              <a:ext uri="{FF2B5EF4-FFF2-40B4-BE49-F238E27FC236}">
                <a16:creationId xmlns:a16="http://schemas.microsoft.com/office/drawing/2014/main" id="{7715B051-D42C-4087-BA11-4608BF8945C3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111k</a:t>
            </a:r>
          </a:p>
        </p:txBody>
      </p:sp>
      <p:sp>
        <p:nvSpPr>
          <p:cNvPr id="55" name="nz-org-name-5-1">
            <a:extLst>
              <a:ext uri="{FF2B5EF4-FFF2-40B4-BE49-F238E27FC236}">
                <a16:creationId xmlns:a16="http://schemas.microsoft.com/office/drawing/2014/main" id="{0CC2ADAA-FFAF-4C2F-844B-BFF627D5BC4F}"/>
              </a:ext>
            </a:extLst>
          </p:cNvPr>
          <p:cNvSpPr>
            <a:spLocks noGrp="1"/>
          </p:cNvSpPr>
          <p:nvPr/>
        </p:nvSpPr>
        <p:spPr>
          <a:xfrm>
            <a:off x="6896100" y="538162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University of Waikato</a:t>
            </a:r>
          </a:p>
        </p:txBody>
      </p:sp>
      <p:sp>
        <p:nvSpPr>
          <p:cNvPr id="56" name="nz-org-role-5-1">
            <a:extLst>
              <a:ext uri="{FF2B5EF4-FFF2-40B4-BE49-F238E27FC236}">
                <a16:creationId xmlns:a16="http://schemas.microsoft.com/office/drawing/2014/main" id="{DD44DD7A-E9EB-4AD9-AEEC-6E299DDFCA77}"/>
              </a:ext>
            </a:extLst>
          </p:cNvPr>
          <p:cNvSpPr>
            <a:spLocks noGrp="1"/>
          </p:cNvSpPr>
          <p:nvPr/>
        </p:nvSpPr>
        <p:spPr>
          <a:xfrm>
            <a:off x="6896100" y="555307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57" name="nz-org-ec-5-1">
            <a:extLst>
              <a:ext uri="{FF2B5EF4-FFF2-40B4-BE49-F238E27FC236}">
                <a16:creationId xmlns:a16="http://schemas.microsoft.com/office/drawing/2014/main" id="{A71E2F87-A2C8-4614-AE73-6CC731A3EEC2}"/>
              </a:ext>
            </a:extLst>
          </p:cNvPr>
          <p:cNvSpPr>
            <a:spLocks noGrp="1"/>
          </p:cNvSpPr>
          <p:nvPr/>
        </p:nvSpPr>
        <p:spPr>
          <a:xfrm>
            <a:off x="10306050" y="540067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111k</a:t>
            </a:r>
          </a:p>
        </p:txBody>
      </p:sp>
      <p:sp>
        <p:nvSpPr>
          <p:cNvPr id="58" name="footer-line-8">
            <a:extLst>
              <a:ext uri="{FF2B5EF4-FFF2-40B4-BE49-F238E27FC236}">
                <a16:creationId xmlns:a16="http://schemas.microsoft.com/office/drawing/2014/main" id="{FAE09289-B8D5-44E0-9D77-7FC7570B501A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footer-source-8">
            <a:extLst>
              <a:ext uri="{FF2B5EF4-FFF2-40B4-BE49-F238E27FC236}">
                <a16:creationId xmlns:a16="http://schemas.microsoft.com/office/drawing/2014/main" id="{F99FD28C-0B05-47F4-9E83-6AF1303404DA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101132694; database snapshot 21 Aug 2026.</a:t>
            </a:r>
          </a:p>
        </p:txBody>
      </p:sp>
      <p:sp>
        <p:nvSpPr>
          <p:cNvPr id="60" name="footer-page-8">
            <a:extLst>
              <a:ext uri="{FF2B5EF4-FFF2-40B4-BE49-F238E27FC236}">
                <a16:creationId xmlns:a16="http://schemas.microsoft.com/office/drawing/2014/main" id="{25821E81-44BE-4A57-9EAD-D8BDB8463FBB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8 / 14</a:t>
            </a:r>
          </a:p>
        </p:txBody>
      </p:sp>
    </p:spTree>
    <p:extLst>
      <p:ext uri="{BB962C8B-B14F-4D97-AF65-F5344CB8AC3E}">
        <p14:creationId xmlns:p14="http://schemas.microsoft.com/office/powerpoint/2010/main" val="163491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-header-6">
            <a:extLst>
              <a:ext uri="{FF2B5EF4-FFF2-40B4-BE49-F238E27FC236}">
                <a16:creationId xmlns:a16="http://schemas.microsoft.com/office/drawing/2014/main" id="{2B628813-0C9F-489B-9C19-F82FA2A213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6">
            <a:extLst>
              <a:ext uri="{FF2B5EF4-FFF2-40B4-BE49-F238E27FC236}">
                <a16:creationId xmlns:a16="http://schemas.microsoft.com/office/drawing/2014/main" id="{41A918D6-27EE-4278-9EE4-342DABED22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F2C14E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6">
            <a:extLst>
              <a:ext uri="{FF2B5EF4-FFF2-40B4-BE49-F238E27FC236}">
                <a16:creationId xmlns:a16="http://schemas.microsoft.com/office/drawing/2014/main" id="{821881C8-5418-421A-85A5-2882BB25F257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2C14E"/>
                </a:solidFill>
              </a:defRPr>
            </a:pPr>
            <a:r>
              <a:rPr sz="1050" b="1">
                <a:solidFill>
                  <a:srgbClr val="F2C14E"/>
                </a:solidFill>
              </a:rPr>
              <a:t>CLUSTER 5 - CLIMATE, ENERGY &amp; MOBILITY</a:t>
            </a:r>
          </a:p>
        </p:txBody>
      </p:sp>
      <p:sp>
        <p:nvSpPr>
          <p:cNvPr id="4" name="p-acronym-6">
            <a:extLst>
              <a:ext uri="{FF2B5EF4-FFF2-40B4-BE49-F238E27FC236}">
                <a16:creationId xmlns:a16="http://schemas.microsoft.com/office/drawing/2014/main" id="{CF1D9E7C-80FB-4884-8C2B-69F37F565AB4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Minority Report</a:t>
            </a:r>
          </a:p>
        </p:txBody>
      </p:sp>
      <p:sp>
        <p:nvSpPr>
          <p:cNvPr id="5" name="p-title-6">
            <a:extLst>
              <a:ext uri="{FF2B5EF4-FFF2-40B4-BE49-F238E27FC236}">
                <a16:creationId xmlns:a16="http://schemas.microsoft.com/office/drawing/2014/main" id="{D5941930-1D2C-484A-8EF8-A3F541A95056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People-centred predictive technologies for disaster and climate resilience</a:t>
            </a:r>
          </a:p>
        </p:txBody>
      </p:sp>
      <p:sp>
        <p:nvSpPr>
          <p:cNvPr id="6" name="p-number-6">
            <a:extLst>
              <a:ext uri="{FF2B5EF4-FFF2-40B4-BE49-F238E27FC236}">
                <a16:creationId xmlns:a16="http://schemas.microsoft.com/office/drawing/2014/main" id="{92DD9521-129E-4351-B5CF-5C0B2E1AA864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7 / 12</a:t>
            </a:r>
          </a:p>
        </p:txBody>
      </p:sp>
      <p:sp>
        <p:nvSpPr>
          <p:cNvPr id="7" name="p-id-6">
            <a:extLst>
              <a:ext uri="{FF2B5EF4-FFF2-40B4-BE49-F238E27FC236}">
                <a16:creationId xmlns:a16="http://schemas.microsoft.com/office/drawing/2014/main" id="{3D969405-0CE9-4378-A722-FDAD9304036E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101147385</a:t>
            </a:r>
          </a:p>
        </p:txBody>
      </p:sp>
      <p:sp>
        <p:nvSpPr>
          <p:cNvPr id="8" name="p6-k1-card">
            <a:extLst>
              <a:ext uri="{FF2B5EF4-FFF2-40B4-BE49-F238E27FC236}">
                <a16:creationId xmlns:a16="http://schemas.microsoft.com/office/drawing/2014/main" id="{A41747FE-22EE-4CB6-BF0C-D16C297AE014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6-k1-accent">
            <a:extLst>
              <a:ext uri="{FF2B5EF4-FFF2-40B4-BE49-F238E27FC236}">
                <a16:creationId xmlns:a16="http://schemas.microsoft.com/office/drawing/2014/main" id="{6BFCD62C-896E-408D-B229-196FF8EE376A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6-k1-value">
            <a:extLst>
              <a:ext uri="{FF2B5EF4-FFF2-40B4-BE49-F238E27FC236}">
                <a16:creationId xmlns:a16="http://schemas.microsoft.com/office/drawing/2014/main" id="{AE69BCBB-05FF-493D-8651-CFA0C6E60FB9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4.5m</a:t>
            </a:r>
          </a:p>
        </p:txBody>
      </p:sp>
      <p:sp>
        <p:nvSpPr>
          <p:cNvPr id="11" name="p6-k1-label">
            <a:extLst>
              <a:ext uri="{FF2B5EF4-FFF2-40B4-BE49-F238E27FC236}">
                <a16:creationId xmlns:a16="http://schemas.microsoft.com/office/drawing/2014/main" id="{7053FC45-73A7-4AEE-9132-549AAF7B042E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6-k2-card">
            <a:extLst>
              <a:ext uri="{FF2B5EF4-FFF2-40B4-BE49-F238E27FC236}">
                <a16:creationId xmlns:a16="http://schemas.microsoft.com/office/drawing/2014/main" id="{D039A66A-CBA7-4F77-8319-82D75042EE22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6-k2-accent">
            <a:extLst>
              <a:ext uri="{FF2B5EF4-FFF2-40B4-BE49-F238E27FC236}">
                <a16:creationId xmlns:a16="http://schemas.microsoft.com/office/drawing/2014/main" id="{5856CE94-7F00-474A-BBC2-4412C249419E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6-k2-value">
            <a:extLst>
              <a:ext uri="{FF2B5EF4-FFF2-40B4-BE49-F238E27FC236}">
                <a16:creationId xmlns:a16="http://schemas.microsoft.com/office/drawing/2014/main" id="{5C7D2573-23F5-4798-BE39-5D130909B649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IA</a:t>
            </a:r>
          </a:p>
        </p:txBody>
      </p:sp>
      <p:sp>
        <p:nvSpPr>
          <p:cNvPr id="15" name="p6-k2-label">
            <a:extLst>
              <a:ext uri="{FF2B5EF4-FFF2-40B4-BE49-F238E27FC236}">
                <a16:creationId xmlns:a16="http://schemas.microsoft.com/office/drawing/2014/main" id="{FB3E9117-EBAA-42C7-96A6-343F992D93C9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6-k3-card">
            <a:extLst>
              <a:ext uri="{FF2B5EF4-FFF2-40B4-BE49-F238E27FC236}">
                <a16:creationId xmlns:a16="http://schemas.microsoft.com/office/drawing/2014/main" id="{EDAA330D-E87A-4C01-9B43-836BBCB08589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6-k3-accent">
            <a:extLst>
              <a:ext uri="{FF2B5EF4-FFF2-40B4-BE49-F238E27FC236}">
                <a16:creationId xmlns:a16="http://schemas.microsoft.com/office/drawing/2014/main" id="{B41B1A9D-9FE3-48DA-98EC-23225C42519B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6-k3-value">
            <a:extLst>
              <a:ext uri="{FF2B5EF4-FFF2-40B4-BE49-F238E27FC236}">
                <a16:creationId xmlns:a16="http://schemas.microsoft.com/office/drawing/2014/main" id="{46AF0AA1-30BA-4FA9-9F7B-4EEB6347F9AF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Jun 2024 - Nov 2027</a:t>
            </a:r>
          </a:p>
        </p:txBody>
      </p:sp>
      <p:sp>
        <p:nvSpPr>
          <p:cNvPr id="19" name="p6-k3-label">
            <a:extLst>
              <a:ext uri="{FF2B5EF4-FFF2-40B4-BE49-F238E27FC236}">
                <a16:creationId xmlns:a16="http://schemas.microsoft.com/office/drawing/2014/main" id="{52B0218D-CC3E-4411-BFBF-FA97B561808E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42 MONTHS</a:t>
            </a:r>
          </a:p>
        </p:txBody>
      </p:sp>
      <p:sp>
        <p:nvSpPr>
          <p:cNvPr id="20" name="p6-k4-card">
            <a:extLst>
              <a:ext uri="{FF2B5EF4-FFF2-40B4-BE49-F238E27FC236}">
                <a16:creationId xmlns:a16="http://schemas.microsoft.com/office/drawing/2014/main" id="{23FE7982-3243-4517-89D0-F12346C3CF98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6-k4-accent">
            <a:extLst>
              <a:ext uri="{FF2B5EF4-FFF2-40B4-BE49-F238E27FC236}">
                <a16:creationId xmlns:a16="http://schemas.microsoft.com/office/drawing/2014/main" id="{50118B2F-4AB5-4E8A-82E8-ED34D5C8475A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6-k4-value">
            <a:extLst>
              <a:ext uri="{FF2B5EF4-FFF2-40B4-BE49-F238E27FC236}">
                <a16:creationId xmlns:a16="http://schemas.microsoft.com/office/drawing/2014/main" id="{EC2BF4E6-48A9-4019-8430-2E4EE182F498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16 orgs / 7 countries</a:t>
            </a:r>
          </a:p>
        </p:txBody>
      </p:sp>
      <p:sp>
        <p:nvSpPr>
          <p:cNvPr id="23" name="p6-k4-label">
            <a:extLst>
              <a:ext uri="{FF2B5EF4-FFF2-40B4-BE49-F238E27FC236}">
                <a16:creationId xmlns:a16="http://schemas.microsoft.com/office/drawing/2014/main" id="{B8CDE8CE-7AC4-4628-B5B1-0485655E43B2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6">
            <a:extLst>
              <a:ext uri="{FF2B5EF4-FFF2-40B4-BE49-F238E27FC236}">
                <a16:creationId xmlns:a16="http://schemas.microsoft.com/office/drawing/2014/main" id="{55AC9A2E-A773-4B90-B5DE-FC159B377778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6">
            <a:extLst>
              <a:ext uri="{FF2B5EF4-FFF2-40B4-BE49-F238E27FC236}">
                <a16:creationId xmlns:a16="http://schemas.microsoft.com/office/drawing/2014/main" id="{38B0BDDF-B624-400C-BCDC-00224CEA262F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6">
            <a:extLst>
              <a:ext uri="{FF2B5EF4-FFF2-40B4-BE49-F238E27FC236}">
                <a16:creationId xmlns:a16="http://schemas.microsoft.com/office/drawing/2014/main" id="{2B159613-549A-4446-B500-5DE1CE2E572C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Combines people-centred co-creation, predictive digital technologies and urban data to improve resilience to disruptive climate events and protect vulnerable communities.</a:t>
            </a:r>
          </a:p>
        </p:txBody>
      </p:sp>
      <p:sp>
        <p:nvSpPr>
          <p:cNvPr id="27" name="p-lens-6">
            <a:extLst>
              <a:ext uri="{FF2B5EF4-FFF2-40B4-BE49-F238E27FC236}">
                <a16:creationId xmlns:a16="http://schemas.microsoft.com/office/drawing/2014/main" id="{B66DD7BF-1CCB-4B8A-8B94-3EDEF0178A57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6">
            <a:extLst>
              <a:ext uri="{FF2B5EF4-FFF2-40B4-BE49-F238E27FC236}">
                <a16:creationId xmlns:a16="http://schemas.microsoft.com/office/drawing/2014/main" id="{FC45C1DE-FB4E-4E29-8373-08E781C89553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6">
            <a:extLst>
              <a:ext uri="{FF2B5EF4-FFF2-40B4-BE49-F238E27FC236}">
                <a16:creationId xmlns:a16="http://schemas.microsoft.com/office/drawing/2014/main" id="{8256316D-5D1F-4DEF-A308-D9FDAAC9BDDC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7 bilateral participants | EUR 2.2m recorded EC contribution</a:t>
            </a:r>
          </a:p>
        </p:txBody>
      </p:sp>
      <p:sp>
        <p:nvSpPr>
          <p:cNvPr id="30" name="p-call-label-6">
            <a:extLst>
              <a:ext uri="{FF2B5EF4-FFF2-40B4-BE49-F238E27FC236}">
                <a16:creationId xmlns:a16="http://schemas.microsoft.com/office/drawing/2014/main" id="{03723CF6-C44C-4D51-AE35-53675978CA37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6">
            <a:extLst>
              <a:ext uri="{FF2B5EF4-FFF2-40B4-BE49-F238E27FC236}">
                <a16:creationId xmlns:a16="http://schemas.microsoft.com/office/drawing/2014/main" id="{44472A45-68EE-41CA-AF4D-EE5049DBB29A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HORIZON-CL5-2023-D4-02</a:t>
            </a:r>
          </a:p>
        </p:txBody>
      </p:sp>
      <p:sp>
        <p:nvSpPr>
          <p:cNvPr id="32" name="p-topic-label-6">
            <a:extLst>
              <a:ext uri="{FF2B5EF4-FFF2-40B4-BE49-F238E27FC236}">
                <a16:creationId xmlns:a16="http://schemas.microsoft.com/office/drawing/2014/main" id="{980F44A7-16A4-4EC2-8EE5-8D18FBB6D99A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6">
            <a:extLst>
              <a:ext uri="{FF2B5EF4-FFF2-40B4-BE49-F238E27FC236}">
                <a16:creationId xmlns:a16="http://schemas.microsoft.com/office/drawing/2014/main" id="{248198A8-02FB-4F88-865B-42BBAE03BF5A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HORIZON-CL5-2023-D4-02-02</a:t>
            </a:r>
          </a:p>
        </p:txBody>
      </p:sp>
      <p:sp>
        <p:nvSpPr>
          <p:cNvPr id="34" name="p-topic-title-6">
            <a:extLst>
              <a:ext uri="{FF2B5EF4-FFF2-40B4-BE49-F238E27FC236}">
                <a16:creationId xmlns:a16="http://schemas.microsoft.com/office/drawing/2014/main" id="{5AE3D6FB-1EFB-4450-8BE0-D39C2E3CA1EC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Solutions for the identification of vulnerable buildings and people-centric built environment, and for improving their resilience in disruptive events and altered conditions in a changing climate (Built4People Partnership)</a:t>
            </a:r>
          </a:p>
        </p:txBody>
      </p:sp>
      <p:sp>
        <p:nvSpPr>
          <p:cNvPr id="35" name="p-coord-label-6">
            <a:extLst>
              <a:ext uri="{FF2B5EF4-FFF2-40B4-BE49-F238E27FC236}">
                <a16:creationId xmlns:a16="http://schemas.microsoft.com/office/drawing/2014/main" id="{111877D0-B715-4066-ACDD-818FAFD529E4}"/>
              </a:ext>
            </a:extLst>
          </p:cNvPr>
          <p:cNvSpPr>
            <a:spLocks noGrp="1"/>
          </p:cNvSpPr>
          <p:nvPr/>
        </p:nvSpPr>
        <p:spPr>
          <a:xfrm>
            <a:off x="637262" y="5759233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 dirty="0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6">
            <a:extLst>
              <a:ext uri="{FF2B5EF4-FFF2-40B4-BE49-F238E27FC236}">
                <a16:creationId xmlns:a16="http://schemas.microsoft.com/office/drawing/2014/main" id="{82F52EC9-A8DC-4DBF-9264-549C04E61EFB}"/>
              </a:ext>
            </a:extLst>
          </p:cNvPr>
          <p:cNvSpPr>
            <a:spLocks noGrp="1"/>
          </p:cNvSpPr>
          <p:nvPr/>
        </p:nvSpPr>
        <p:spPr>
          <a:xfrm>
            <a:off x="1495425" y="5763996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 dirty="0">
                <a:solidFill>
                  <a:srgbClr val="24313D"/>
                </a:solidFill>
              </a:rPr>
              <a:t>IES R&amp;D (Ireland)</a:t>
            </a:r>
          </a:p>
        </p:txBody>
      </p:sp>
      <p:sp>
        <p:nvSpPr>
          <p:cNvPr id="37" name="ie-panel-6">
            <a:extLst>
              <a:ext uri="{FF2B5EF4-FFF2-40B4-BE49-F238E27FC236}">
                <a16:creationId xmlns:a16="http://schemas.microsoft.com/office/drawing/2014/main" id="{3ECF4A7A-9446-4686-930C-BDDD73FFB46B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6">
            <a:extLst>
              <a:ext uri="{FF2B5EF4-FFF2-40B4-BE49-F238E27FC236}">
                <a16:creationId xmlns:a16="http://schemas.microsoft.com/office/drawing/2014/main" id="{D52B8F50-D9FB-437B-BBF8-8C29F209268F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6">
            <a:extLst>
              <a:ext uri="{FF2B5EF4-FFF2-40B4-BE49-F238E27FC236}">
                <a16:creationId xmlns:a16="http://schemas.microsoft.com/office/drawing/2014/main" id="{C467F153-2247-4366-B36E-06D2BD06E828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6">
            <a:extLst>
              <a:ext uri="{FF2B5EF4-FFF2-40B4-BE49-F238E27FC236}">
                <a16:creationId xmlns:a16="http://schemas.microsoft.com/office/drawing/2014/main" id="{E52F4580-A084-44D9-9B09-48FAADDB9BBF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6">
            <a:extLst>
              <a:ext uri="{FF2B5EF4-FFF2-40B4-BE49-F238E27FC236}">
                <a16:creationId xmlns:a16="http://schemas.microsoft.com/office/drawing/2014/main" id="{B4736CB5-ABB9-48F1-B5E2-47CAE02007B7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3 organisations | EUR 1.2m</a:t>
            </a:r>
          </a:p>
        </p:txBody>
      </p:sp>
      <p:sp>
        <p:nvSpPr>
          <p:cNvPr id="42" name="ie-rule-6">
            <a:extLst>
              <a:ext uri="{FF2B5EF4-FFF2-40B4-BE49-F238E27FC236}">
                <a16:creationId xmlns:a16="http://schemas.microsoft.com/office/drawing/2014/main" id="{3AB36FA9-5EF9-4A22-97B4-D7A52A527C3C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6-0">
            <a:extLst>
              <a:ext uri="{FF2B5EF4-FFF2-40B4-BE49-F238E27FC236}">
                <a16:creationId xmlns:a16="http://schemas.microsoft.com/office/drawing/2014/main" id="{8ACBD7D8-6CA0-4727-8B78-1D6E4BDBF111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IES R&amp;D</a:t>
            </a:r>
          </a:p>
        </p:txBody>
      </p:sp>
      <p:sp>
        <p:nvSpPr>
          <p:cNvPr id="44" name="ie-org-role-6-0">
            <a:extLst>
              <a:ext uri="{FF2B5EF4-FFF2-40B4-BE49-F238E27FC236}">
                <a16:creationId xmlns:a16="http://schemas.microsoft.com/office/drawing/2014/main" id="{4615FC03-FED8-40A1-9882-FB9782AC07E6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Company | Coordinator</a:t>
            </a:r>
          </a:p>
        </p:txBody>
      </p:sp>
      <p:sp>
        <p:nvSpPr>
          <p:cNvPr id="45" name="ie-org-ec-6-0">
            <a:extLst>
              <a:ext uri="{FF2B5EF4-FFF2-40B4-BE49-F238E27FC236}">
                <a16:creationId xmlns:a16="http://schemas.microsoft.com/office/drawing/2014/main" id="{C39F6363-C3FA-4549-8F64-4B7279336A7A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675k</a:t>
            </a:r>
          </a:p>
        </p:txBody>
      </p:sp>
      <p:sp>
        <p:nvSpPr>
          <p:cNvPr id="46" name="ie-org-name-6-1">
            <a:extLst>
              <a:ext uri="{FF2B5EF4-FFF2-40B4-BE49-F238E27FC236}">
                <a16:creationId xmlns:a16="http://schemas.microsoft.com/office/drawing/2014/main" id="{DE0D4488-EC12-4E09-93FB-9963CFB36FF7}"/>
              </a:ext>
            </a:extLst>
          </p:cNvPr>
          <p:cNvSpPr>
            <a:spLocks noGrp="1"/>
          </p:cNvSpPr>
          <p:nvPr/>
        </p:nvSpPr>
        <p:spPr>
          <a:xfrm>
            <a:off x="6896100" y="31813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Trinity College Dublin</a:t>
            </a:r>
          </a:p>
        </p:txBody>
      </p:sp>
      <p:sp>
        <p:nvSpPr>
          <p:cNvPr id="47" name="ie-org-role-6-1">
            <a:extLst>
              <a:ext uri="{FF2B5EF4-FFF2-40B4-BE49-F238E27FC236}">
                <a16:creationId xmlns:a16="http://schemas.microsoft.com/office/drawing/2014/main" id="{F59D281C-FFD9-415B-B252-02427F1668EF}"/>
              </a:ext>
            </a:extLst>
          </p:cNvPr>
          <p:cNvSpPr>
            <a:spLocks noGrp="1"/>
          </p:cNvSpPr>
          <p:nvPr/>
        </p:nvSpPr>
        <p:spPr>
          <a:xfrm>
            <a:off x="6896100" y="33528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48" name="ie-org-ec-6-1">
            <a:extLst>
              <a:ext uri="{FF2B5EF4-FFF2-40B4-BE49-F238E27FC236}">
                <a16:creationId xmlns:a16="http://schemas.microsoft.com/office/drawing/2014/main" id="{842323D6-0487-4652-9ABC-3D6CCC40720A}"/>
              </a:ext>
            </a:extLst>
          </p:cNvPr>
          <p:cNvSpPr>
            <a:spLocks noGrp="1"/>
          </p:cNvSpPr>
          <p:nvPr/>
        </p:nvSpPr>
        <p:spPr>
          <a:xfrm>
            <a:off x="10306050" y="32004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251k</a:t>
            </a:r>
          </a:p>
        </p:txBody>
      </p:sp>
      <p:sp>
        <p:nvSpPr>
          <p:cNvPr id="49" name="ie-org-name-6-2">
            <a:extLst>
              <a:ext uri="{FF2B5EF4-FFF2-40B4-BE49-F238E27FC236}">
                <a16:creationId xmlns:a16="http://schemas.microsoft.com/office/drawing/2014/main" id="{C9617F98-B0C4-4A4B-8AF0-C7055FCE26D7}"/>
              </a:ext>
            </a:extLst>
          </p:cNvPr>
          <p:cNvSpPr>
            <a:spLocks noGrp="1"/>
          </p:cNvSpPr>
          <p:nvPr/>
        </p:nvSpPr>
        <p:spPr>
          <a:xfrm>
            <a:off x="6896100" y="35052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Dublin City Development Board</a:t>
            </a:r>
          </a:p>
        </p:txBody>
      </p:sp>
      <p:sp>
        <p:nvSpPr>
          <p:cNvPr id="50" name="ie-org-role-6-2">
            <a:extLst>
              <a:ext uri="{FF2B5EF4-FFF2-40B4-BE49-F238E27FC236}">
                <a16:creationId xmlns:a16="http://schemas.microsoft.com/office/drawing/2014/main" id="{B31C1D3A-7FA7-46F6-B30D-22B434A4A32E}"/>
              </a:ext>
            </a:extLst>
          </p:cNvPr>
          <p:cNvSpPr>
            <a:spLocks noGrp="1"/>
          </p:cNvSpPr>
          <p:nvPr/>
        </p:nvSpPr>
        <p:spPr>
          <a:xfrm>
            <a:off x="6896100" y="36766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Public Body | Beneficiary / Participant</a:t>
            </a:r>
          </a:p>
        </p:txBody>
      </p:sp>
      <p:sp>
        <p:nvSpPr>
          <p:cNvPr id="51" name="ie-org-ec-6-2">
            <a:extLst>
              <a:ext uri="{FF2B5EF4-FFF2-40B4-BE49-F238E27FC236}">
                <a16:creationId xmlns:a16="http://schemas.microsoft.com/office/drawing/2014/main" id="{AE43708C-AFDE-458A-A5AB-9DAEFE28199B}"/>
              </a:ext>
            </a:extLst>
          </p:cNvPr>
          <p:cNvSpPr>
            <a:spLocks noGrp="1"/>
          </p:cNvSpPr>
          <p:nvPr/>
        </p:nvSpPr>
        <p:spPr>
          <a:xfrm>
            <a:off x="10306050" y="35242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225k</a:t>
            </a:r>
          </a:p>
        </p:txBody>
      </p:sp>
      <p:sp>
        <p:nvSpPr>
          <p:cNvPr id="52" name="nz-panel-6">
            <a:extLst>
              <a:ext uri="{FF2B5EF4-FFF2-40B4-BE49-F238E27FC236}">
                <a16:creationId xmlns:a16="http://schemas.microsoft.com/office/drawing/2014/main" id="{5714DC1E-2CFE-43A8-B940-53D789AB0A2B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nz-badge-6">
            <a:extLst>
              <a:ext uri="{FF2B5EF4-FFF2-40B4-BE49-F238E27FC236}">
                <a16:creationId xmlns:a16="http://schemas.microsoft.com/office/drawing/2014/main" id="{D29F1761-DB06-48AF-8BA2-FB15F15FA3A8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nz-code-6">
            <a:extLst>
              <a:ext uri="{FF2B5EF4-FFF2-40B4-BE49-F238E27FC236}">
                <a16:creationId xmlns:a16="http://schemas.microsoft.com/office/drawing/2014/main" id="{BB3EABFA-6406-461D-87D8-CE3670034882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55" name="nz-title-6">
            <a:extLst>
              <a:ext uri="{FF2B5EF4-FFF2-40B4-BE49-F238E27FC236}">
                <a16:creationId xmlns:a16="http://schemas.microsoft.com/office/drawing/2014/main" id="{1EAF7985-F3F4-4888-8519-1A4D52433B94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6" name="nz-total-6">
            <a:extLst>
              <a:ext uri="{FF2B5EF4-FFF2-40B4-BE49-F238E27FC236}">
                <a16:creationId xmlns:a16="http://schemas.microsoft.com/office/drawing/2014/main" id="{1E5108D1-BE9B-4681-BCAF-A3A7254CF803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4 organisations | EUR 1.0m</a:t>
            </a:r>
          </a:p>
        </p:txBody>
      </p:sp>
      <p:sp>
        <p:nvSpPr>
          <p:cNvPr id="57" name="nz-rule-6">
            <a:extLst>
              <a:ext uri="{FF2B5EF4-FFF2-40B4-BE49-F238E27FC236}">
                <a16:creationId xmlns:a16="http://schemas.microsoft.com/office/drawing/2014/main" id="{7B114DC6-88BD-455E-8C42-A01A10606E45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nz-org-name-6-0">
            <a:extLst>
              <a:ext uri="{FF2B5EF4-FFF2-40B4-BE49-F238E27FC236}">
                <a16:creationId xmlns:a16="http://schemas.microsoft.com/office/drawing/2014/main" id="{8C83E985-D52D-4BB7-B9BA-65DB0E2F725D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Urban Intelligence</a:t>
            </a:r>
          </a:p>
        </p:txBody>
      </p:sp>
      <p:sp>
        <p:nvSpPr>
          <p:cNvPr id="59" name="nz-org-role-6-0">
            <a:extLst>
              <a:ext uri="{FF2B5EF4-FFF2-40B4-BE49-F238E27FC236}">
                <a16:creationId xmlns:a16="http://schemas.microsoft.com/office/drawing/2014/main" id="{6DC30E74-406B-4A7B-A958-C09B2BFECC48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Company | Beneficiary / Participant</a:t>
            </a:r>
          </a:p>
        </p:txBody>
      </p:sp>
      <p:sp>
        <p:nvSpPr>
          <p:cNvPr id="60" name="nz-org-ec-6-0">
            <a:extLst>
              <a:ext uri="{FF2B5EF4-FFF2-40B4-BE49-F238E27FC236}">
                <a16:creationId xmlns:a16="http://schemas.microsoft.com/office/drawing/2014/main" id="{ABA8C3ED-EEA7-4443-ACBD-11A3F45FB229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305k</a:t>
            </a:r>
          </a:p>
        </p:txBody>
      </p:sp>
      <p:sp>
        <p:nvSpPr>
          <p:cNvPr id="61" name="nz-org-name-6-1">
            <a:extLst>
              <a:ext uri="{FF2B5EF4-FFF2-40B4-BE49-F238E27FC236}">
                <a16:creationId xmlns:a16="http://schemas.microsoft.com/office/drawing/2014/main" id="{1DF13101-A7F4-4762-970C-1B9FAAAAE87D}"/>
              </a:ext>
            </a:extLst>
          </p:cNvPr>
          <p:cNvSpPr>
            <a:spLocks noGrp="1"/>
          </p:cNvSpPr>
          <p:nvPr/>
        </p:nvSpPr>
        <p:spPr>
          <a:xfrm>
            <a:off x="6896100" y="524827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University of Canterbury</a:t>
            </a:r>
          </a:p>
        </p:txBody>
      </p:sp>
      <p:sp>
        <p:nvSpPr>
          <p:cNvPr id="62" name="nz-org-role-6-1">
            <a:extLst>
              <a:ext uri="{FF2B5EF4-FFF2-40B4-BE49-F238E27FC236}">
                <a16:creationId xmlns:a16="http://schemas.microsoft.com/office/drawing/2014/main" id="{F2895040-F053-4322-8473-CE7FCEA3E138}"/>
              </a:ext>
            </a:extLst>
          </p:cNvPr>
          <p:cNvSpPr>
            <a:spLocks noGrp="1"/>
          </p:cNvSpPr>
          <p:nvPr/>
        </p:nvSpPr>
        <p:spPr>
          <a:xfrm>
            <a:off x="6896100" y="541972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63" name="nz-org-ec-6-1">
            <a:extLst>
              <a:ext uri="{FF2B5EF4-FFF2-40B4-BE49-F238E27FC236}">
                <a16:creationId xmlns:a16="http://schemas.microsoft.com/office/drawing/2014/main" id="{8630CA12-6A39-4090-94CE-D1570C9A2F1C}"/>
              </a:ext>
            </a:extLst>
          </p:cNvPr>
          <p:cNvSpPr>
            <a:spLocks noGrp="1"/>
          </p:cNvSpPr>
          <p:nvPr/>
        </p:nvSpPr>
        <p:spPr>
          <a:xfrm>
            <a:off x="10306050" y="526732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198k</a:t>
            </a:r>
          </a:p>
        </p:txBody>
      </p:sp>
      <p:sp>
        <p:nvSpPr>
          <p:cNvPr id="64" name="nz-org-name-6-2">
            <a:extLst>
              <a:ext uri="{FF2B5EF4-FFF2-40B4-BE49-F238E27FC236}">
                <a16:creationId xmlns:a16="http://schemas.microsoft.com/office/drawing/2014/main" id="{F4BFABAD-9BC8-44DB-B6F9-DC11CDBC962E}"/>
              </a:ext>
            </a:extLst>
          </p:cNvPr>
          <p:cNvSpPr>
            <a:spLocks noGrp="1"/>
          </p:cNvSpPr>
          <p:nvPr/>
        </p:nvSpPr>
        <p:spPr>
          <a:xfrm>
            <a:off x="6896100" y="5524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University of Auckland</a:t>
            </a:r>
          </a:p>
        </p:txBody>
      </p:sp>
      <p:sp>
        <p:nvSpPr>
          <p:cNvPr id="65" name="nz-org-role-6-2">
            <a:extLst>
              <a:ext uri="{FF2B5EF4-FFF2-40B4-BE49-F238E27FC236}">
                <a16:creationId xmlns:a16="http://schemas.microsoft.com/office/drawing/2014/main" id="{BDFF1DE6-F82E-48C6-AA09-FC2C4BEAC8C4}"/>
              </a:ext>
            </a:extLst>
          </p:cNvPr>
          <p:cNvSpPr>
            <a:spLocks noGrp="1"/>
          </p:cNvSpPr>
          <p:nvPr/>
        </p:nvSpPr>
        <p:spPr>
          <a:xfrm>
            <a:off x="6896100" y="5695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66" name="nz-org-ec-6-2">
            <a:extLst>
              <a:ext uri="{FF2B5EF4-FFF2-40B4-BE49-F238E27FC236}">
                <a16:creationId xmlns:a16="http://schemas.microsoft.com/office/drawing/2014/main" id="{45306686-0F40-4F80-8175-1448AE4E4E1B}"/>
              </a:ext>
            </a:extLst>
          </p:cNvPr>
          <p:cNvSpPr>
            <a:spLocks noGrp="1"/>
          </p:cNvSpPr>
          <p:nvPr/>
        </p:nvSpPr>
        <p:spPr>
          <a:xfrm>
            <a:off x="10306050" y="5543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286k</a:t>
            </a:r>
          </a:p>
        </p:txBody>
      </p:sp>
      <p:sp>
        <p:nvSpPr>
          <p:cNvPr id="67" name="nz-org-name-6-3">
            <a:extLst>
              <a:ext uri="{FF2B5EF4-FFF2-40B4-BE49-F238E27FC236}">
                <a16:creationId xmlns:a16="http://schemas.microsoft.com/office/drawing/2014/main" id="{74B0AF21-90B4-4486-A970-202084B0A641}"/>
              </a:ext>
            </a:extLst>
          </p:cNvPr>
          <p:cNvSpPr>
            <a:spLocks noGrp="1"/>
          </p:cNvSpPr>
          <p:nvPr/>
        </p:nvSpPr>
        <p:spPr>
          <a:xfrm>
            <a:off x="6896100" y="580072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Wellington City Council</a:t>
            </a:r>
          </a:p>
        </p:txBody>
      </p:sp>
      <p:sp>
        <p:nvSpPr>
          <p:cNvPr id="68" name="nz-org-role-6-3">
            <a:extLst>
              <a:ext uri="{FF2B5EF4-FFF2-40B4-BE49-F238E27FC236}">
                <a16:creationId xmlns:a16="http://schemas.microsoft.com/office/drawing/2014/main" id="{B4F9AEB8-8B6A-4EAE-8A67-7DC1ACA4EE14}"/>
              </a:ext>
            </a:extLst>
          </p:cNvPr>
          <p:cNvSpPr>
            <a:spLocks noGrp="1"/>
          </p:cNvSpPr>
          <p:nvPr/>
        </p:nvSpPr>
        <p:spPr>
          <a:xfrm>
            <a:off x="6896100" y="597217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Other | Beneficiary / Participant</a:t>
            </a:r>
          </a:p>
        </p:txBody>
      </p:sp>
      <p:sp>
        <p:nvSpPr>
          <p:cNvPr id="69" name="nz-org-ec-6-3">
            <a:extLst>
              <a:ext uri="{FF2B5EF4-FFF2-40B4-BE49-F238E27FC236}">
                <a16:creationId xmlns:a16="http://schemas.microsoft.com/office/drawing/2014/main" id="{05B7AE8D-2978-45F0-9BE7-5188D7CA1BE5}"/>
              </a:ext>
            </a:extLst>
          </p:cNvPr>
          <p:cNvSpPr>
            <a:spLocks noGrp="1"/>
          </p:cNvSpPr>
          <p:nvPr/>
        </p:nvSpPr>
        <p:spPr>
          <a:xfrm>
            <a:off x="10306050" y="581977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218k</a:t>
            </a:r>
          </a:p>
        </p:txBody>
      </p:sp>
      <p:sp>
        <p:nvSpPr>
          <p:cNvPr id="70" name="footer-line-9">
            <a:extLst>
              <a:ext uri="{FF2B5EF4-FFF2-40B4-BE49-F238E27FC236}">
                <a16:creationId xmlns:a16="http://schemas.microsoft.com/office/drawing/2014/main" id="{6C47E55E-1B75-4397-BA81-8966304386D2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1" name="footer-source-9">
            <a:extLst>
              <a:ext uri="{FF2B5EF4-FFF2-40B4-BE49-F238E27FC236}">
                <a16:creationId xmlns:a16="http://schemas.microsoft.com/office/drawing/2014/main" id="{D338130B-BC99-4C97-9A0E-42ED2D002BAE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101147385; database snapshot 21 Aug 2026.</a:t>
            </a:r>
          </a:p>
        </p:txBody>
      </p:sp>
      <p:sp>
        <p:nvSpPr>
          <p:cNvPr id="72" name="footer-page-9">
            <a:extLst>
              <a:ext uri="{FF2B5EF4-FFF2-40B4-BE49-F238E27FC236}">
                <a16:creationId xmlns:a16="http://schemas.microsoft.com/office/drawing/2014/main" id="{FB88C340-93EA-4FFB-94FB-BDDBE73BF961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9 / 14</a:t>
            </a:r>
          </a:p>
        </p:txBody>
      </p:sp>
    </p:spTree>
    <p:extLst>
      <p:ext uri="{BB962C8B-B14F-4D97-AF65-F5344CB8AC3E}">
        <p14:creationId xmlns:p14="http://schemas.microsoft.com/office/powerpoint/2010/main" val="128187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-header-7">
            <a:extLst>
              <a:ext uri="{FF2B5EF4-FFF2-40B4-BE49-F238E27FC236}">
                <a16:creationId xmlns:a16="http://schemas.microsoft.com/office/drawing/2014/main" id="{E22858D7-B165-44B5-9A8D-F9FA34352A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7">
            <a:extLst>
              <a:ext uri="{FF2B5EF4-FFF2-40B4-BE49-F238E27FC236}">
                <a16:creationId xmlns:a16="http://schemas.microsoft.com/office/drawing/2014/main" id="{F4BA3D78-A348-4A2A-9104-76144246B8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F2C14E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7">
            <a:extLst>
              <a:ext uri="{FF2B5EF4-FFF2-40B4-BE49-F238E27FC236}">
                <a16:creationId xmlns:a16="http://schemas.microsoft.com/office/drawing/2014/main" id="{F90A54A7-8B54-4D0B-977A-1947EAB88588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2C14E"/>
                </a:solidFill>
              </a:defRPr>
            </a:pPr>
            <a:r>
              <a:rPr sz="1050" b="1">
                <a:solidFill>
                  <a:srgbClr val="F2C14E"/>
                </a:solidFill>
              </a:rPr>
              <a:t>CLUSTER 5 - CLIMATE, ENERGY &amp; MOBILITY</a:t>
            </a:r>
          </a:p>
        </p:txBody>
      </p:sp>
      <p:sp>
        <p:nvSpPr>
          <p:cNvPr id="4" name="p-acronym-7">
            <a:extLst>
              <a:ext uri="{FF2B5EF4-FFF2-40B4-BE49-F238E27FC236}">
                <a16:creationId xmlns:a16="http://schemas.microsoft.com/office/drawing/2014/main" id="{FA99C4A6-B7CF-44A3-9CC0-0BBF25EC296C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SOLAR-MOVE</a:t>
            </a:r>
          </a:p>
        </p:txBody>
      </p:sp>
      <p:sp>
        <p:nvSpPr>
          <p:cNvPr id="5" name="p-title-7">
            <a:extLst>
              <a:ext uri="{FF2B5EF4-FFF2-40B4-BE49-F238E27FC236}">
                <a16:creationId xmlns:a16="http://schemas.microsoft.com/office/drawing/2014/main" id="{E0267998-8549-4F0A-B81D-27B1941B8CD7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Solar photovoltaics for electric mobility and systems integration</a:t>
            </a:r>
          </a:p>
        </p:txBody>
      </p:sp>
      <p:sp>
        <p:nvSpPr>
          <p:cNvPr id="6" name="p-number-7">
            <a:extLst>
              <a:ext uri="{FF2B5EF4-FFF2-40B4-BE49-F238E27FC236}">
                <a16:creationId xmlns:a16="http://schemas.microsoft.com/office/drawing/2014/main" id="{E7A404C1-5BCB-4019-AA70-CD6A6BD98765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8 / 12</a:t>
            </a:r>
          </a:p>
        </p:txBody>
      </p:sp>
      <p:sp>
        <p:nvSpPr>
          <p:cNvPr id="7" name="p-id-7">
            <a:extLst>
              <a:ext uri="{FF2B5EF4-FFF2-40B4-BE49-F238E27FC236}">
                <a16:creationId xmlns:a16="http://schemas.microsoft.com/office/drawing/2014/main" id="{7B21C6A8-6D84-4B9F-9783-AFF33665A235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101235635</a:t>
            </a:r>
          </a:p>
        </p:txBody>
      </p:sp>
      <p:sp>
        <p:nvSpPr>
          <p:cNvPr id="8" name="p7-k1-card">
            <a:extLst>
              <a:ext uri="{FF2B5EF4-FFF2-40B4-BE49-F238E27FC236}">
                <a16:creationId xmlns:a16="http://schemas.microsoft.com/office/drawing/2014/main" id="{93712C61-0EB0-483C-8275-7D3E8641537C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7-k1-accent">
            <a:extLst>
              <a:ext uri="{FF2B5EF4-FFF2-40B4-BE49-F238E27FC236}">
                <a16:creationId xmlns:a16="http://schemas.microsoft.com/office/drawing/2014/main" id="{D06D660B-3CB5-43DB-B847-B16C2DF4B4A2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7-k1-value">
            <a:extLst>
              <a:ext uri="{FF2B5EF4-FFF2-40B4-BE49-F238E27FC236}">
                <a16:creationId xmlns:a16="http://schemas.microsoft.com/office/drawing/2014/main" id="{316A6C03-4CF8-41A6-81B6-AA696A9ECB04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7.0m</a:t>
            </a:r>
          </a:p>
        </p:txBody>
      </p:sp>
      <p:sp>
        <p:nvSpPr>
          <p:cNvPr id="11" name="p7-k1-label">
            <a:extLst>
              <a:ext uri="{FF2B5EF4-FFF2-40B4-BE49-F238E27FC236}">
                <a16:creationId xmlns:a16="http://schemas.microsoft.com/office/drawing/2014/main" id="{CBED386D-E7A1-4E2C-9FAD-4EFB2C84C029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7-k2-card">
            <a:extLst>
              <a:ext uri="{FF2B5EF4-FFF2-40B4-BE49-F238E27FC236}">
                <a16:creationId xmlns:a16="http://schemas.microsoft.com/office/drawing/2014/main" id="{99A6FA96-FC80-439F-B6B1-824F8A4C0663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7-k2-accent">
            <a:extLst>
              <a:ext uri="{FF2B5EF4-FFF2-40B4-BE49-F238E27FC236}">
                <a16:creationId xmlns:a16="http://schemas.microsoft.com/office/drawing/2014/main" id="{9AE175A0-0A7C-467A-8581-0858F5081599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7-k2-value">
            <a:extLst>
              <a:ext uri="{FF2B5EF4-FFF2-40B4-BE49-F238E27FC236}">
                <a16:creationId xmlns:a16="http://schemas.microsoft.com/office/drawing/2014/main" id="{F369972F-7F2D-4D6F-9603-523430BBD4E0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IA</a:t>
            </a:r>
          </a:p>
        </p:txBody>
      </p:sp>
      <p:sp>
        <p:nvSpPr>
          <p:cNvPr id="15" name="p7-k2-label">
            <a:extLst>
              <a:ext uri="{FF2B5EF4-FFF2-40B4-BE49-F238E27FC236}">
                <a16:creationId xmlns:a16="http://schemas.microsoft.com/office/drawing/2014/main" id="{ADE03B5E-9477-4567-B5D8-6C7901473B6F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7-k3-card">
            <a:extLst>
              <a:ext uri="{FF2B5EF4-FFF2-40B4-BE49-F238E27FC236}">
                <a16:creationId xmlns:a16="http://schemas.microsoft.com/office/drawing/2014/main" id="{580DC51E-46A4-4D4D-8EC5-F431B99638E5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7-k3-accent">
            <a:extLst>
              <a:ext uri="{FF2B5EF4-FFF2-40B4-BE49-F238E27FC236}">
                <a16:creationId xmlns:a16="http://schemas.microsoft.com/office/drawing/2014/main" id="{A248778C-3DBE-4F3C-A7F0-45599849E6B4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7-k3-value">
            <a:extLst>
              <a:ext uri="{FF2B5EF4-FFF2-40B4-BE49-F238E27FC236}">
                <a16:creationId xmlns:a16="http://schemas.microsoft.com/office/drawing/2014/main" id="{DCE6EE37-B496-461B-B409-F39005633023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Nov 2025 - Apr 2029</a:t>
            </a:r>
          </a:p>
        </p:txBody>
      </p:sp>
      <p:sp>
        <p:nvSpPr>
          <p:cNvPr id="19" name="p7-k3-label">
            <a:extLst>
              <a:ext uri="{FF2B5EF4-FFF2-40B4-BE49-F238E27FC236}">
                <a16:creationId xmlns:a16="http://schemas.microsoft.com/office/drawing/2014/main" id="{62E92D5B-B494-4444-B7F6-6D78366DE316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42 MONTHS</a:t>
            </a:r>
          </a:p>
        </p:txBody>
      </p:sp>
      <p:sp>
        <p:nvSpPr>
          <p:cNvPr id="20" name="p7-k4-card">
            <a:extLst>
              <a:ext uri="{FF2B5EF4-FFF2-40B4-BE49-F238E27FC236}">
                <a16:creationId xmlns:a16="http://schemas.microsoft.com/office/drawing/2014/main" id="{3211F44F-9865-4182-BBAD-82729D6555CB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7-k4-accent">
            <a:extLst>
              <a:ext uri="{FF2B5EF4-FFF2-40B4-BE49-F238E27FC236}">
                <a16:creationId xmlns:a16="http://schemas.microsoft.com/office/drawing/2014/main" id="{798B97E2-9FBA-4CCF-AA1C-8DC954C961EF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7-k4-value">
            <a:extLst>
              <a:ext uri="{FF2B5EF4-FFF2-40B4-BE49-F238E27FC236}">
                <a16:creationId xmlns:a16="http://schemas.microsoft.com/office/drawing/2014/main" id="{AB340E5E-2130-4AAF-A3FD-A9A3DD4E72C0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35 orgs / 16 countries</a:t>
            </a:r>
          </a:p>
        </p:txBody>
      </p:sp>
      <p:sp>
        <p:nvSpPr>
          <p:cNvPr id="23" name="p7-k4-label">
            <a:extLst>
              <a:ext uri="{FF2B5EF4-FFF2-40B4-BE49-F238E27FC236}">
                <a16:creationId xmlns:a16="http://schemas.microsoft.com/office/drawing/2014/main" id="{5C771D4F-F563-40D3-983F-69D1FF700979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7">
            <a:extLst>
              <a:ext uri="{FF2B5EF4-FFF2-40B4-BE49-F238E27FC236}">
                <a16:creationId xmlns:a16="http://schemas.microsoft.com/office/drawing/2014/main" id="{035BDDE4-2DE9-4C14-9AA5-7F7D11C7E041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7">
            <a:extLst>
              <a:ext uri="{FF2B5EF4-FFF2-40B4-BE49-F238E27FC236}">
                <a16:creationId xmlns:a16="http://schemas.microsoft.com/office/drawing/2014/main" id="{8576EC06-0F3B-47C0-AA91-9EB7D5844D08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7">
            <a:extLst>
              <a:ext uri="{FF2B5EF4-FFF2-40B4-BE49-F238E27FC236}">
                <a16:creationId xmlns:a16="http://schemas.microsoft.com/office/drawing/2014/main" id="{F79C7AA6-5057-4C93-8D02-7FBA7F6A2E0E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Develops vehicle-integrated photovoltaic solutions that extend electric-vehicle range, reduce grid dependence and improve the business case across urban and transport settings.</a:t>
            </a:r>
          </a:p>
        </p:txBody>
      </p:sp>
      <p:sp>
        <p:nvSpPr>
          <p:cNvPr id="27" name="p-lens-7">
            <a:extLst>
              <a:ext uri="{FF2B5EF4-FFF2-40B4-BE49-F238E27FC236}">
                <a16:creationId xmlns:a16="http://schemas.microsoft.com/office/drawing/2014/main" id="{3682D994-393A-415B-BA56-BB0D4A0B7D8C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7">
            <a:extLst>
              <a:ext uri="{FF2B5EF4-FFF2-40B4-BE49-F238E27FC236}">
                <a16:creationId xmlns:a16="http://schemas.microsoft.com/office/drawing/2014/main" id="{19FF4777-A2ED-4B7D-B403-C9814D60321E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7">
            <a:extLst>
              <a:ext uri="{FF2B5EF4-FFF2-40B4-BE49-F238E27FC236}">
                <a16:creationId xmlns:a16="http://schemas.microsoft.com/office/drawing/2014/main" id="{38F35BA7-3307-4069-82CC-8FC2E81DF00B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2 bilateral participants | EUR 409k recorded EC contribution</a:t>
            </a:r>
          </a:p>
        </p:txBody>
      </p:sp>
      <p:sp>
        <p:nvSpPr>
          <p:cNvPr id="30" name="p-call-label-7">
            <a:extLst>
              <a:ext uri="{FF2B5EF4-FFF2-40B4-BE49-F238E27FC236}">
                <a16:creationId xmlns:a16="http://schemas.microsoft.com/office/drawing/2014/main" id="{49F0B4B4-E772-43A7-BFC7-05F43FDE70E4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7">
            <a:extLst>
              <a:ext uri="{FF2B5EF4-FFF2-40B4-BE49-F238E27FC236}">
                <a16:creationId xmlns:a16="http://schemas.microsoft.com/office/drawing/2014/main" id="{97A5A889-0342-4130-A529-0382F9FE5FFF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HORIZON-CL5-2024-D3-02</a:t>
            </a:r>
          </a:p>
        </p:txBody>
      </p:sp>
      <p:sp>
        <p:nvSpPr>
          <p:cNvPr id="32" name="p-topic-label-7">
            <a:extLst>
              <a:ext uri="{FF2B5EF4-FFF2-40B4-BE49-F238E27FC236}">
                <a16:creationId xmlns:a16="http://schemas.microsoft.com/office/drawing/2014/main" id="{801CAD2D-8CA4-44BC-85BB-57A39A0C897C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7">
            <a:extLst>
              <a:ext uri="{FF2B5EF4-FFF2-40B4-BE49-F238E27FC236}">
                <a16:creationId xmlns:a16="http://schemas.microsoft.com/office/drawing/2014/main" id="{99F4C4DD-AB69-423B-9DD0-B47BC62143DB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HORIZON-CL5-2024-D3-02-05</a:t>
            </a:r>
          </a:p>
        </p:txBody>
      </p:sp>
      <p:sp>
        <p:nvSpPr>
          <p:cNvPr id="34" name="p-topic-title-7">
            <a:extLst>
              <a:ext uri="{FF2B5EF4-FFF2-40B4-BE49-F238E27FC236}">
                <a16:creationId xmlns:a16="http://schemas.microsoft.com/office/drawing/2014/main" id="{6415ADD6-7D2A-4344-A89E-273A4A52DEA9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PV-integrated electric mobility applications</a:t>
            </a:r>
          </a:p>
        </p:txBody>
      </p:sp>
      <p:sp>
        <p:nvSpPr>
          <p:cNvPr id="35" name="p-coord-label-7">
            <a:extLst>
              <a:ext uri="{FF2B5EF4-FFF2-40B4-BE49-F238E27FC236}">
                <a16:creationId xmlns:a16="http://schemas.microsoft.com/office/drawing/2014/main" id="{9530C205-EBEB-4553-82CA-9EC5C2D7F6AC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7">
            <a:extLst>
              <a:ext uri="{FF2B5EF4-FFF2-40B4-BE49-F238E27FC236}">
                <a16:creationId xmlns:a16="http://schemas.microsoft.com/office/drawing/2014/main" id="{78D06E82-1571-4744-BA0F-25E2AC377A5D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INESC ID INSTITUTO DE ENGENHARIADE SISTEMAS E COMPUTADORES INVESTIGACAO E DESENVOLVIMENTO EM LISBOA (Portugal)</a:t>
            </a:r>
          </a:p>
        </p:txBody>
      </p:sp>
      <p:sp>
        <p:nvSpPr>
          <p:cNvPr id="37" name="ie-panel-7">
            <a:extLst>
              <a:ext uri="{FF2B5EF4-FFF2-40B4-BE49-F238E27FC236}">
                <a16:creationId xmlns:a16="http://schemas.microsoft.com/office/drawing/2014/main" id="{2E2E49F7-B850-4818-8B53-CFCCA95A2C57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7">
            <a:extLst>
              <a:ext uri="{FF2B5EF4-FFF2-40B4-BE49-F238E27FC236}">
                <a16:creationId xmlns:a16="http://schemas.microsoft.com/office/drawing/2014/main" id="{C6748F35-5DCF-41AF-B192-268A51E17D2E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7">
            <a:extLst>
              <a:ext uri="{FF2B5EF4-FFF2-40B4-BE49-F238E27FC236}">
                <a16:creationId xmlns:a16="http://schemas.microsoft.com/office/drawing/2014/main" id="{FEAAA537-75F5-4E29-8F47-C6C03607FEB7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7">
            <a:extLst>
              <a:ext uri="{FF2B5EF4-FFF2-40B4-BE49-F238E27FC236}">
                <a16:creationId xmlns:a16="http://schemas.microsoft.com/office/drawing/2014/main" id="{4190A692-6328-4490-9249-520C8EB9D1B4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7">
            <a:extLst>
              <a:ext uri="{FF2B5EF4-FFF2-40B4-BE49-F238E27FC236}">
                <a16:creationId xmlns:a16="http://schemas.microsoft.com/office/drawing/2014/main" id="{974EE431-A70B-430D-B3B2-5488484E2F7C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263k</a:t>
            </a:r>
          </a:p>
        </p:txBody>
      </p:sp>
      <p:sp>
        <p:nvSpPr>
          <p:cNvPr id="42" name="ie-rule-7">
            <a:extLst>
              <a:ext uri="{FF2B5EF4-FFF2-40B4-BE49-F238E27FC236}">
                <a16:creationId xmlns:a16="http://schemas.microsoft.com/office/drawing/2014/main" id="{F42608F1-2956-4F2B-ADC9-89037567B715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7-0">
            <a:extLst>
              <a:ext uri="{FF2B5EF4-FFF2-40B4-BE49-F238E27FC236}">
                <a16:creationId xmlns:a16="http://schemas.microsoft.com/office/drawing/2014/main" id="{A019508F-5977-44CA-A4D1-657A2CF40655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F6S Tech</a:t>
            </a:r>
          </a:p>
        </p:txBody>
      </p:sp>
      <p:sp>
        <p:nvSpPr>
          <p:cNvPr id="44" name="ie-org-role-7-0">
            <a:extLst>
              <a:ext uri="{FF2B5EF4-FFF2-40B4-BE49-F238E27FC236}">
                <a16:creationId xmlns:a16="http://schemas.microsoft.com/office/drawing/2014/main" id="{6595E182-55C7-4595-9F6A-4FFA6A323C60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Other | Beneficiary / Participant</a:t>
            </a:r>
          </a:p>
        </p:txBody>
      </p:sp>
      <p:sp>
        <p:nvSpPr>
          <p:cNvPr id="45" name="ie-org-ec-7-0">
            <a:extLst>
              <a:ext uri="{FF2B5EF4-FFF2-40B4-BE49-F238E27FC236}">
                <a16:creationId xmlns:a16="http://schemas.microsoft.com/office/drawing/2014/main" id="{8EE49E01-A260-4CBD-8215-1919ED26DDE5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263k</a:t>
            </a:r>
          </a:p>
        </p:txBody>
      </p:sp>
      <p:sp>
        <p:nvSpPr>
          <p:cNvPr id="46" name="nz-panel-7">
            <a:extLst>
              <a:ext uri="{FF2B5EF4-FFF2-40B4-BE49-F238E27FC236}">
                <a16:creationId xmlns:a16="http://schemas.microsoft.com/office/drawing/2014/main" id="{2CCB8F73-E651-4DF5-9EAE-0DDA0663C215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nz-badge-7">
            <a:extLst>
              <a:ext uri="{FF2B5EF4-FFF2-40B4-BE49-F238E27FC236}">
                <a16:creationId xmlns:a16="http://schemas.microsoft.com/office/drawing/2014/main" id="{47702BB9-5A77-45E8-9DE6-5CBE5FF3DA80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nz-code-7">
            <a:extLst>
              <a:ext uri="{FF2B5EF4-FFF2-40B4-BE49-F238E27FC236}">
                <a16:creationId xmlns:a16="http://schemas.microsoft.com/office/drawing/2014/main" id="{6E71127C-1ABE-428A-BDB1-58C749A1E37D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49" name="nz-title-7">
            <a:extLst>
              <a:ext uri="{FF2B5EF4-FFF2-40B4-BE49-F238E27FC236}">
                <a16:creationId xmlns:a16="http://schemas.microsoft.com/office/drawing/2014/main" id="{BA6ECD43-30CD-4D6B-8FF5-48B1D9B384D5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0" name="nz-total-7">
            <a:extLst>
              <a:ext uri="{FF2B5EF4-FFF2-40B4-BE49-F238E27FC236}">
                <a16:creationId xmlns:a16="http://schemas.microsoft.com/office/drawing/2014/main" id="{FFDDDF1C-B388-4A11-912B-2B4D0CA15F61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146k</a:t>
            </a:r>
          </a:p>
        </p:txBody>
      </p:sp>
      <p:sp>
        <p:nvSpPr>
          <p:cNvPr id="51" name="nz-rule-7">
            <a:extLst>
              <a:ext uri="{FF2B5EF4-FFF2-40B4-BE49-F238E27FC236}">
                <a16:creationId xmlns:a16="http://schemas.microsoft.com/office/drawing/2014/main" id="{2486196D-A8BF-4975-83AD-F14E53EACB60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nz-org-name-7-0">
            <a:extLst>
              <a:ext uri="{FF2B5EF4-FFF2-40B4-BE49-F238E27FC236}">
                <a16:creationId xmlns:a16="http://schemas.microsoft.com/office/drawing/2014/main" id="{C9AC7B74-EEDE-4A7E-AEA9-92943641A715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University of Canterbury</a:t>
            </a:r>
          </a:p>
        </p:txBody>
      </p:sp>
      <p:sp>
        <p:nvSpPr>
          <p:cNvPr id="53" name="nz-org-role-7-0">
            <a:extLst>
              <a:ext uri="{FF2B5EF4-FFF2-40B4-BE49-F238E27FC236}">
                <a16:creationId xmlns:a16="http://schemas.microsoft.com/office/drawing/2014/main" id="{75945D9B-963B-455E-9A27-6D4408E4CCC1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54" name="nz-org-ec-7-0">
            <a:extLst>
              <a:ext uri="{FF2B5EF4-FFF2-40B4-BE49-F238E27FC236}">
                <a16:creationId xmlns:a16="http://schemas.microsoft.com/office/drawing/2014/main" id="{40AC7F77-FEE1-495C-BCC2-627E274F6BF4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146k</a:t>
            </a:r>
          </a:p>
        </p:txBody>
      </p:sp>
      <p:sp>
        <p:nvSpPr>
          <p:cNvPr id="55" name="footer-line-10">
            <a:extLst>
              <a:ext uri="{FF2B5EF4-FFF2-40B4-BE49-F238E27FC236}">
                <a16:creationId xmlns:a16="http://schemas.microsoft.com/office/drawing/2014/main" id="{9C6D8130-E8DC-4FFF-82B7-0949FA2683AF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footer-source-10">
            <a:extLst>
              <a:ext uri="{FF2B5EF4-FFF2-40B4-BE49-F238E27FC236}">
                <a16:creationId xmlns:a16="http://schemas.microsoft.com/office/drawing/2014/main" id="{1730F9CF-C08D-418F-A454-3A322D47E89E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101235635; database snapshot 21 Aug 2026.</a:t>
            </a:r>
          </a:p>
        </p:txBody>
      </p:sp>
      <p:sp>
        <p:nvSpPr>
          <p:cNvPr id="57" name="footer-page-10">
            <a:extLst>
              <a:ext uri="{FF2B5EF4-FFF2-40B4-BE49-F238E27FC236}">
                <a16:creationId xmlns:a16="http://schemas.microsoft.com/office/drawing/2014/main" id="{60BB2C82-108F-4C86-B689-6F8224EE564A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10 / 14</a:t>
            </a:r>
          </a:p>
        </p:txBody>
      </p:sp>
    </p:spTree>
    <p:extLst>
      <p:ext uri="{BB962C8B-B14F-4D97-AF65-F5344CB8AC3E}">
        <p14:creationId xmlns:p14="http://schemas.microsoft.com/office/powerpoint/2010/main" val="1209357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-header-8">
            <a:extLst>
              <a:ext uri="{FF2B5EF4-FFF2-40B4-BE49-F238E27FC236}">
                <a16:creationId xmlns:a16="http://schemas.microsoft.com/office/drawing/2014/main" id="{0A17655F-4490-4F46-B687-13B13EF7C2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8">
            <a:extLst>
              <a:ext uri="{FF2B5EF4-FFF2-40B4-BE49-F238E27FC236}">
                <a16:creationId xmlns:a16="http://schemas.microsoft.com/office/drawing/2014/main" id="{56BC0672-7FB5-4459-A6E5-2881DBC0B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8">
            <a:extLst>
              <a:ext uri="{FF2B5EF4-FFF2-40B4-BE49-F238E27FC236}">
                <a16:creationId xmlns:a16="http://schemas.microsoft.com/office/drawing/2014/main" id="{E18F949E-F4DD-4D61-8877-173A32E067D2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8A999"/>
                </a:solidFill>
              </a:defRPr>
            </a:pPr>
            <a:r>
              <a:rPr sz="1050" b="1">
                <a:solidFill>
                  <a:srgbClr val="18A999"/>
                </a:solidFill>
              </a:rPr>
              <a:t>CLUSTER 6 - FOOD, BIOECONOMY &amp; ENVIRONMENT</a:t>
            </a:r>
          </a:p>
        </p:txBody>
      </p:sp>
      <p:sp>
        <p:nvSpPr>
          <p:cNvPr id="4" name="p-acronym-8">
            <a:extLst>
              <a:ext uri="{FF2B5EF4-FFF2-40B4-BE49-F238E27FC236}">
                <a16:creationId xmlns:a16="http://schemas.microsoft.com/office/drawing/2014/main" id="{C19A9945-C5FF-4116-BEAD-8F864D55F7AE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CSR</a:t>
            </a:r>
          </a:p>
        </p:txBody>
      </p:sp>
      <p:sp>
        <p:nvSpPr>
          <p:cNvPr id="5" name="p-title-8">
            <a:extLst>
              <a:ext uri="{FF2B5EF4-FFF2-40B4-BE49-F238E27FC236}">
                <a16:creationId xmlns:a16="http://schemas.microsoft.com/office/drawing/2014/main" id="{CE706CE1-707F-4EAE-82C8-7A4E931C0A00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ClimateSmartResearch</a:t>
            </a:r>
          </a:p>
        </p:txBody>
      </p:sp>
      <p:sp>
        <p:nvSpPr>
          <p:cNvPr id="6" name="p-number-8">
            <a:extLst>
              <a:ext uri="{FF2B5EF4-FFF2-40B4-BE49-F238E27FC236}">
                <a16:creationId xmlns:a16="http://schemas.microsoft.com/office/drawing/2014/main" id="{1691A8A9-2446-4329-8254-129F4E80F837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9 / 12</a:t>
            </a:r>
          </a:p>
        </p:txBody>
      </p:sp>
      <p:sp>
        <p:nvSpPr>
          <p:cNvPr id="7" name="p-id-8">
            <a:extLst>
              <a:ext uri="{FF2B5EF4-FFF2-40B4-BE49-F238E27FC236}">
                <a16:creationId xmlns:a16="http://schemas.microsoft.com/office/drawing/2014/main" id="{1575A267-364A-4CE8-8EFD-8927F4011E50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101216573</a:t>
            </a:r>
          </a:p>
        </p:txBody>
      </p:sp>
      <p:sp>
        <p:nvSpPr>
          <p:cNvPr id="8" name="p8-k1-card">
            <a:extLst>
              <a:ext uri="{FF2B5EF4-FFF2-40B4-BE49-F238E27FC236}">
                <a16:creationId xmlns:a16="http://schemas.microsoft.com/office/drawing/2014/main" id="{D5D21D1A-9AF5-4AA2-B148-4164C274507A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8-k1-accent">
            <a:extLst>
              <a:ext uri="{FF2B5EF4-FFF2-40B4-BE49-F238E27FC236}">
                <a16:creationId xmlns:a16="http://schemas.microsoft.com/office/drawing/2014/main" id="{3606E4FA-0F2F-4EA2-9A8D-7896D9C2952F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8-k1-value">
            <a:extLst>
              <a:ext uri="{FF2B5EF4-FFF2-40B4-BE49-F238E27FC236}">
                <a16:creationId xmlns:a16="http://schemas.microsoft.com/office/drawing/2014/main" id="{74188177-27D2-4566-B459-A2F943C15EA4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11.9m</a:t>
            </a:r>
          </a:p>
        </p:txBody>
      </p:sp>
      <p:sp>
        <p:nvSpPr>
          <p:cNvPr id="11" name="p8-k1-label">
            <a:extLst>
              <a:ext uri="{FF2B5EF4-FFF2-40B4-BE49-F238E27FC236}">
                <a16:creationId xmlns:a16="http://schemas.microsoft.com/office/drawing/2014/main" id="{26F66EEA-86A6-447C-BC03-08EF4103FE21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8-k2-card">
            <a:extLst>
              <a:ext uri="{FF2B5EF4-FFF2-40B4-BE49-F238E27FC236}">
                <a16:creationId xmlns:a16="http://schemas.microsoft.com/office/drawing/2014/main" id="{DD34B700-AE61-45A5-B624-EB2C687F1664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8-k2-accent">
            <a:extLst>
              <a:ext uri="{FF2B5EF4-FFF2-40B4-BE49-F238E27FC236}">
                <a16:creationId xmlns:a16="http://schemas.microsoft.com/office/drawing/2014/main" id="{189DF063-8368-4BA9-85E4-EE755ECF0248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8-k2-value">
            <a:extLst>
              <a:ext uri="{FF2B5EF4-FFF2-40B4-BE49-F238E27FC236}">
                <a16:creationId xmlns:a16="http://schemas.microsoft.com/office/drawing/2014/main" id="{EE192A72-2502-4873-95C4-1A164661A039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RIA</a:t>
            </a:r>
          </a:p>
        </p:txBody>
      </p:sp>
      <p:sp>
        <p:nvSpPr>
          <p:cNvPr id="15" name="p8-k2-label">
            <a:extLst>
              <a:ext uri="{FF2B5EF4-FFF2-40B4-BE49-F238E27FC236}">
                <a16:creationId xmlns:a16="http://schemas.microsoft.com/office/drawing/2014/main" id="{06BDDD33-61A9-4ADE-B146-C8E51182FFF1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8-k3-card">
            <a:extLst>
              <a:ext uri="{FF2B5EF4-FFF2-40B4-BE49-F238E27FC236}">
                <a16:creationId xmlns:a16="http://schemas.microsoft.com/office/drawing/2014/main" id="{7CE0021D-D9A5-419D-8E3A-BFF1264DB885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8-k3-accent">
            <a:extLst>
              <a:ext uri="{FF2B5EF4-FFF2-40B4-BE49-F238E27FC236}">
                <a16:creationId xmlns:a16="http://schemas.microsoft.com/office/drawing/2014/main" id="{5F6A41B8-E200-42CD-BB1C-8EFAA464494E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8-k3-value">
            <a:extLst>
              <a:ext uri="{FF2B5EF4-FFF2-40B4-BE49-F238E27FC236}">
                <a16:creationId xmlns:a16="http://schemas.microsoft.com/office/drawing/2014/main" id="{5D10EE41-29AE-4875-9D19-4D65F2CA5986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Jun 2025 - May 2030</a:t>
            </a:r>
          </a:p>
        </p:txBody>
      </p:sp>
      <p:sp>
        <p:nvSpPr>
          <p:cNvPr id="19" name="p8-k3-label">
            <a:extLst>
              <a:ext uri="{FF2B5EF4-FFF2-40B4-BE49-F238E27FC236}">
                <a16:creationId xmlns:a16="http://schemas.microsoft.com/office/drawing/2014/main" id="{49DEBFD0-CD86-447A-931E-B2943F1FC573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60 MONTHS</a:t>
            </a:r>
          </a:p>
        </p:txBody>
      </p:sp>
      <p:sp>
        <p:nvSpPr>
          <p:cNvPr id="20" name="p8-k4-card">
            <a:extLst>
              <a:ext uri="{FF2B5EF4-FFF2-40B4-BE49-F238E27FC236}">
                <a16:creationId xmlns:a16="http://schemas.microsoft.com/office/drawing/2014/main" id="{2507919D-257C-45F7-8717-043B25C7438A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8-k4-accent">
            <a:extLst>
              <a:ext uri="{FF2B5EF4-FFF2-40B4-BE49-F238E27FC236}">
                <a16:creationId xmlns:a16="http://schemas.microsoft.com/office/drawing/2014/main" id="{3416F79E-D351-4BB7-8F7B-32F638390B76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8-k4-value">
            <a:extLst>
              <a:ext uri="{FF2B5EF4-FFF2-40B4-BE49-F238E27FC236}">
                <a16:creationId xmlns:a16="http://schemas.microsoft.com/office/drawing/2014/main" id="{8778A04D-4181-4FBD-8A89-EE2750A19545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33 orgs / 26 countries</a:t>
            </a:r>
          </a:p>
        </p:txBody>
      </p:sp>
      <p:sp>
        <p:nvSpPr>
          <p:cNvPr id="23" name="p8-k4-label">
            <a:extLst>
              <a:ext uri="{FF2B5EF4-FFF2-40B4-BE49-F238E27FC236}">
                <a16:creationId xmlns:a16="http://schemas.microsoft.com/office/drawing/2014/main" id="{F1AE13FA-71BD-4C14-A892-BE392177C2F0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8">
            <a:extLst>
              <a:ext uri="{FF2B5EF4-FFF2-40B4-BE49-F238E27FC236}">
                <a16:creationId xmlns:a16="http://schemas.microsoft.com/office/drawing/2014/main" id="{6E4BF75F-2517-43E8-8035-40AAA63990D6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8">
            <a:extLst>
              <a:ext uri="{FF2B5EF4-FFF2-40B4-BE49-F238E27FC236}">
                <a16:creationId xmlns:a16="http://schemas.microsoft.com/office/drawing/2014/main" id="{79DFDFDC-A881-4906-8EBB-A34AC346079E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8">
            <a:extLst>
              <a:ext uri="{FF2B5EF4-FFF2-40B4-BE49-F238E27FC236}">
                <a16:creationId xmlns:a16="http://schemas.microsoft.com/office/drawing/2014/main" id="{5EBB0209-5BD8-4176-AD5E-AA839762FCA2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Connects experimental research stations to develop, test and scale climate-smart farming approaches that accelerate agriculture's transition towards climate neutrality.</a:t>
            </a:r>
          </a:p>
        </p:txBody>
      </p:sp>
      <p:sp>
        <p:nvSpPr>
          <p:cNvPr id="27" name="p-lens-8">
            <a:extLst>
              <a:ext uri="{FF2B5EF4-FFF2-40B4-BE49-F238E27FC236}">
                <a16:creationId xmlns:a16="http://schemas.microsoft.com/office/drawing/2014/main" id="{5DB10188-4DEC-4DDD-A746-7AFE86F0558B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8">
            <a:extLst>
              <a:ext uri="{FF2B5EF4-FFF2-40B4-BE49-F238E27FC236}">
                <a16:creationId xmlns:a16="http://schemas.microsoft.com/office/drawing/2014/main" id="{0BE207F6-E3EA-449F-9CFD-7DCFA9D17F63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8">
            <a:extLst>
              <a:ext uri="{FF2B5EF4-FFF2-40B4-BE49-F238E27FC236}">
                <a16:creationId xmlns:a16="http://schemas.microsoft.com/office/drawing/2014/main" id="{D230F4C8-4EB3-47F3-81F7-74C524EB4684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2 bilateral participants | EUR 1.1m recorded EC contribution</a:t>
            </a:r>
          </a:p>
        </p:txBody>
      </p:sp>
      <p:sp>
        <p:nvSpPr>
          <p:cNvPr id="30" name="p-call-label-8">
            <a:extLst>
              <a:ext uri="{FF2B5EF4-FFF2-40B4-BE49-F238E27FC236}">
                <a16:creationId xmlns:a16="http://schemas.microsoft.com/office/drawing/2014/main" id="{AEFDCEF6-10B6-4890-8BB8-0D46187CF787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8">
            <a:extLst>
              <a:ext uri="{FF2B5EF4-FFF2-40B4-BE49-F238E27FC236}">
                <a16:creationId xmlns:a16="http://schemas.microsoft.com/office/drawing/2014/main" id="{ED684996-D6EB-4A57-8D0C-33C44AA2E5B7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HORIZON-CL6-2024-CLIMATE-02</a:t>
            </a:r>
          </a:p>
        </p:txBody>
      </p:sp>
      <p:sp>
        <p:nvSpPr>
          <p:cNvPr id="32" name="p-topic-label-8">
            <a:extLst>
              <a:ext uri="{FF2B5EF4-FFF2-40B4-BE49-F238E27FC236}">
                <a16:creationId xmlns:a16="http://schemas.microsoft.com/office/drawing/2014/main" id="{9515DA5A-D2ED-49E9-9660-755A72E183B9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8">
            <a:extLst>
              <a:ext uri="{FF2B5EF4-FFF2-40B4-BE49-F238E27FC236}">
                <a16:creationId xmlns:a16="http://schemas.microsoft.com/office/drawing/2014/main" id="{1A400D70-1542-4A28-881B-87B4C0D9BA90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HORIZON-CL6-2024-CLIMATE-02-1</a:t>
            </a:r>
          </a:p>
        </p:txBody>
      </p:sp>
      <p:sp>
        <p:nvSpPr>
          <p:cNvPr id="34" name="p-topic-title-8">
            <a:extLst>
              <a:ext uri="{FF2B5EF4-FFF2-40B4-BE49-F238E27FC236}">
                <a16:creationId xmlns:a16="http://schemas.microsoft.com/office/drawing/2014/main" id="{34A68033-9FE1-424D-8B14-F08F74F699CD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New knowledge and innovations for climate-smart farming - connecting research stations</a:t>
            </a:r>
          </a:p>
        </p:txBody>
      </p:sp>
      <p:sp>
        <p:nvSpPr>
          <p:cNvPr id="35" name="p-coord-label-8">
            <a:extLst>
              <a:ext uri="{FF2B5EF4-FFF2-40B4-BE49-F238E27FC236}">
                <a16:creationId xmlns:a16="http://schemas.microsoft.com/office/drawing/2014/main" id="{BCB00E47-3D94-4403-A6C7-BF87D73D463C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8">
            <a:extLst>
              <a:ext uri="{FF2B5EF4-FFF2-40B4-BE49-F238E27FC236}">
                <a16:creationId xmlns:a16="http://schemas.microsoft.com/office/drawing/2014/main" id="{659B4115-E416-4295-81A7-86CDE9CC0161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STICHTING WAGENINGEN RESEARCH (Netherlands)</a:t>
            </a:r>
          </a:p>
        </p:txBody>
      </p:sp>
      <p:sp>
        <p:nvSpPr>
          <p:cNvPr id="37" name="ie-panel-8">
            <a:extLst>
              <a:ext uri="{FF2B5EF4-FFF2-40B4-BE49-F238E27FC236}">
                <a16:creationId xmlns:a16="http://schemas.microsoft.com/office/drawing/2014/main" id="{93F1AB36-B79E-4460-A70F-3AA57C6DF882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8">
            <a:extLst>
              <a:ext uri="{FF2B5EF4-FFF2-40B4-BE49-F238E27FC236}">
                <a16:creationId xmlns:a16="http://schemas.microsoft.com/office/drawing/2014/main" id="{A4883CB8-0C47-4922-BCDA-AAF9C31AE8B5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8">
            <a:extLst>
              <a:ext uri="{FF2B5EF4-FFF2-40B4-BE49-F238E27FC236}">
                <a16:creationId xmlns:a16="http://schemas.microsoft.com/office/drawing/2014/main" id="{FAD4C537-A6EA-4DB0-A14F-5BA19AA74E92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8">
            <a:extLst>
              <a:ext uri="{FF2B5EF4-FFF2-40B4-BE49-F238E27FC236}">
                <a16:creationId xmlns:a16="http://schemas.microsoft.com/office/drawing/2014/main" id="{99B16ADB-1F1A-41D2-9723-E31FFBB0ABB8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8">
            <a:extLst>
              <a:ext uri="{FF2B5EF4-FFF2-40B4-BE49-F238E27FC236}">
                <a16:creationId xmlns:a16="http://schemas.microsoft.com/office/drawing/2014/main" id="{DCEFEE0E-ABEE-412D-A533-82BC335C1A2D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361k</a:t>
            </a:r>
          </a:p>
        </p:txBody>
      </p:sp>
      <p:sp>
        <p:nvSpPr>
          <p:cNvPr id="42" name="ie-rule-8">
            <a:extLst>
              <a:ext uri="{FF2B5EF4-FFF2-40B4-BE49-F238E27FC236}">
                <a16:creationId xmlns:a16="http://schemas.microsoft.com/office/drawing/2014/main" id="{0E258210-556C-4B54-B7C8-1D75C18F8EFB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8-0">
            <a:extLst>
              <a:ext uri="{FF2B5EF4-FFF2-40B4-BE49-F238E27FC236}">
                <a16:creationId xmlns:a16="http://schemas.microsoft.com/office/drawing/2014/main" id="{C9AE6420-DA9C-4611-9EF5-54CEA1CEB185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Teagasc</a:t>
            </a:r>
          </a:p>
        </p:txBody>
      </p:sp>
      <p:sp>
        <p:nvSpPr>
          <p:cNvPr id="44" name="ie-org-role-8-0">
            <a:extLst>
              <a:ext uri="{FF2B5EF4-FFF2-40B4-BE49-F238E27FC236}">
                <a16:creationId xmlns:a16="http://schemas.microsoft.com/office/drawing/2014/main" id="{B074E45D-AAAE-491A-A86B-0471F99DD625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45" name="ie-org-ec-8-0">
            <a:extLst>
              <a:ext uri="{FF2B5EF4-FFF2-40B4-BE49-F238E27FC236}">
                <a16:creationId xmlns:a16="http://schemas.microsoft.com/office/drawing/2014/main" id="{0F40F518-BACC-42AA-A265-4A435E97E2C4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361k</a:t>
            </a:r>
          </a:p>
        </p:txBody>
      </p:sp>
      <p:sp>
        <p:nvSpPr>
          <p:cNvPr id="46" name="nz-panel-8">
            <a:extLst>
              <a:ext uri="{FF2B5EF4-FFF2-40B4-BE49-F238E27FC236}">
                <a16:creationId xmlns:a16="http://schemas.microsoft.com/office/drawing/2014/main" id="{EDAC7245-FC2D-4651-B4AD-7924129FC7E8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nz-badge-8">
            <a:extLst>
              <a:ext uri="{FF2B5EF4-FFF2-40B4-BE49-F238E27FC236}">
                <a16:creationId xmlns:a16="http://schemas.microsoft.com/office/drawing/2014/main" id="{7E557E01-1E8C-4B76-9808-9DF7819B9D51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nz-code-8">
            <a:extLst>
              <a:ext uri="{FF2B5EF4-FFF2-40B4-BE49-F238E27FC236}">
                <a16:creationId xmlns:a16="http://schemas.microsoft.com/office/drawing/2014/main" id="{1C9540BF-B1E4-4C19-93CA-94303AA299A8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49" name="nz-title-8">
            <a:extLst>
              <a:ext uri="{FF2B5EF4-FFF2-40B4-BE49-F238E27FC236}">
                <a16:creationId xmlns:a16="http://schemas.microsoft.com/office/drawing/2014/main" id="{09CF8E82-DFFE-4569-BF73-8E6923C0EB42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0" name="nz-total-8">
            <a:extLst>
              <a:ext uri="{FF2B5EF4-FFF2-40B4-BE49-F238E27FC236}">
                <a16:creationId xmlns:a16="http://schemas.microsoft.com/office/drawing/2014/main" id="{E692DC21-FA7C-4D51-9DEB-594172311936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724k</a:t>
            </a:r>
          </a:p>
        </p:txBody>
      </p:sp>
      <p:sp>
        <p:nvSpPr>
          <p:cNvPr id="51" name="nz-rule-8">
            <a:extLst>
              <a:ext uri="{FF2B5EF4-FFF2-40B4-BE49-F238E27FC236}">
                <a16:creationId xmlns:a16="http://schemas.microsoft.com/office/drawing/2014/main" id="{81777F77-9F25-4ADE-A2AB-C6986E40DB38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nz-org-name-8-0">
            <a:extLst>
              <a:ext uri="{FF2B5EF4-FFF2-40B4-BE49-F238E27FC236}">
                <a16:creationId xmlns:a16="http://schemas.microsoft.com/office/drawing/2014/main" id="{B3CB5232-EE1D-4E23-A06F-B2A073FB4FFD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DairyNZ</a:t>
            </a:r>
          </a:p>
        </p:txBody>
      </p:sp>
      <p:sp>
        <p:nvSpPr>
          <p:cNvPr id="53" name="nz-org-role-8-0">
            <a:extLst>
              <a:ext uri="{FF2B5EF4-FFF2-40B4-BE49-F238E27FC236}">
                <a16:creationId xmlns:a16="http://schemas.microsoft.com/office/drawing/2014/main" id="{798D6AB6-EC02-4B04-91AE-A6F6FCEDAAF8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Other | Beneficiary / Participant</a:t>
            </a:r>
          </a:p>
        </p:txBody>
      </p:sp>
      <p:sp>
        <p:nvSpPr>
          <p:cNvPr id="54" name="nz-org-ec-8-0">
            <a:extLst>
              <a:ext uri="{FF2B5EF4-FFF2-40B4-BE49-F238E27FC236}">
                <a16:creationId xmlns:a16="http://schemas.microsoft.com/office/drawing/2014/main" id="{FD81E2D2-C649-4B3E-8A58-886AE2CABFB6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724k</a:t>
            </a:r>
          </a:p>
        </p:txBody>
      </p:sp>
      <p:sp>
        <p:nvSpPr>
          <p:cNvPr id="55" name="footer-line-11">
            <a:extLst>
              <a:ext uri="{FF2B5EF4-FFF2-40B4-BE49-F238E27FC236}">
                <a16:creationId xmlns:a16="http://schemas.microsoft.com/office/drawing/2014/main" id="{6F5B3E12-920B-4BBE-8BD6-7ADAE25506D7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footer-source-11">
            <a:extLst>
              <a:ext uri="{FF2B5EF4-FFF2-40B4-BE49-F238E27FC236}">
                <a16:creationId xmlns:a16="http://schemas.microsoft.com/office/drawing/2014/main" id="{01C9104A-B61F-4B17-8184-DC219E4CC6F7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101216573; database snapshot 21 Aug 2026.</a:t>
            </a:r>
          </a:p>
        </p:txBody>
      </p:sp>
      <p:sp>
        <p:nvSpPr>
          <p:cNvPr id="57" name="footer-page-11">
            <a:extLst>
              <a:ext uri="{FF2B5EF4-FFF2-40B4-BE49-F238E27FC236}">
                <a16:creationId xmlns:a16="http://schemas.microsoft.com/office/drawing/2014/main" id="{7BCD80F8-0F20-4E66-8B83-2D2D4D78692B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11 / 14</a:t>
            </a:r>
          </a:p>
        </p:txBody>
      </p:sp>
    </p:spTree>
    <p:extLst>
      <p:ext uri="{BB962C8B-B14F-4D97-AF65-F5344CB8AC3E}">
        <p14:creationId xmlns:p14="http://schemas.microsoft.com/office/powerpoint/2010/main" val="176482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-header-9">
            <a:extLst>
              <a:ext uri="{FF2B5EF4-FFF2-40B4-BE49-F238E27FC236}">
                <a16:creationId xmlns:a16="http://schemas.microsoft.com/office/drawing/2014/main" id="{656612DA-74F2-4963-9958-16F68BF26A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9">
            <a:extLst>
              <a:ext uri="{FF2B5EF4-FFF2-40B4-BE49-F238E27FC236}">
                <a16:creationId xmlns:a16="http://schemas.microsoft.com/office/drawing/2014/main" id="{4FB858D4-5F00-4B71-931C-CF98C5C059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9">
            <a:extLst>
              <a:ext uri="{FF2B5EF4-FFF2-40B4-BE49-F238E27FC236}">
                <a16:creationId xmlns:a16="http://schemas.microsoft.com/office/drawing/2014/main" id="{3CEF39D6-4B46-47CB-9AB5-B6DA263C0514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8A999"/>
                </a:solidFill>
              </a:defRPr>
            </a:pPr>
            <a:r>
              <a:rPr sz="1050" b="1">
                <a:solidFill>
                  <a:srgbClr val="18A999"/>
                </a:solidFill>
              </a:rPr>
              <a:t>CLUSTER 6 - FOOD, BIOECONOMY &amp; ENVIRONMENT</a:t>
            </a:r>
          </a:p>
        </p:txBody>
      </p:sp>
      <p:sp>
        <p:nvSpPr>
          <p:cNvPr id="4" name="p-acronym-9">
            <a:extLst>
              <a:ext uri="{FF2B5EF4-FFF2-40B4-BE49-F238E27FC236}">
                <a16:creationId xmlns:a16="http://schemas.microsoft.com/office/drawing/2014/main" id="{0F69A523-883C-4A0B-848B-DBB4CB03377B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GrassWise</a:t>
            </a:r>
          </a:p>
        </p:txBody>
      </p:sp>
      <p:sp>
        <p:nvSpPr>
          <p:cNvPr id="5" name="p-title-9">
            <a:extLst>
              <a:ext uri="{FF2B5EF4-FFF2-40B4-BE49-F238E27FC236}">
                <a16:creationId xmlns:a16="http://schemas.microsoft.com/office/drawing/2014/main" id="{008A12F4-7379-44B6-A942-F0037F7FD479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Grassland resilience through science and inclusive stakeholder engagement</a:t>
            </a:r>
          </a:p>
        </p:txBody>
      </p:sp>
      <p:sp>
        <p:nvSpPr>
          <p:cNvPr id="6" name="p-number-9">
            <a:extLst>
              <a:ext uri="{FF2B5EF4-FFF2-40B4-BE49-F238E27FC236}">
                <a16:creationId xmlns:a16="http://schemas.microsoft.com/office/drawing/2014/main" id="{8073C7B0-B6C5-47DA-A154-BC722E4F9748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10 / 12</a:t>
            </a:r>
          </a:p>
        </p:txBody>
      </p:sp>
      <p:sp>
        <p:nvSpPr>
          <p:cNvPr id="7" name="p-id-9">
            <a:extLst>
              <a:ext uri="{FF2B5EF4-FFF2-40B4-BE49-F238E27FC236}">
                <a16:creationId xmlns:a16="http://schemas.microsoft.com/office/drawing/2014/main" id="{A2D45F0E-7DB3-408B-B481-2866D9C6AFDB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101288958</a:t>
            </a:r>
          </a:p>
        </p:txBody>
      </p:sp>
      <p:sp>
        <p:nvSpPr>
          <p:cNvPr id="8" name="p9-k1-card">
            <a:extLst>
              <a:ext uri="{FF2B5EF4-FFF2-40B4-BE49-F238E27FC236}">
                <a16:creationId xmlns:a16="http://schemas.microsoft.com/office/drawing/2014/main" id="{45D12DB8-00B1-4FE6-A018-65A45BDCE6D9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9-k1-accent">
            <a:extLst>
              <a:ext uri="{FF2B5EF4-FFF2-40B4-BE49-F238E27FC236}">
                <a16:creationId xmlns:a16="http://schemas.microsoft.com/office/drawing/2014/main" id="{FDB51047-6D1E-45D7-A7A9-E0EB7A61B557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9-k1-value">
            <a:extLst>
              <a:ext uri="{FF2B5EF4-FFF2-40B4-BE49-F238E27FC236}">
                <a16:creationId xmlns:a16="http://schemas.microsoft.com/office/drawing/2014/main" id="{F45C4495-3D41-45FF-B09F-80284E91120B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8.0m</a:t>
            </a:r>
          </a:p>
        </p:txBody>
      </p:sp>
      <p:sp>
        <p:nvSpPr>
          <p:cNvPr id="11" name="p9-k1-label">
            <a:extLst>
              <a:ext uri="{FF2B5EF4-FFF2-40B4-BE49-F238E27FC236}">
                <a16:creationId xmlns:a16="http://schemas.microsoft.com/office/drawing/2014/main" id="{21EA71D1-7522-4051-8636-8D7930EB65A4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9-k2-card">
            <a:extLst>
              <a:ext uri="{FF2B5EF4-FFF2-40B4-BE49-F238E27FC236}">
                <a16:creationId xmlns:a16="http://schemas.microsoft.com/office/drawing/2014/main" id="{B532866E-CD0D-4C17-8EAE-F891082D897B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9-k2-accent">
            <a:extLst>
              <a:ext uri="{FF2B5EF4-FFF2-40B4-BE49-F238E27FC236}">
                <a16:creationId xmlns:a16="http://schemas.microsoft.com/office/drawing/2014/main" id="{8248FE6F-8064-46EF-9200-82D4D48545BA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9-k2-value">
            <a:extLst>
              <a:ext uri="{FF2B5EF4-FFF2-40B4-BE49-F238E27FC236}">
                <a16:creationId xmlns:a16="http://schemas.microsoft.com/office/drawing/2014/main" id="{F237F655-9C56-4AE3-A5DC-C4765AE3D561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RIA</a:t>
            </a:r>
          </a:p>
        </p:txBody>
      </p:sp>
      <p:sp>
        <p:nvSpPr>
          <p:cNvPr id="15" name="p9-k2-label">
            <a:extLst>
              <a:ext uri="{FF2B5EF4-FFF2-40B4-BE49-F238E27FC236}">
                <a16:creationId xmlns:a16="http://schemas.microsoft.com/office/drawing/2014/main" id="{3107CF72-E0C9-4197-A4B5-7A7C31C691FD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9-k3-card">
            <a:extLst>
              <a:ext uri="{FF2B5EF4-FFF2-40B4-BE49-F238E27FC236}">
                <a16:creationId xmlns:a16="http://schemas.microsoft.com/office/drawing/2014/main" id="{7863F5D5-C5C4-4033-B4D5-FC39756D93EA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9-k3-accent">
            <a:extLst>
              <a:ext uri="{FF2B5EF4-FFF2-40B4-BE49-F238E27FC236}">
                <a16:creationId xmlns:a16="http://schemas.microsoft.com/office/drawing/2014/main" id="{05A18888-AC3F-4CCF-AA00-239E61A8BADE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9-k3-value">
            <a:extLst>
              <a:ext uri="{FF2B5EF4-FFF2-40B4-BE49-F238E27FC236}">
                <a16:creationId xmlns:a16="http://schemas.microsoft.com/office/drawing/2014/main" id="{BF2112F9-0E04-4DBC-B44A-B2780E1ED303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Oct 2026 - Sep 2030</a:t>
            </a:r>
          </a:p>
        </p:txBody>
      </p:sp>
      <p:sp>
        <p:nvSpPr>
          <p:cNvPr id="19" name="p9-k3-label">
            <a:extLst>
              <a:ext uri="{FF2B5EF4-FFF2-40B4-BE49-F238E27FC236}">
                <a16:creationId xmlns:a16="http://schemas.microsoft.com/office/drawing/2014/main" id="{70BDCB78-C350-486F-B0FC-E78D5BEB7467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48 MONTHS</a:t>
            </a:r>
          </a:p>
        </p:txBody>
      </p:sp>
      <p:sp>
        <p:nvSpPr>
          <p:cNvPr id="20" name="p9-k4-card">
            <a:extLst>
              <a:ext uri="{FF2B5EF4-FFF2-40B4-BE49-F238E27FC236}">
                <a16:creationId xmlns:a16="http://schemas.microsoft.com/office/drawing/2014/main" id="{BE723971-044D-44D5-9A5F-12C816AE26C0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9-k4-accent">
            <a:extLst>
              <a:ext uri="{FF2B5EF4-FFF2-40B4-BE49-F238E27FC236}">
                <a16:creationId xmlns:a16="http://schemas.microsoft.com/office/drawing/2014/main" id="{553A6699-DBE6-47E6-940A-572A64130C52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9-k4-value">
            <a:extLst>
              <a:ext uri="{FF2B5EF4-FFF2-40B4-BE49-F238E27FC236}">
                <a16:creationId xmlns:a16="http://schemas.microsoft.com/office/drawing/2014/main" id="{D095232C-7501-4B91-BEC6-52BD7C7F8D44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20 orgs / 14 countries</a:t>
            </a:r>
          </a:p>
        </p:txBody>
      </p:sp>
      <p:sp>
        <p:nvSpPr>
          <p:cNvPr id="23" name="p9-k4-label">
            <a:extLst>
              <a:ext uri="{FF2B5EF4-FFF2-40B4-BE49-F238E27FC236}">
                <a16:creationId xmlns:a16="http://schemas.microsoft.com/office/drawing/2014/main" id="{1B7FC961-ED09-4EF0-ABCF-C92B7D9E3D15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9">
            <a:extLst>
              <a:ext uri="{FF2B5EF4-FFF2-40B4-BE49-F238E27FC236}">
                <a16:creationId xmlns:a16="http://schemas.microsoft.com/office/drawing/2014/main" id="{943BF931-E456-430B-823B-ACFFF321AE41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9">
            <a:extLst>
              <a:ext uri="{FF2B5EF4-FFF2-40B4-BE49-F238E27FC236}">
                <a16:creationId xmlns:a16="http://schemas.microsoft.com/office/drawing/2014/main" id="{D39A24A2-6F7A-48B2-902D-0755E2BD140B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9">
            <a:extLst>
              <a:ext uri="{FF2B5EF4-FFF2-40B4-BE49-F238E27FC236}">
                <a16:creationId xmlns:a16="http://schemas.microsoft.com/office/drawing/2014/main" id="{CBDE9C8C-3831-46B6-9C47-80F23A254AE6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Builds resilient and sustainable grassland systems by combining science, ecosystem-service valuation and inclusive stakeholder engagement across diverse European contexts.</a:t>
            </a:r>
          </a:p>
        </p:txBody>
      </p:sp>
      <p:sp>
        <p:nvSpPr>
          <p:cNvPr id="27" name="p-lens-9">
            <a:extLst>
              <a:ext uri="{FF2B5EF4-FFF2-40B4-BE49-F238E27FC236}">
                <a16:creationId xmlns:a16="http://schemas.microsoft.com/office/drawing/2014/main" id="{9E867B99-5E9C-43C9-866E-0C63B213B5EC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9">
            <a:extLst>
              <a:ext uri="{FF2B5EF4-FFF2-40B4-BE49-F238E27FC236}">
                <a16:creationId xmlns:a16="http://schemas.microsoft.com/office/drawing/2014/main" id="{9FEEDDC4-76BA-4000-B78E-5D284A05A4A3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9">
            <a:extLst>
              <a:ext uri="{FF2B5EF4-FFF2-40B4-BE49-F238E27FC236}">
                <a16:creationId xmlns:a16="http://schemas.microsoft.com/office/drawing/2014/main" id="{915DC8B4-2890-4B58-A2C1-A87D764E9916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3 bilateral participants | EUR 2.0m recorded EC contribution</a:t>
            </a:r>
          </a:p>
        </p:txBody>
      </p:sp>
      <p:sp>
        <p:nvSpPr>
          <p:cNvPr id="30" name="p-call-label-9">
            <a:extLst>
              <a:ext uri="{FF2B5EF4-FFF2-40B4-BE49-F238E27FC236}">
                <a16:creationId xmlns:a16="http://schemas.microsoft.com/office/drawing/2014/main" id="{2DF9E262-2735-4520-BC70-49A21A96556B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9">
            <a:extLst>
              <a:ext uri="{FF2B5EF4-FFF2-40B4-BE49-F238E27FC236}">
                <a16:creationId xmlns:a16="http://schemas.microsoft.com/office/drawing/2014/main" id="{CA473733-2D8C-4F37-AB38-ED2B1A4D0D1E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HORIZON-CL6-2025-02</a:t>
            </a:r>
          </a:p>
        </p:txBody>
      </p:sp>
      <p:sp>
        <p:nvSpPr>
          <p:cNvPr id="32" name="p-topic-label-9">
            <a:extLst>
              <a:ext uri="{FF2B5EF4-FFF2-40B4-BE49-F238E27FC236}">
                <a16:creationId xmlns:a16="http://schemas.microsoft.com/office/drawing/2014/main" id="{B82BE592-C15F-4EEC-89FB-F6B8C340C1C1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9">
            <a:extLst>
              <a:ext uri="{FF2B5EF4-FFF2-40B4-BE49-F238E27FC236}">
                <a16:creationId xmlns:a16="http://schemas.microsoft.com/office/drawing/2014/main" id="{0218832E-54B1-4D74-BA71-860952F0293D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HORIZON-CL6-2025-02-FARM2FORK-06</a:t>
            </a:r>
          </a:p>
        </p:txBody>
      </p:sp>
      <p:sp>
        <p:nvSpPr>
          <p:cNvPr id="34" name="p-topic-title-9">
            <a:extLst>
              <a:ext uri="{FF2B5EF4-FFF2-40B4-BE49-F238E27FC236}">
                <a16:creationId xmlns:a16="http://schemas.microsoft.com/office/drawing/2014/main" id="{085C00B4-E96D-439A-B8DB-6F8C0C6F1455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Improving grassland management in European livestock farming systems</a:t>
            </a:r>
          </a:p>
        </p:txBody>
      </p:sp>
      <p:sp>
        <p:nvSpPr>
          <p:cNvPr id="35" name="p-coord-label-9">
            <a:extLst>
              <a:ext uri="{FF2B5EF4-FFF2-40B4-BE49-F238E27FC236}">
                <a16:creationId xmlns:a16="http://schemas.microsoft.com/office/drawing/2014/main" id="{CF5EC7EC-907B-4CDE-81EA-E4469B123D0C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9">
            <a:extLst>
              <a:ext uri="{FF2B5EF4-FFF2-40B4-BE49-F238E27FC236}">
                <a16:creationId xmlns:a16="http://schemas.microsoft.com/office/drawing/2014/main" id="{820D66F1-031E-4320-AFE3-5043BC775702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TEAGASC - AGRICULTURE AND FOOD DEVELOPMENT AUTHORITY (Ireland)</a:t>
            </a:r>
          </a:p>
        </p:txBody>
      </p:sp>
      <p:sp>
        <p:nvSpPr>
          <p:cNvPr id="37" name="ie-panel-9">
            <a:extLst>
              <a:ext uri="{FF2B5EF4-FFF2-40B4-BE49-F238E27FC236}">
                <a16:creationId xmlns:a16="http://schemas.microsoft.com/office/drawing/2014/main" id="{7FB5AAFF-C32B-49FC-A1AD-DC726DA1F654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9">
            <a:extLst>
              <a:ext uri="{FF2B5EF4-FFF2-40B4-BE49-F238E27FC236}">
                <a16:creationId xmlns:a16="http://schemas.microsoft.com/office/drawing/2014/main" id="{FE1217C9-9291-4A89-BB5F-1F5C08320B33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9">
            <a:extLst>
              <a:ext uri="{FF2B5EF4-FFF2-40B4-BE49-F238E27FC236}">
                <a16:creationId xmlns:a16="http://schemas.microsoft.com/office/drawing/2014/main" id="{E5CA7FB6-3208-4ABB-8411-19EA906CA8BE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9">
            <a:extLst>
              <a:ext uri="{FF2B5EF4-FFF2-40B4-BE49-F238E27FC236}">
                <a16:creationId xmlns:a16="http://schemas.microsoft.com/office/drawing/2014/main" id="{75887615-BD4B-43F8-BF7D-91905DE8E9C0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9">
            <a:extLst>
              <a:ext uri="{FF2B5EF4-FFF2-40B4-BE49-F238E27FC236}">
                <a16:creationId xmlns:a16="http://schemas.microsoft.com/office/drawing/2014/main" id="{7B0178B1-F599-44FF-983F-7F29DAC2C3C6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2 organisations | EUR 1.7m</a:t>
            </a:r>
          </a:p>
        </p:txBody>
      </p:sp>
      <p:sp>
        <p:nvSpPr>
          <p:cNvPr id="42" name="ie-rule-9">
            <a:extLst>
              <a:ext uri="{FF2B5EF4-FFF2-40B4-BE49-F238E27FC236}">
                <a16:creationId xmlns:a16="http://schemas.microsoft.com/office/drawing/2014/main" id="{BF3B8838-51A4-4E3B-A2AF-87D37AD24A2E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9-0">
            <a:extLst>
              <a:ext uri="{FF2B5EF4-FFF2-40B4-BE49-F238E27FC236}">
                <a16:creationId xmlns:a16="http://schemas.microsoft.com/office/drawing/2014/main" id="{D7E9C834-D0D4-4949-A279-9F562E3C2B01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Teagasc</a:t>
            </a:r>
          </a:p>
        </p:txBody>
      </p:sp>
      <p:sp>
        <p:nvSpPr>
          <p:cNvPr id="44" name="ie-org-role-9-0">
            <a:extLst>
              <a:ext uri="{FF2B5EF4-FFF2-40B4-BE49-F238E27FC236}">
                <a16:creationId xmlns:a16="http://schemas.microsoft.com/office/drawing/2014/main" id="{050AA54B-C5DF-4E5D-A30F-25FEC559C524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Coordinator</a:t>
            </a:r>
          </a:p>
        </p:txBody>
      </p:sp>
      <p:sp>
        <p:nvSpPr>
          <p:cNvPr id="45" name="ie-org-ec-9-0">
            <a:extLst>
              <a:ext uri="{FF2B5EF4-FFF2-40B4-BE49-F238E27FC236}">
                <a16:creationId xmlns:a16="http://schemas.microsoft.com/office/drawing/2014/main" id="{060160F6-9BC7-4CB9-8F56-39AEDF89E961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1.2m</a:t>
            </a:r>
          </a:p>
        </p:txBody>
      </p:sp>
      <p:sp>
        <p:nvSpPr>
          <p:cNvPr id="46" name="ie-org-name-9-1">
            <a:extLst>
              <a:ext uri="{FF2B5EF4-FFF2-40B4-BE49-F238E27FC236}">
                <a16:creationId xmlns:a16="http://schemas.microsoft.com/office/drawing/2014/main" id="{21AD56F5-B246-4F7B-9BBC-978E92550D9C}"/>
              </a:ext>
            </a:extLst>
          </p:cNvPr>
          <p:cNvSpPr>
            <a:spLocks noGrp="1"/>
          </p:cNvSpPr>
          <p:nvPr/>
        </p:nvSpPr>
        <p:spPr>
          <a:xfrm>
            <a:off x="6896100" y="326707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University College Cork</a:t>
            </a:r>
          </a:p>
        </p:txBody>
      </p:sp>
      <p:sp>
        <p:nvSpPr>
          <p:cNvPr id="47" name="ie-org-role-9-1">
            <a:extLst>
              <a:ext uri="{FF2B5EF4-FFF2-40B4-BE49-F238E27FC236}">
                <a16:creationId xmlns:a16="http://schemas.microsoft.com/office/drawing/2014/main" id="{E7B77C8A-E3D4-4881-AF4B-E1C28ECA8EEB}"/>
              </a:ext>
            </a:extLst>
          </p:cNvPr>
          <p:cNvSpPr>
            <a:spLocks noGrp="1"/>
          </p:cNvSpPr>
          <p:nvPr/>
        </p:nvSpPr>
        <p:spPr>
          <a:xfrm>
            <a:off x="6896100" y="343852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Higher Education Establishment | Beneficiary / Participant</a:t>
            </a:r>
          </a:p>
        </p:txBody>
      </p:sp>
      <p:sp>
        <p:nvSpPr>
          <p:cNvPr id="48" name="ie-org-ec-9-1">
            <a:extLst>
              <a:ext uri="{FF2B5EF4-FFF2-40B4-BE49-F238E27FC236}">
                <a16:creationId xmlns:a16="http://schemas.microsoft.com/office/drawing/2014/main" id="{3551E40C-3C05-4396-A6A8-576E2AE2CE13}"/>
              </a:ext>
            </a:extLst>
          </p:cNvPr>
          <p:cNvSpPr>
            <a:spLocks noGrp="1"/>
          </p:cNvSpPr>
          <p:nvPr/>
        </p:nvSpPr>
        <p:spPr>
          <a:xfrm>
            <a:off x="10306050" y="328612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505k</a:t>
            </a:r>
          </a:p>
        </p:txBody>
      </p:sp>
      <p:sp>
        <p:nvSpPr>
          <p:cNvPr id="49" name="nz-panel-9">
            <a:extLst>
              <a:ext uri="{FF2B5EF4-FFF2-40B4-BE49-F238E27FC236}">
                <a16:creationId xmlns:a16="http://schemas.microsoft.com/office/drawing/2014/main" id="{41274510-515E-42D0-B8EC-9815E6929D7F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nz-badge-9">
            <a:extLst>
              <a:ext uri="{FF2B5EF4-FFF2-40B4-BE49-F238E27FC236}">
                <a16:creationId xmlns:a16="http://schemas.microsoft.com/office/drawing/2014/main" id="{EEFEC962-8E57-486D-88CF-FFB8E3E13742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nz-code-9">
            <a:extLst>
              <a:ext uri="{FF2B5EF4-FFF2-40B4-BE49-F238E27FC236}">
                <a16:creationId xmlns:a16="http://schemas.microsoft.com/office/drawing/2014/main" id="{FD91E3FC-7D0A-4364-970E-A209980C2488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52" name="nz-title-9">
            <a:extLst>
              <a:ext uri="{FF2B5EF4-FFF2-40B4-BE49-F238E27FC236}">
                <a16:creationId xmlns:a16="http://schemas.microsoft.com/office/drawing/2014/main" id="{A3A195F7-52D5-41B5-A20D-C267506551F6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3" name="nz-total-9">
            <a:extLst>
              <a:ext uri="{FF2B5EF4-FFF2-40B4-BE49-F238E27FC236}">
                <a16:creationId xmlns:a16="http://schemas.microsoft.com/office/drawing/2014/main" id="{2ED76EF6-8C41-41E5-BD40-FB2A99486BA9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298k</a:t>
            </a:r>
          </a:p>
        </p:txBody>
      </p:sp>
      <p:sp>
        <p:nvSpPr>
          <p:cNvPr id="54" name="nz-rule-9">
            <a:extLst>
              <a:ext uri="{FF2B5EF4-FFF2-40B4-BE49-F238E27FC236}">
                <a16:creationId xmlns:a16="http://schemas.microsoft.com/office/drawing/2014/main" id="{FB1A73CD-0195-4ABB-8F8A-003CBF5C704F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nz-org-name-9-0">
            <a:extLst>
              <a:ext uri="{FF2B5EF4-FFF2-40B4-BE49-F238E27FC236}">
                <a16:creationId xmlns:a16="http://schemas.microsoft.com/office/drawing/2014/main" id="{D2388507-2391-4B3B-B352-A26023FC6283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DairyNZ</a:t>
            </a:r>
          </a:p>
        </p:txBody>
      </p:sp>
      <p:sp>
        <p:nvSpPr>
          <p:cNvPr id="56" name="nz-org-role-9-0">
            <a:extLst>
              <a:ext uri="{FF2B5EF4-FFF2-40B4-BE49-F238E27FC236}">
                <a16:creationId xmlns:a16="http://schemas.microsoft.com/office/drawing/2014/main" id="{C2D8B051-1699-46DB-9963-23949788E865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Other | Beneficiary / Participant</a:t>
            </a:r>
          </a:p>
        </p:txBody>
      </p:sp>
      <p:sp>
        <p:nvSpPr>
          <p:cNvPr id="57" name="nz-org-ec-9-0">
            <a:extLst>
              <a:ext uri="{FF2B5EF4-FFF2-40B4-BE49-F238E27FC236}">
                <a16:creationId xmlns:a16="http://schemas.microsoft.com/office/drawing/2014/main" id="{3F902486-3737-4E45-923D-2A8740670FFB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298k</a:t>
            </a:r>
          </a:p>
        </p:txBody>
      </p:sp>
      <p:sp>
        <p:nvSpPr>
          <p:cNvPr id="58" name="footer-line-12">
            <a:extLst>
              <a:ext uri="{FF2B5EF4-FFF2-40B4-BE49-F238E27FC236}">
                <a16:creationId xmlns:a16="http://schemas.microsoft.com/office/drawing/2014/main" id="{A5F90D3B-4A2A-4554-A729-569D3E5E5E77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footer-source-12">
            <a:extLst>
              <a:ext uri="{FF2B5EF4-FFF2-40B4-BE49-F238E27FC236}">
                <a16:creationId xmlns:a16="http://schemas.microsoft.com/office/drawing/2014/main" id="{5ADAA696-1C42-460B-B445-3DC7685506BC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101288958; database snapshot 21 Aug 2026.</a:t>
            </a:r>
          </a:p>
        </p:txBody>
      </p:sp>
      <p:sp>
        <p:nvSpPr>
          <p:cNvPr id="60" name="footer-page-12">
            <a:extLst>
              <a:ext uri="{FF2B5EF4-FFF2-40B4-BE49-F238E27FC236}">
                <a16:creationId xmlns:a16="http://schemas.microsoft.com/office/drawing/2014/main" id="{A53388F6-61E6-4858-85F0-C6BEA6F6089E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12 / 14</a:t>
            </a:r>
          </a:p>
        </p:txBody>
      </p:sp>
    </p:spTree>
    <p:extLst>
      <p:ext uri="{BB962C8B-B14F-4D97-AF65-F5344CB8AC3E}">
        <p14:creationId xmlns:p14="http://schemas.microsoft.com/office/powerpoint/2010/main" val="1262759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-header-10">
            <a:extLst>
              <a:ext uri="{FF2B5EF4-FFF2-40B4-BE49-F238E27FC236}">
                <a16:creationId xmlns:a16="http://schemas.microsoft.com/office/drawing/2014/main" id="{B48127AB-019B-4729-BD8E-FCFAE3067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10">
            <a:extLst>
              <a:ext uri="{FF2B5EF4-FFF2-40B4-BE49-F238E27FC236}">
                <a16:creationId xmlns:a16="http://schemas.microsoft.com/office/drawing/2014/main" id="{A9EEDF1D-1430-4060-B193-91BB8A13F1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10">
            <a:extLst>
              <a:ext uri="{FF2B5EF4-FFF2-40B4-BE49-F238E27FC236}">
                <a16:creationId xmlns:a16="http://schemas.microsoft.com/office/drawing/2014/main" id="{AB313DE6-F917-414C-BCC7-8EEDF04A9993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8A999"/>
                </a:solidFill>
              </a:defRPr>
            </a:pPr>
            <a:r>
              <a:rPr sz="1050" b="1">
                <a:solidFill>
                  <a:srgbClr val="18A999"/>
                </a:solidFill>
              </a:rPr>
              <a:t>CLUSTER 6 - FOOD, BIOECONOMY &amp; ENVIRONMENT</a:t>
            </a:r>
          </a:p>
        </p:txBody>
      </p:sp>
      <p:sp>
        <p:nvSpPr>
          <p:cNvPr id="4" name="p-acronym-10">
            <a:extLst>
              <a:ext uri="{FF2B5EF4-FFF2-40B4-BE49-F238E27FC236}">
                <a16:creationId xmlns:a16="http://schemas.microsoft.com/office/drawing/2014/main" id="{294C5A41-437F-4804-B1F2-C01C61C3F8C8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GuardIAS</a:t>
            </a:r>
          </a:p>
        </p:txBody>
      </p:sp>
      <p:sp>
        <p:nvSpPr>
          <p:cNvPr id="5" name="p-title-10">
            <a:extLst>
              <a:ext uri="{FF2B5EF4-FFF2-40B4-BE49-F238E27FC236}">
                <a16:creationId xmlns:a16="http://schemas.microsoft.com/office/drawing/2014/main" id="{0D977419-0142-4949-8231-4C135F124C0D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Guarding European waters from invasive alien species</a:t>
            </a:r>
          </a:p>
        </p:txBody>
      </p:sp>
      <p:sp>
        <p:nvSpPr>
          <p:cNvPr id="6" name="p-number-10">
            <a:extLst>
              <a:ext uri="{FF2B5EF4-FFF2-40B4-BE49-F238E27FC236}">
                <a16:creationId xmlns:a16="http://schemas.microsoft.com/office/drawing/2014/main" id="{7E40AA07-4732-472F-B36C-CB18756662F8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11 / 12</a:t>
            </a:r>
          </a:p>
        </p:txBody>
      </p:sp>
      <p:sp>
        <p:nvSpPr>
          <p:cNvPr id="7" name="p-id-10">
            <a:extLst>
              <a:ext uri="{FF2B5EF4-FFF2-40B4-BE49-F238E27FC236}">
                <a16:creationId xmlns:a16="http://schemas.microsoft.com/office/drawing/2014/main" id="{364EE8D1-EF6C-4C83-860E-A181AE7EE6D2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101181413</a:t>
            </a:r>
          </a:p>
        </p:txBody>
      </p:sp>
      <p:sp>
        <p:nvSpPr>
          <p:cNvPr id="8" name="p10-k1-card">
            <a:extLst>
              <a:ext uri="{FF2B5EF4-FFF2-40B4-BE49-F238E27FC236}">
                <a16:creationId xmlns:a16="http://schemas.microsoft.com/office/drawing/2014/main" id="{E33BE521-03CB-4623-83F7-61ACEE117F09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10-k1-accent">
            <a:extLst>
              <a:ext uri="{FF2B5EF4-FFF2-40B4-BE49-F238E27FC236}">
                <a16:creationId xmlns:a16="http://schemas.microsoft.com/office/drawing/2014/main" id="{A726A986-2855-4A03-A727-E29D66921E6F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10-k1-value">
            <a:extLst>
              <a:ext uri="{FF2B5EF4-FFF2-40B4-BE49-F238E27FC236}">
                <a16:creationId xmlns:a16="http://schemas.microsoft.com/office/drawing/2014/main" id="{D57E9EE2-2D5B-4E31-8B26-16F49283D74E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6.5m</a:t>
            </a:r>
          </a:p>
        </p:txBody>
      </p:sp>
      <p:sp>
        <p:nvSpPr>
          <p:cNvPr id="11" name="p10-k1-label">
            <a:extLst>
              <a:ext uri="{FF2B5EF4-FFF2-40B4-BE49-F238E27FC236}">
                <a16:creationId xmlns:a16="http://schemas.microsoft.com/office/drawing/2014/main" id="{3B318C3E-AA8D-4059-AD66-75898A03724A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10-k2-card">
            <a:extLst>
              <a:ext uri="{FF2B5EF4-FFF2-40B4-BE49-F238E27FC236}">
                <a16:creationId xmlns:a16="http://schemas.microsoft.com/office/drawing/2014/main" id="{413ACA7D-6A95-42BC-B8E9-B7C76F440464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10-k2-accent">
            <a:extLst>
              <a:ext uri="{FF2B5EF4-FFF2-40B4-BE49-F238E27FC236}">
                <a16:creationId xmlns:a16="http://schemas.microsoft.com/office/drawing/2014/main" id="{48FA09C6-21B8-4754-9904-D88A05E77BEE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10-k2-value">
            <a:extLst>
              <a:ext uri="{FF2B5EF4-FFF2-40B4-BE49-F238E27FC236}">
                <a16:creationId xmlns:a16="http://schemas.microsoft.com/office/drawing/2014/main" id="{4B4548F3-008B-43A3-B29D-959A05D757C3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IA</a:t>
            </a:r>
          </a:p>
        </p:txBody>
      </p:sp>
      <p:sp>
        <p:nvSpPr>
          <p:cNvPr id="15" name="p10-k2-label">
            <a:extLst>
              <a:ext uri="{FF2B5EF4-FFF2-40B4-BE49-F238E27FC236}">
                <a16:creationId xmlns:a16="http://schemas.microsoft.com/office/drawing/2014/main" id="{22A2D0DE-90AE-463B-A7E9-F86B052CAF90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10-k3-card">
            <a:extLst>
              <a:ext uri="{FF2B5EF4-FFF2-40B4-BE49-F238E27FC236}">
                <a16:creationId xmlns:a16="http://schemas.microsoft.com/office/drawing/2014/main" id="{2FEE8802-C856-42CD-87BD-2B4F261DFB38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10-k3-accent">
            <a:extLst>
              <a:ext uri="{FF2B5EF4-FFF2-40B4-BE49-F238E27FC236}">
                <a16:creationId xmlns:a16="http://schemas.microsoft.com/office/drawing/2014/main" id="{06FA432C-7504-4B40-BBD5-0660FFCE5288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10-k3-value">
            <a:extLst>
              <a:ext uri="{FF2B5EF4-FFF2-40B4-BE49-F238E27FC236}">
                <a16:creationId xmlns:a16="http://schemas.microsoft.com/office/drawing/2014/main" id="{AD903CB8-4AC0-458D-8E15-48183AD254CD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Jan 2025 - Dec 2027</a:t>
            </a:r>
          </a:p>
        </p:txBody>
      </p:sp>
      <p:sp>
        <p:nvSpPr>
          <p:cNvPr id="19" name="p10-k3-label">
            <a:extLst>
              <a:ext uri="{FF2B5EF4-FFF2-40B4-BE49-F238E27FC236}">
                <a16:creationId xmlns:a16="http://schemas.microsoft.com/office/drawing/2014/main" id="{38C0E38C-AD04-4655-B7F8-AFAB93D6D8CB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36 MONTHS</a:t>
            </a:r>
          </a:p>
        </p:txBody>
      </p:sp>
      <p:sp>
        <p:nvSpPr>
          <p:cNvPr id="20" name="p10-k4-card">
            <a:extLst>
              <a:ext uri="{FF2B5EF4-FFF2-40B4-BE49-F238E27FC236}">
                <a16:creationId xmlns:a16="http://schemas.microsoft.com/office/drawing/2014/main" id="{5A3706B9-91C8-40B1-90F8-7A2547E93D2D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10-k4-accent">
            <a:extLst>
              <a:ext uri="{FF2B5EF4-FFF2-40B4-BE49-F238E27FC236}">
                <a16:creationId xmlns:a16="http://schemas.microsoft.com/office/drawing/2014/main" id="{DE2AD671-4F43-4E24-93FA-BB9FB26314F6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10-k4-value">
            <a:extLst>
              <a:ext uri="{FF2B5EF4-FFF2-40B4-BE49-F238E27FC236}">
                <a16:creationId xmlns:a16="http://schemas.microsoft.com/office/drawing/2014/main" id="{202EFC07-376F-49B8-B660-D7B8CAC949C5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20 orgs / 14 countries</a:t>
            </a:r>
          </a:p>
        </p:txBody>
      </p:sp>
      <p:sp>
        <p:nvSpPr>
          <p:cNvPr id="23" name="p10-k4-label">
            <a:extLst>
              <a:ext uri="{FF2B5EF4-FFF2-40B4-BE49-F238E27FC236}">
                <a16:creationId xmlns:a16="http://schemas.microsoft.com/office/drawing/2014/main" id="{5B6A433B-450E-4364-AEBB-4AE4C04334DC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10">
            <a:extLst>
              <a:ext uri="{FF2B5EF4-FFF2-40B4-BE49-F238E27FC236}">
                <a16:creationId xmlns:a16="http://schemas.microsoft.com/office/drawing/2014/main" id="{172971A9-21D7-4A62-BA3D-EE74A1ADECE5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10">
            <a:extLst>
              <a:ext uri="{FF2B5EF4-FFF2-40B4-BE49-F238E27FC236}">
                <a16:creationId xmlns:a16="http://schemas.microsoft.com/office/drawing/2014/main" id="{C73E3C7D-C874-4D62-93B8-2897FE3F9576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10">
            <a:extLst>
              <a:ext uri="{FF2B5EF4-FFF2-40B4-BE49-F238E27FC236}">
                <a16:creationId xmlns:a16="http://schemas.microsoft.com/office/drawing/2014/main" id="{8491BCC1-7A2B-4E76-828A-212C3BC24D86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Applies advanced science, data and artificial intelligence to prevent, detect and manage invasive alien species in European aquatic environments.</a:t>
            </a:r>
          </a:p>
        </p:txBody>
      </p:sp>
      <p:sp>
        <p:nvSpPr>
          <p:cNvPr id="27" name="p-lens-10">
            <a:extLst>
              <a:ext uri="{FF2B5EF4-FFF2-40B4-BE49-F238E27FC236}">
                <a16:creationId xmlns:a16="http://schemas.microsoft.com/office/drawing/2014/main" id="{7C55B699-BC94-4972-AC38-247BA0C8E79F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10">
            <a:extLst>
              <a:ext uri="{FF2B5EF4-FFF2-40B4-BE49-F238E27FC236}">
                <a16:creationId xmlns:a16="http://schemas.microsoft.com/office/drawing/2014/main" id="{9B079224-06E5-463A-B2E3-AB0B627CF10B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10">
            <a:extLst>
              <a:ext uri="{FF2B5EF4-FFF2-40B4-BE49-F238E27FC236}">
                <a16:creationId xmlns:a16="http://schemas.microsoft.com/office/drawing/2014/main" id="{FBF939B7-A5E3-4A32-95FE-BE9C47266B3C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4 bilateral participants | EUR 777k recorded EC contribution</a:t>
            </a:r>
          </a:p>
        </p:txBody>
      </p:sp>
      <p:sp>
        <p:nvSpPr>
          <p:cNvPr id="30" name="p-call-label-10">
            <a:extLst>
              <a:ext uri="{FF2B5EF4-FFF2-40B4-BE49-F238E27FC236}">
                <a16:creationId xmlns:a16="http://schemas.microsoft.com/office/drawing/2014/main" id="{0E65D35E-18A5-41A9-A3CB-130F3D50FA12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10">
            <a:extLst>
              <a:ext uri="{FF2B5EF4-FFF2-40B4-BE49-F238E27FC236}">
                <a16:creationId xmlns:a16="http://schemas.microsoft.com/office/drawing/2014/main" id="{15D65B19-7563-4F95-ACDE-E779B23F5011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HORIZON-CL6-2024-BIODIV-01</a:t>
            </a:r>
          </a:p>
        </p:txBody>
      </p:sp>
      <p:sp>
        <p:nvSpPr>
          <p:cNvPr id="32" name="p-topic-label-10">
            <a:extLst>
              <a:ext uri="{FF2B5EF4-FFF2-40B4-BE49-F238E27FC236}">
                <a16:creationId xmlns:a16="http://schemas.microsoft.com/office/drawing/2014/main" id="{0679488A-4FE9-4F4F-8075-C512AC81A941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10">
            <a:extLst>
              <a:ext uri="{FF2B5EF4-FFF2-40B4-BE49-F238E27FC236}">
                <a16:creationId xmlns:a16="http://schemas.microsoft.com/office/drawing/2014/main" id="{B6ADE545-37DE-4351-9CB1-33A85CDF41E0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HORIZON-CL6-2024-BIODIV-01-1</a:t>
            </a:r>
          </a:p>
        </p:txBody>
      </p:sp>
      <p:sp>
        <p:nvSpPr>
          <p:cNvPr id="34" name="p-topic-title-10">
            <a:extLst>
              <a:ext uri="{FF2B5EF4-FFF2-40B4-BE49-F238E27FC236}">
                <a16:creationId xmlns:a16="http://schemas.microsoft.com/office/drawing/2014/main" id="{566231C5-9001-4F0E-B880-D45601CB6D7B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Invasive alien species</a:t>
            </a:r>
          </a:p>
        </p:txBody>
      </p:sp>
      <p:sp>
        <p:nvSpPr>
          <p:cNvPr id="35" name="p-coord-label-10">
            <a:extLst>
              <a:ext uri="{FF2B5EF4-FFF2-40B4-BE49-F238E27FC236}">
                <a16:creationId xmlns:a16="http://schemas.microsoft.com/office/drawing/2014/main" id="{E341DF3F-F333-4EC7-BAD1-794CC5C6AB54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10">
            <a:extLst>
              <a:ext uri="{FF2B5EF4-FFF2-40B4-BE49-F238E27FC236}">
                <a16:creationId xmlns:a16="http://schemas.microsoft.com/office/drawing/2014/main" id="{E0193327-02F8-4FF3-AA15-5B09E7813F3C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PANEPISTIMIO AIGAIOU (Greece)</a:t>
            </a:r>
          </a:p>
        </p:txBody>
      </p:sp>
      <p:sp>
        <p:nvSpPr>
          <p:cNvPr id="37" name="ie-panel-10">
            <a:extLst>
              <a:ext uri="{FF2B5EF4-FFF2-40B4-BE49-F238E27FC236}">
                <a16:creationId xmlns:a16="http://schemas.microsoft.com/office/drawing/2014/main" id="{FA1222F6-146B-4509-B788-06A85DE667D7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10">
            <a:extLst>
              <a:ext uri="{FF2B5EF4-FFF2-40B4-BE49-F238E27FC236}">
                <a16:creationId xmlns:a16="http://schemas.microsoft.com/office/drawing/2014/main" id="{C2D3CAD8-32A6-4DC0-8CCE-64DD03C4AA96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10">
            <a:extLst>
              <a:ext uri="{FF2B5EF4-FFF2-40B4-BE49-F238E27FC236}">
                <a16:creationId xmlns:a16="http://schemas.microsoft.com/office/drawing/2014/main" id="{0DDEEE69-5E4F-4CE4-8660-399B05D9182D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10">
            <a:extLst>
              <a:ext uri="{FF2B5EF4-FFF2-40B4-BE49-F238E27FC236}">
                <a16:creationId xmlns:a16="http://schemas.microsoft.com/office/drawing/2014/main" id="{1D9C691C-324A-4FBB-8745-C5C0649810B6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10">
            <a:extLst>
              <a:ext uri="{FF2B5EF4-FFF2-40B4-BE49-F238E27FC236}">
                <a16:creationId xmlns:a16="http://schemas.microsoft.com/office/drawing/2014/main" id="{82BDD998-92B4-4995-9431-16CB24908059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2 organisations | EUR 316k</a:t>
            </a:r>
          </a:p>
        </p:txBody>
      </p:sp>
      <p:sp>
        <p:nvSpPr>
          <p:cNvPr id="42" name="ie-rule-10">
            <a:extLst>
              <a:ext uri="{FF2B5EF4-FFF2-40B4-BE49-F238E27FC236}">
                <a16:creationId xmlns:a16="http://schemas.microsoft.com/office/drawing/2014/main" id="{69B42647-A445-4405-842D-D65C5E5460BD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10-0">
            <a:extLst>
              <a:ext uri="{FF2B5EF4-FFF2-40B4-BE49-F238E27FC236}">
                <a16:creationId xmlns:a16="http://schemas.microsoft.com/office/drawing/2014/main" id="{E21A4D34-7AA0-43B3-AA55-FF2E89201997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ERINN Innovation</a:t>
            </a:r>
          </a:p>
        </p:txBody>
      </p:sp>
      <p:sp>
        <p:nvSpPr>
          <p:cNvPr id="44" name="ie-org-role-10-0">
            <a:extLst>
              <a:ext uri="{FF2B5EF4-FFF2-40B4-BE49-F238E27FC236}">
                <a16:creationId xmlns:a16="http://schemas.microsoft.com/office/drawing/2014/main" id="{EE7FB2A1-0A7F-4682-86E9-0D8BE596059D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Company | Beneficiary / Participant</a:t>
            </a:r>
          </a:p>
        </p:txBody>
      </p:sp>
      <p:sp>
        <p:nvSpPr>
          <p:cNvPr id="45" name="ie-org-ec-10-0">
            <a:extLst>
              <a:ext uri="{FF2B5EF4-FFF2-40B4-BE49-F238E27FC236}">
                <a16:creationId xmlns:a16="http://schemas.microsoft.com/office/drawing/2014/main" id="{E79EEFC1-A07F-4C35-9930-BF846FC075ED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97k</a:t>
            </a:r>
          </a:p>
        </p:txBody>
      </p:sp>
      <p:sp>
        <p:nvSpPr>
          <p:cNvPr id="46" name="ie-org-name-10-1">
            <a:extLst>
              <a:ext uri="{FF2B5EF4-FFF2-40B4-BE49-F238E27FC236}">
                <a16:creationId xmlns:a16="http://schemas.microsoft.com/office/drawing/2014/main" id="{7BC1BB0F-772E-49B3-97C3-08BCC8595D15}"/>
              </a:ext>
            </a:extLst>
          </p:cNvPr>
          <p:cNvSpPr>
            <a:spLocks noGrp="1"/>
          </p:cNvSpPr>
          <p:nvPr/>
        </p:nvSpPr>
        <p:spPr>
          <a:xfrm>
            <a:off x="6896100" y="326707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Irish Ocean Literacy Network</a:t>
            </a:r>
          </a:p>
        </p:txBody>
      </p:sp>
      <p:sp>
        <p:nvSpPr>
          <p:cNvPr id="47" name="ie-org-role-10-1">
            <a:extLst>
              <a:ext uri="{FF2B5EF4-FFF2-40B4-BE49-F238E27FC236}">
                <a16:creationId xmlns:a16="http://schemas.microsoft.com/office/drawing/2014/main" id="{0403A5B9-6C36-4BDC-9DAC-27EB9222874E}"/>
              </a:ext>
            </a:extLst>
          </p:cNvPr>
          <p:cNvSpPr>
            <a:spLocks noGrp="1"/>
          </p:cNvSpPr>
          <p:nvPr/>
        </p:nvSpPr>
        <p:spPr>
          <a:xfrm>
            <a:off x="6896100" y="343852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Other | Beneficiary / Participant</a:t>
            </a:r>
          </a:p>
        </p:txBody>
      </p:sp>
      <p:sp>
        <p:nvSpPr>
          <p:cNvPr id="48" name="ie-org-ec-10-1">
            <a:extLst>
              <a:ext uri="{FF2B5EF4-FFF2-40B4-BE49-F238E27FC236}">
                <a16:creationId xmlns:a16="http://schemas.microsoft.com/office/drawing/2014/main" id="{854AD3A5-5D66-44D3-A7D0-A1BAC19AED77}"/>
              </a:ext>
            </a:extLst>
          </p:cNvPr>
          <p:cNvSpPr>
            <a:spLocks noGrp="1"/>
          </p:cNvSpPr>
          <p:nvPr/>
        </p:nvSpPr>
        <p:spPr>
          <a:xfrm>
            <a:off x="10306050" y="328612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220k</a:t>
            </a:r>
          </a:p>
        </p:txBody>
      </p:sp>
      <p:sp>
        <p:nvSpPr>
          <p:cNvPr id="49" name="nz-panel-10">
            <a:extLst>
              <a:ext uri="{FF2B5EF4-FFF2-40B4-BE49-F238E27FC236}">
                <a16:creationId xmlns:a16="http://schemas.microsoft.com/office/drawing/2014/main" id="{B2599DE6-3BDA-4413-B769-A03569BCD88B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nz-badge-10">
            <a:extLst>
              <a:ext uri="{FF2B5EF4-FFF2-40B4-BE49-F238E27FC236}">
                <a16:creationId xmlns:a16="http://schemas.microsoft.com/office/drawing/2014/main" id="{58E1DC8E-1996-4DD8-BAF3-BC7714BAB201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nz-code-10">
            <a:extLst>
              <a:ext uri="{FF2B5EF4-FFF2-40B4-BE49-F238E27FC236}">
                <a16:creationId xmlns:a16="http://schemas.microsoft.com/office/drawing/2014/main" id="{0BBA04E1-0CA4-4D58-A684-3C1DC2A2B457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52" name="nz-title-10">
            <a:extLst>
              <a:ext uri="{FF2B5EF4-FFF2-40B4-BE49-F238E27FC236}">
                <a16:creationId xmlns:a16="http://schemas.microsoft.com/office/drawing/2014/main" id="{AA26713B-F929-4EEE-BD10-FCAD61B6BFE4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3" name="nz-total-10">
            <a:extLst>
              <a:ext uri="{FF2B5EF4-FFF2-40B4-BE49-F238E27FC236}">
                <a16:creationId xmlns:a16="http://schemas.microsoft.com/office/drawing/2014/main" id="{7E95567F-46D5-4F93-B1DB-8D364FC119B2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2 organisations | EUR 460k</a:t>
            </a:r>
          </a:p>
        </p:txBody>
      </p:sp>
      <p:sp>
        <p:nvSpPr>
          <p:cNvPr id="54" name="nz-rule-10">
            <a:extLst>
              <a:ext uri="{FF2B5EF4-FFF2-40B4-BE49-F238E27FC236}">
                <a16:creationId xmlns:a16="http://schemas.microsoft.com/office/drawing/2014/main" id="{BA82A1B7-7CBA-4594-951E-149A7DD9322F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nz-org-name-10-0">
            <a:extLst>
              <a:ext uri="{FF2B5EF4-FFF2-40B4-BE49-F238E27FC236}">
                <a16:creationId xmlns:a16="http://schemas.microsoft.com/office/drawing/2014/main" id="{6142DDC5-5817-416F-86A4-A86719EBCF15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Sequench</a:t>
            </a:r>
          </a:p>
        </p:txBody>
      </p:sp>
      <p:sp>
        <p:nvSpPr>
          <p:cNvPr id="56" name="nz-org-role-10-0">
            <a:extLst>
              <a:ext uri="{FF2B5EF4-FFF2-40B4-BE49-F238E27FC236}">
                <a16:creationId xmlns:a16="http://schemas.microsoft.com/office/drawing/2014/main" id="{D7B8F797-28A2-433F-86BE-27751DC48C5E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Company | Beneficiary / Participant</a:t>
            </a:r>
          </a:p>
        </p:txBody>
      </p:sp>
      <p:sp>
        <p:nvSpPr>
          <p:cNvPr id="57" name="nz-org-ec-10-0">
            <a:extLst>
              <a:ext uri="{FF2B5EF4-FFF2-40B4-BE49-F238E27FC236}">
                <a16:creationId xmlns:a16="http://schemas.microsoft.com/office/drawing/2014/main" id="{A0E5BEC4-6182-4BCF-A690-A7162E0F6E5C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380k</a:t>
            </a:r>
          </a:p>
        </p:txBody>
      </p:sp>
      <p:sp>
        <p:nvSpPr>
          <p:cNvPr id="58" name="nz-org-name-10-1">
            <a:extLst>
              <a:ext uri="{FF2B5EF4-FFF2-40B4-BE49-F238E27FC236}">
                <a16:creationId xmlns:a16="http://schemas.microsoft.com/office/drawing/2014/main" id="{7784FE58-0867-42F6-BEA6-30892FA8DF8E}"/>
              </a:ext>
            </a:extLst>
          </p:cNvPr>
          <p:cNvSpPr>
            <a:spLocks noGrp="1"/>
          </p:cNvSpPr>
          <p:nvPr/>
        </p:nvSpPr>
        <p:spPr>
          <a:xfrm>
            <a:off x="6896100" y="5381625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Nelson AI Institute</a:t>
            </a:r>
          </a:p>
        </p:txBody>
      </p:sp>
      <p:sp>
        <p:nvSpPr>
          <p:cNvPr id="59" name="nz-org-role-10-1">
            <a:extLst>
              <a:ext uri="{FF2B5EF4-FFF2-40B4-BE49-F238E27FC236}">
                <a16:creationId xmlns:a16="http://schemas.microsoft.com/office/drawing/2014/main" id="{BE8CE95F-67E0-4D09-B9C1-E492093ADEC6}"/>
              </a:ext>
            </a:extLst>
          </p:cNvPr>
          <p:cNvSpPr>
            <a:spLocks noGrp="1"/>
          </p:cNvSpPr>
          <p:nvPr/>
        </p:nvSpPr>
        <p:spPr>
          <a:xfrm>
            <a:off x="6896100" y="5553075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Company | Beneficiary / Participant</a:t>
            </a:r>
          </a:p>
        </p:txBody>
      </p:sp>
      <p:sp>
        <p:nvSpPr>
          <p:cNvPr id="60" name="nz-org-ec-10-1">
            <a:extLst>
              <a:ext uri="{FF2B5EF4-FFF2-40B4-BE49-F238E27FC236}">
                <a16:creationId xmlns:a16="http://schemas.microsoft.com/office/drawing/2014/main" id="{5DCFC5BB-A163-48BE-AAB0-E84A8C5FABD3}"/>
              </a:ext>
            </a:extLst>
          </p:cNvPr>
          <p:cNvSpPr>
            <a:spLocks noGrp="1"/>
          </p:cNvSpPr>
          <p:nvPr/>
        </p:nvSpPr>
        <p:spPr>
          <a:xfrm>
            <a:off x="10306050" y="540067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80k</a:t>
            </a:r>
          </a:p>
        </p:txBody>
      </p:sp>
      <p:sp>
        <p:nvSpPr>
          <p:cNvPr id="61" name="footer-line-13">
            <a:extLst>
              <a:ext uri="{FF2B5EF4-FFF2-40B4-BE49-F238E27FC236}">
                <a16:creationId xmlns:a16="http://schemas.microsoft.com/office/drawing/2014/main" id="{F82D32AA-3D17-4204-8931-6C96FD1810DD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2" name="footer-source-13">
            <a:extLst>
              <a:ext uri="{FF2B5EF4-FFF2-40B4-BE49-F238E27FC236}">
                <a16:creationId xmlns:a16="http://schemas.microsoft.com/office/drawing/2014/main" id="{525CAFAA-43AB-4E8D-AD5E-CFF285E3472A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101181413; database snapshot 21 Aug 2026.</a:t>
            </a:r>
          </a:p>
        </p:txBody>
      </p:sp>
      <p:sp>
        <p:nvSpPr>
          <p:cNvPr id="63" name="footer-page-13">
            <a:extLst>
              <a:ext uri="{FF2B5EF4-FFF2-40B4-BE49-F238E27FC236}">
                <a16:creationId xmlns:a16="http://schemas.microsoft.com/office/drawing/2014/main" id="{B4EA47BD-B7CB-4CA0-8F09-474EBA8EE663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13 / 14</a:t>
            </a:r>
          </a:p>
        </p:txBody>
      </p:sp>
    </p:spTree>
    <p:extLst>
      <p:ext uri="{BB962C8B-B14F-4D97-AF65-F5344CB8AC3E}">
        <p14:creationId xmlns:p14="http://schemas.microsoft.com/office/powerpoint/2010/main" val="320010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-header-11">
            <a:extLst>
              <a:ext uri="{FF2B5EF4-FFF2-40B4-BE49-F238E27FC236}">
                <a16:creationId xmlns:a16="http://schemas.microsoft.com/office/drawing/2014/main" id="{0199C338-D28E-438D-B26F-81BC3A19BA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858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p-header-accent-11">
            <a:extLst>
              <a:ext uri="{FF2B5EF4-FFF2-40B4-BE49-F238E27FC236}">
                <a16:creationId xmlns:a16="http://schemas.microsoft.com/office/drawing/2014/main" id="{B9F0207D-AD98-4A6D-A2B6-A43B625B8F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1085850"/>
          </a:xfrm>
          <a:prstGeom prst="rect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p-cluster-11">
            <a:extLst>
              <a:ext uri="{FF2B5EF4-FFF2-40B4-BE49-F238E27FC236}">
                <a16:creationId xmlns:a16="http://schemas.microsoft.com/office/drawing/2014/main" id="{9F03517B-A9B3-4D3B-B0C4-C1F59C5CC0C6}"/>
              </a:ext>
            </a:extLst>
          </p:cNvPr>
          <p:cNvSpPr>
            <a:spLocks noGrp="1"/>
          </p:cNvSpPr>
          <p:nvPr/>
        </p:nvSpPr>
        <p:spPr>
          <a:xfrm>
            <a:off x="457200" y="1143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8A999"/>
                </a:solidFill>
              </a:defRPr>
            </a:pPr>
            <a:r>
              <a:rPr sz="1050" b="1">
                <a:solidFill>
                  <a:srgbClr val="18A999"/>
                </a:solidFill>
              </a:rPr>
              <a:t>CLUSTER 6 - FOOD, BIOECONOMY &amp; ENVIRONMENT</a:t>
            </a:r>
          </a:p>
        </p:txBody>
      </p:sp>
      <p:sp>
        <p:nvSpPr>
          <p:cNvPr id="4" name="p-acronym-11">
            <a:extLst>
              <a:ext uri="{FF2B5EF4-FFF2-40B4-BE49-F238E27FC236}">
                <a16:creationId xmlns:a16="http://schemas.microsoft.com/office/drawing/2014/main" id="{50DBED4A-556C-4335-B3E4-EBDBC34A6420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RELATE4NATURE</a:t>
            </a:r>
          </a:p>
        </p:txBody>
      </p:sp>
      <p:sp>
        <p:nvSpPr>
          <p:cNvPr id="5" name="p-title-11">
            <a:extLst>
              <a:ext uri="{FF2B5EF4-FFF2-40B4-BE49-F238E27FC236}">
                <a16:creationId xmlns:a16="http://schemas.microsoft.com/office/drawing/2014/main" id="{1975AF4B-B1D2-4BC4-811E-03E66B32A013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923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FDAE2"/>
                </a:solidFill>
              </a:defRPr>
            </a:pPr>
            <a:r>
              <a:rPr sz="1200" b="0">
                <a:solidFill>
                  <a:srgbClr val="CFDAE2"/>
                </a:solidFill>
              </a:rPr>
              <a:t>Relational biodiversity economics for restoration and community resilience</a:t>
            </a:r>
          </a:p>
        </p:txBody>
      </p:sp>
      <p:sp>
        <p:nvSpPr>
          <p:cNvPr id="6" name="p-number-11">
            <a:extLst>
              <a:ext uri="{FF2B5EF4-FFF2-40B4-BE49-F238E27FC236}">
                <a16:creationId xmlns:a16="http://schemas.microsoft.com/office/drawing/2014/main" id="{5B560D82-19D5-43BB-9A20-F6BAB8C21604}"/>
              </a:ext>
            </a:extLst>
          </p:cNvPr>
          <p:cNvSpPr>
            <a:spLocks noGrp="1"/>
          </p:cNvSpPr>
          <p:nvPr/>
        </p:nvSpPr>
        <p:spPr>
          <a:xfrm>
            <a:off x="10191750" y="2762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AFC0CC"/>
                </a:solidFill>
              </a:defRPr>
            </a:pPr>
            <a:r>
              <a:rPr sz="1050" b="1">
                <a:solidFill>
                  <a:srgbClr val="AFC0CC"/>
                </a:solidFill>
              </a:rPr>
              <a:t>PROJECT 12 / 12</a:t>
            </a:r>
          </a:p>
        </p:txBody>
      </p:sp>
      <p:sp>
        <p:nvSpPr>
          <p:cNvPr id="7" name="p-id-11">
            <a:extLst>
              <a:ext uri="{FF2B5EF4-FFF2-40B4-BE49-F238E27FC236}">
                <a16:creationId xmlns:a16="http://schemas.microsoft.com/office/drawing/2014/main" id="{A27E66FD-8050-4EAB-B7B3-A86FF2539366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Agreement 101286168</a:t>
            </a:r>
          </a:p>
        </p:txBody>
      </p:sp>
      <p:sp>
        <p:nvSpPr>
          <p:cNvPr id="8" name="p11-k1-card">
            <a:extLst>
              <a:ext uri="{FF2B5EF4-FFF2-40B4-BE49-F238E27FC236}">
                <a16:creationId xmlns:a16="http://schemas.microsoft.com/office/drawing/2014/main" id="{B34917AC-0166-44F0-B08F-8F12D4240FFC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11-k1-accent">
            <a:extLst>
              <a:ext uri="{FF2B5EF4-FFF2-40B4-BE49-F238E27FC236}">
                <a16:creationId xmlns:a16="http://schemas.microsoft.com/office/drawing/2014/main" id="{0CE98753-0E58-49F0-AD47-B508C5EC169F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p11-k1-value">
            <a:extLst>
              <a:ext uri="{FF2B5EF4-FFF2-40B4-BE49-F238E27FC236}">
                <a16:creationId xmlns:a16="http://schemas.microsoft.com/office/drawing/2014/main" id="{94A8F7D4-D8B5-442B-9060-4547A03EACA9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EUR 7.0m</a:t>
            </a:r>
          </a:p>
        </p:txBody>
      </p:sp>
      <p:sp>
        <p:nvSpPr>
          <p:cNvPr id="11" name="p11-k1-label">
            <a:extLst>
              <a:ext uri="{FF2B5EF4-FFF2-40B4-BE49-F238E27FC236}">
                <a16:creationId xmlns:a16="http://schemas.microsoft.com/office/drawing/2014/main" id="{C5F6E957-DFFE-4DF0-ACC1-B64848B83AFF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PROJECT EC MAXIMUM CONTRIBUTION</a:t>
            </a:r>
          </a:p>
        </p:txBody>
      </p:sp>
      <p:sp>
        <p:nvSpPr>
          <p:cNvPr id="12" name="p11-k2-card">
            <a:extLst>
              <a:ext uri="{FF2B5EF4-FFF2-40B4-BE49-F238E27FC236}">
                <a16:creationId xmlns:a16="http://schemas.microsoft.com/office/drawing/2014/main" id="{93B20BC3-67EB-4874-B335-1A1795FEAAEA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p11-k2-accent">
            <a:extLst>
              <a:ext uri="{FF2B5EF4-FFF2-40B4-BE49-F238E27FC236}">
                <a16:creationId xmlns:a16="http://schemas.microsoft.com/office/drawing/2014/main" id="{B3FDCC72-FD82-4E93-966C-BE872974B1AA}"/>
              </a:ext>
            </a:extLst>
          </p:cNvPr>
          <p:cNvSpPr>
            <a:spLocks noGrp="1"/>
          </p:cNvSpPr>
          <p:nvPr/>
        </p:nvSpPr>
        <p:spPr>
          <a:xfrm>
            <a:off x="330517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4C78A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p11-k2-value">
            <a:extLst>
              <a:ext uri="{FF2B5EF4-FFF2-40B4-BE49-F238E27FC236}">
                <a16:creationId xmlns:a16="http://schemas.microsoft.com/office/drawing/2014/main" id="{C4F3F313-B021-4F2D-8DB4-BF5FD0574CAA}"/>
              </a:ext>
            </a:extLst>
          </p:cNvPr>
          <p:cNvSpPr>
            <a:spLocks noGrp="1"/>
          </p:cNvSpPr>
          <p:nvPr/>
        </p:nvSpPr>
        <p:spPr>
          <a:xfrm>
            <a:off x="349567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RIA</a:t>
            </a:r>
          </a:p>
        </p:txBody>
      </p:sp>
      <p:sp>
        <p:nvSpPr>
          <p:cNvPr id="15" name="p11-k2-label">
            <a:extLst>
              <a:ext uri="{FF2B5EF4-FFF2-40B4-BE49-F238E27FC236}">
                <a16:creationId xmlns:a16="http://schemas.microsoft.com/office/drawing/2014/main" id="{E3246F84-DC40-4960-9DD2-39126FE1E195}"/>
              </a:ext>
            </a:extLst>
          </p:cNvPr>
          <p:cNvSpPr>
            <a:spLocks noGrp="1"/>
          </p:cNvSpPr>
          <p:nvPr/>
        </p:nvSpPr>
        <p:spPr>
          <a:xfrm>
            <a:off x="349567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FUNDING SCHEME</a:t>
            </a:r>
          </a:p>
        </p:txBody>
      </p:sp>
      <p:sp>
        <p:nvSpPr>
          <p:cNvPr id="16" name="p11-k3-card">
            <a:extLst>
              <a:ext uri="{FF2B5EF4-FFF2-40B4-BE49-F238E27FC236}">
                <a16:creationId xmlns:a16="http://schemas.microsoft.com/office/drawing/2014/main" id="{6C4359CB-55F5-4EC4-B318-4329455CAD6F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p11-k3-accent">
            <a:extLst>
              <a:ext uri="{FF2B5EF4-FFF2-40B4-BE49-F238E27FC236}">
                <a16:creationId xmlns:a16="http://schemas.microsoft.com/office/drawing/2014/main" id="{0533C8CA-1D85-47D7-A59B-A750DDEDD1F7}"/>
              </a:ext>
            </a:extLst>
          </p:cNvPr>
          <p:cNvSpPr>
            <a:spLocks noGrp="1"/>
          </p:cNvSpPr>
          <p:nvPr/>
        </p:nvSpPr>
        <p:spPr>
          <a:xfrm>
            <a:off x="6153150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8E6CB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p11-k3-value">
            <a:extLst>
              <a:ext uri="{FF2B5EF4-FFF2-40B4-BE49-F238E27FC236}">
                <a16:creationId xmlns:a16="http://schemas.microsoft.com/office/drawing/2014/main" id="{7B4AAD0F-4549-49D8-9D3A-CE5436C76587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Sep 2026 - Aug 2030</a:t>
            </a:r>
          </a:p>
        </p:txBody>
      </p:sp>
      <p:sp>
        <p:nvSpPr>
          <p:cNvPr id="19" name="p11-k3-label">
            <a:extLst>
              <a:ext uri="{FF2B5EF4-FFF2-40B4-BE49-F238E27FC236}">
                <a16:creationId xmlns:a16="http://schemas.microsoft.com/office/drawing/2014/main" id="{BDC59369-5DF6-491B-B170-41B3B7EE6588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48 MONTHS</a:t>
            </a:r>
          </a:p>
        </p:txBody>
      </p:sp>
      <p:sp>
        <p:nvSpPr>
          <p:cNvPr id="20" name="p11-k4-card">
            <a:extLst>
              <a:ext uri="{FF2B5EF4-FFF2-40B4-BE49-F238E27FC236}">
                <a16:creationId xmlns:a16="http://schemas.microsoft.com/office/drawing/2014/main" id="{300AAAAF-03C6-488E-8751-7DE220068480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26860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p11-k4-accent">
            <a:extLst>
              <a:ext uri="{FF2B5EF4-FFF2-40B4-BE49-F238E27FC236}">
                <a16:creationId xmlns:a16="http://schemas.microsoft.com/office/drawing/2014/main" id="{A1B22E15-35F1-45D2-9D76-CFBAF1888CB9}"/>
              </a:ext>
            </a:extLst>
          </p:cNvPr>
          <p:cNvSpPr>
            <a:spLocks noGrp="1"/>
          </p:cNvSpPr>
          <p:nvPr/>
        </p:nvSpPr>
        <p:spPr>
          <a:xfrm>
            <a:off x="9001125" y="123825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p11-k4-value">
            <a:extLst>
              <a:ext uri="{FF2B5EF4-FFF2-40B4-BE49-F238E27FC236}">
                <a16:creationId xmlns:a16="http://schemas.microsoft.com/office/drawing/2014/main" id="{2A77B882-CEE5-43AC-A231-7CEA33657B1C}"/>
              </a:ext>
            </a:extLst>
          </p:cNvPr>
          <p:cNvSpPr>
            <a:spLocks noGrp="1"/>
          </p:cNvSpPr>
          <p:nvPr/>
        </p:nvSpPr>
        <p:spPr>
          <a:xfrm>
            <a:off x="9191625" y="138112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21 orgs / 15 countries</a:t>
            </a:r>
          </a:p>
        </p:txBody>
      </p:sp>
      <p:sp>
        <p:nvSpPr>
          <p:cNvPr id="23" name="p11-k4-label">
            <a:extLst>
              <a:ext uri="{FF2B5EF4-FFF2-40B4-BE49-F238E27FC236}">
                <a16:creationId xmlns:a16="http://schemas.microsoft.com/office/drawing/2014/main" id="{F9D4E2B2-DAD9-471F-9F64-2FCC03CA883A}"/>
              </a:ext>
            </a:extLst>
          </p:cNvPr>
          <p:cNvSpPr>
            <a:spLocks noGrp="1"/>
          </p:cNvSpPr>
          <p:nvPr/>
        </p:nvSpPr>
        <p:spPr>
          <a:xfrm>
            <a:off x="9191625" y="175260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CONSORTIUM FOOTPRINT</a:t>
            </a:r>
          </a:p>
        </p:txBody>
      </p:sp>
      <p:sp>
        <p:nvSpPr>
          <p:cNvPr id="24" name="p-brief-panel-11">
            <a:extLst>
              <a:ext uri="{FF2B5EF4-FFF2-40B4-BE49-F238E27FC236}">
                <a16:creationId xmlns:a16="http://schemas.microsoft.com/office/drawing/2014/main" id="{18211D37-88E9-473B-8FBD-797E4736B60A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6076950" cy="4105275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p-focus-title-11">
            <a:extLst>
              <a:ext uri="{FF2B5EF4-FFF2-40B4-BE49-F238E27FC236}">
                <a16:creationId xmlns:a16="http://schemas.microsoft.com/office/drawing/2014/main" id="{DB30BC07-57E0-4A2F-8095-08DACC16B390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Project focus</a:t>
            </a:r>
          </a:p>
        </p:txBody>
      </p:sp>
      <p:sp>
        <p:nvSpPr>
          <p:cNvPr id="26" name="p-summary-11">
            <a:extLst>
              <a:ext uri="{FF2B5EF4-FFF2-40B4-BE49-F238E27FC236}">
                <a16:creationId xmlns:a16="http://schemas.microsoft.com/office/drawing/2014/main" id="{819AAC73-10F2-411C-BED4-8D04AE1AE39D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638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Develops socio-economic models that embed relational values such as wellbeing, justice and social cohesion into biodiversity restoration and climate-resilience decisions.</a:t>
            </a:r>
          </a:p>
        </p:txBody>
      </p:sp>
      <p:sp>
        <p:nvSpPr>
          <p:cNvPr id="27" name="p-lens-11">
            <a:extLst>
              <a:ext uri="{FF2B5EF4-FFF2-40B4-BE49-F238E27FC236}">
                <a16:creationId xmlns:a16="http://schemas.microsoft.com/office/drawing/2014/main" id="{59ED8D23-C01C-4B6F-8185-4817BD3B1248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638800" cy="704850"/>
          </a:xfrm>
          <a:prstGeom prst="roundRect">
            <a:avLst>
              <a:gd name="adj" fmla="val 16216"/>
            </a:avLst>
          </a:prstGeom>
          <a:solidFill>
            <a:srgbClr val="E8F7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p-lens-title-11">
            <a:extLst>
              <a:ext uri="{FF2B5EF4-FFF2-40B4-BE49-F238E27FC236}">
                <a16:creationId xmlns:a16="http://schemas.microsoft.com/office/drawing/2014/main" id="{F57F72DC-E869-4C17-BC23-E4EB77D97A1E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73"/>
                </a:solidFill>
              </a:defRPr>
            </a:pPr>
            <a:r>
              <a:rPr sz="975" b="1">
                <a:solidFill>
                  <a:srgbClr val="087F73"/>
                </a:solidFill>
              </a:rPr>
              <a:t>IRELAND - NEW ZEALAND LENS</a:t>
            </a:r>
          </a:p>
        </p:txBody>
      </p:sp>
      <p:sp>
        <p:nvSpPr>
          <p:cNvPr id="29" name="p-lens-body-11">
            <a:extLst>
              <a:ext uri="{FF2B5EF4-FFF2-40B4-BE49-F238E27FC236}">
                <a16:creationId xmlns:a16="http://schemas.microsoft.com/office/drawing/2014/main" id="{8C403A45-F282-4B1C-8E42-C7F96A21713F}"/>
              </a:ext>
            </a:extLst>
          </p:cNvPr>
          <p:cNvSpPr>
            <a:spLocks noGrp="1"/>
          </p:cNvSpPr>
          <p:nvPr/>
        </p:nvSpPr>
        <p:spPr>
          <a:xfrm>
            <a:off x="838200" y="41243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2 bilateral participants | EUR 733k recorded EC contribution</a:t>
            </a:r>
          </a:p>
        </p:txBody>
      </p:sp>
      <p:sp>
        <p:nvSpPr>
          <p:cNvPr id="30" name="p-call-label-11">
            <a:extLst>
              <a:ext uri="{FF2B5EF4-FFF2-40B4-BE49-F238E27FC236}">
                <a16:creationId xmlns:a16="http://schemas.microsoft.com/office/drawing/2014/main" id="{9355F4CC-8F4A-4070-A82C-2BC38D41C9DB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CALL</a:t>
            </a:r>
          </a:p>
        </p:txBody>
      </p:sp>
      <p:sp>
        <p:nvSpPr>
          <p:cNvPr id="31" name="p-call-11">
            <a:extLst>
              <a:ext uri="{FF2B5EF4-FFF2-40B4-BE49-F238E27FC236}">
                <a16:creationId xmlns:a16="http://schemas.microsoft.com/office/drawing/2014/main" id="{2B9ACCEC-C135-4D66-9FEF-9F7CE88F7A93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HORIZON-CL6-2025-01</a:t>
            </a:r>
          </a:p>
        </p:txBody>
      </p:sp>
      <p:sp>
        <p:nvSpPr>
          <p:cNvPr id="32" name="p-topic-label-11">
            <a:extLst>
              <a:ext uri="{FF2B5EF4-FFF2-40B4-BE49-F238E27FC236}">
                <a16:creationId xmlns:a16="http://schemas.microsoft.com/office/drawing/2014/main" id="{134D85A5-454A-4264-A40D-41403D9EA7AF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TOPIC</a:t>
            </a:r>
          </a:p>
        </p:txBody>
      </p:sp>
      <p:sp>
        <p:nvSpPr>
          <p:cNvPr id="33" name="p-topic-11">
            <a:extLst>
              <a:ext uri="{FF2B5EF4-FFF2-40B4-BE49-F238E27FC236}">
                <a16:creationId xmlns:a16="http://schemas.microsoft.com/office/drawing/2014/main" id="{556C0C65-93B4-4965-8E19-B2667DD68C1B}"/>
              </a:ext>
            </a:extLst>
          </p:cNvPr>
          <p:cNvSpPr>
            <a:spLocks noGrp="1"/>
          </p:cNvSpPr>
          <p:nvPr/>
        </p:nvSpPr>
        <p:spPr>
          <a:xfrm>
            <a:off x="1466850" y="49434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HORIZON-CL6-2025-01-BIODIV-08</a:t>
            </a:r>
          </a:p>
        </p:txBody>
      </p:sp>
      <p:sp>
        <p:nvSpPr>
          <p:cNvPr id="34" name="p-topic-title-11">
            <a:extLst>
              <a:ext uri="{FF2B5EF4-FFF2-40B4-BE49-F238E27FC236}">
                <a16:creationId xmlns:a16="http://schemas.microsoft.com/office/drawing/2014/main" id="{4DB9C0C3-4E2C-4320-9831-5ED521BED7BA}"/>
              </a:ext>
            </a:extLst>
          </p:cNvPr>
          <p:cNvSpPr>
            <a:spLocks noGrp="1"/>
          </p:cNvSpPr>
          <p:nvPr/>
        </p:nvSpPr>
        <p:spPr>
          <a:xfrm>
            <a:off x="1466850" y="5181600"/>
            <a:ext cx="483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788"/>
                </a:solidFill>
              </a:defRPr>
            </a:pPr>
            <a:r>
              <a:rPr sz="1050" b="0">
                <a:solidFill>
                  <a:srgbClr val="667788"/>
                </a:solidFill>
              </a:rPr>
              <a:t>Strengthening pathways to alternative socio-economic models for continuous improvement of biodiversity</a:t>
            </a:r>
          </a:p>
        </p:txBody>
      </p:sp>
      <p:sp>
        <p:nvSpPr>
          <p:cNvPr id="35" name="p-coord-label-11">
            <a:extLst>
              <a:ext uri="{FF2B5EF4-FFF2-40B4-BE49-F238E27FC236}">
                <a16:creationId xmlns:a16="http://schemas.microsoft.com/office/drawing/2014/main" id="{5A5FC79B-0105-4564-8E4C-428E4E8BD920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67788"/>
                </a:solidFill>
              </a:defRPr>
            </a:pPr>
            <a:r>
              <a:rPr sz="900" b="1">
                <a:solidFill>
                  <a:srgbClr val="667788"/>
                </a:solidFill>
              </a:rPr>
              <a:t>COORDINATOR</a:t>
            </a:r>
          </a:p>
        </p:txBody>
      </p:sp>
      <p:sp>
        <p:nvSpPr>
          <p:cNvPr id="36" name="p-coord-11">
            <a:extLst>
              <a:ext uri="{FF2B5EF4-FFF2-40B4-BE49-F238E27FC236}">
                <a16:creationId xmlns:a16="http://schemas.microsoft.com/office/drawing/2014/main" id="{E43FAEA4-DD1A-44B0-808B-943BC38E0625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313D"/>
                </a:solidFill>
              </a:defRPr>
            </a:pPr>
            <a:r>
              <a:rPr sz="1050" b="1">
                <a:solidFill>
                  <a:srgbClr val="24313D"/>
                </a:solidFill>
              </a:rPr>
              <a:t>ECOSTACK INNOVATIONS LIMITED (Malta)</a:t>
            </a:r>
          </a:p>
        </p:txBody>
      </p:sp>
      <p:sp>
        <p:nvSpPr>
          <p:cNvPr id="37" name="ie-panel-11">
            <a:extLst>
              <a:ext uri="{FF2B5EF4-FFF2-40B4-BE49-F238E27FC236}">
                <a16:creationId xmlns:a16="http://schemas.microsoft.com/office/drawing/2014/main" id="{8C383332-24C3-4F6B-8E3E-C58622A735B6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98157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ie-badge-11">
            <a:extLst>
              <a:ext uri="{FF2B5EF4-FFF2-40B4-BE49-F238E27FC236}">
                <a16:creationId xmlns:a16="http://schemas.microsoft.com/office/drawing/2014/main" id="{164C66CD-AA19-4C6D-B8F2-88F74A65F79B}"/>
              </a:ext>
            </a:extLst>
          </p:cNvPr>
          <p:cNvSpPr>
            <a:spLocks noGrp="1"/>
          </p:cNvSpPr>
          <p:nvPr/>
        </p:nvSpPr>
        <p:spPr>
          <a:xfrm>
            <a:off x="6877050" y="2362200"/>
            <a:ext cx="342900" cy="342900"/>
          </a:xfrm>
          <a:prstGeom prst="ellipse">
            <a:avLst/>
          </a:prstGeom>
          <a:solidFill>
            <a:srgbClr val="F28E5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ie-code-11">
            <a:extLst>
              <a:ext uri="{FF2B5EF4-FFF2-40B4-BE49-F238E27FC236}">
                <a16:creationId xmlns:a16="http://schemas.microsoft.com/office/drawing/2014/main" id="{CA5DF730-3708-46F7-9DD5-CDFB35BF801D}"/>
              </a:ext>
            </a:extLst>
          </p:cNvPr>
          <p:cNvSpPr>
            <a:spLocks noGrp="1"/>
          </p:cNvSpPr>
          <p:nvPr/>
        </p:nvSpPr>
        <p:spPr>
          <a:xfrm>
            <a:off x="6877050" y="244792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IE</a:t>
            </a:r>
          </a:p>
        </p:txBody>
      </p:sp>
      <p:sp>
        <p:nvSpPr>
          <p:cNvPr id="40" name="ie-title-11">
            <a:extLst>
              <a:ext uri="{FF2B5EF4-FFF2-40B4-BE49-F238E27FC236}">
                <a16:creationId xmlns:a16="http://schemas.microsoft.com/office/drawing/2014/main" id="{C99A6DE6-1B6D-42DC-B855-2B9F48F7BFC8}"/>
              </a:ext>
            </a:extLst>
          </p:cNvPr>
          <p:cNvSpPr>
            <a:spLocks noGrp="1"/>
          </p:cNvSpPr>
          <p:nvPr/>
        </p:nvSpPr>
        <p:spPr>
          <a:xfrm>
            <a:off x="7315200" y="2352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Ireland</a:t>
            </a:r>
          </a:p>
        </p:txBody>
      </p:sp>
      <p:sp>
        <p:nvSpPr>
          <p:cNvPr id="41" name="ie-total-11">
            <a:extLst>
              <a:ext uri="{FF2B5EF4-FFF2-40B4-BE49-F238E27FC236}">
                <a16:creationId xmlns:a16="http://schemas.microsoft.com/office/drawing/2014/main" id="{087E4969-09B1-4E1E-B7A3-BB394DF38323}"/>
              </a:ext>
            </a:extLst>
          </p:cNvPr>
          <p:cNvSpPr>
            <a:spLocks noGrp="1"/>
          </p:cNvSpPr>
          <p:nvPr/>
        </p:nvSpPr>
        <p:spPr>
          <a:xfrm>
            <a:off x="9515475" y="240030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415k</a:t>
            </a:r>
          </a:p>
        </p:txBody>
      </p:sp>
      <p:sp>
        <p:nvSpPr>
          <p:cNvPr id="42" name="ie-rule-11">
            <a:extLst>
              <a:ext uri="{FF2B5EF4-FFF2-40B4-BE49-F238E27FC236}">
                <a16:creationId xmlns:a16="http://schemas.microsoft.com/office/drawing/2014/main" id="{780519C0-5D8F-403F-8F33-8DB5A634C6BE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ie-org-name-11-0">
            <a:extLst>
              <a:ext uri="{FF2B5EF4-FFF2-40B4-BE49-F238E27FC236}">
                <a16:creationId xmlns:a16="http://schemas.microsoft.com/office/drawing/2014/main" id="{03231B52-115E-489C-B7EC-761C549C5702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The Nature of Cities Europe</a:t>
            </a:r>
          </a:p>
        </p:txBody>
      </p:sp>
      <p:sp>
        <p:nvSpPr>
          <p:cNvPr id="44" name="ie-org-role-11-0">
            <a:extLst>
              <a:ext uri="{FF2B5EF4-FFF2-40B4-BE49-F238E27FC236}">
                <a16:creationId xmlns:a16="http://schemas.microsoft.com/office/drawing/2014/main" id="{938B6D6F-E2AE-408F-89DA-26F975629137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Research Organisation | Beneficiary / Participant</a:t>
            </a:r>
          </a:p>
        </p:txBody>
      </p:sp>
      <p:sp>
        <p:nvSpPr>
          <p:cNvPr id="45" name="ie-org-ec-11-0">
            <a:extLst>
              <a:ext uri="{FF2B5EF4-FFF2-40B4-BE49-F238E27FC236}">
                <a16:creationId xmlns:a16="http://schemas.microsoft.com/office/drawing/2014/main" id="{A174920B-7DBA-4754-9CF7-07D14E9479F5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28E5B"/>
                </a:solidFill>
              </a:defRPr>
            </a:pPr>
            <a:r>
              <a:rPr sz="975" b="1">
                <a:solidFill>
                  <a:srgbClr val="F28E5B"/>
                </a:solidFill>
              </a:rPr>
              <a:t>EUR 415k</a:t>
            </a:r>
          </a:p>
        </p:txBody>
      </p:sp>
      <p:sp>
        <p:nvSpPr>
          <p:cNvPr id="46" name="nz-panel-11">
            <a:extLst>
              <a:ext uri="{FF2B5EF4-FFF2-40B4-BE49-F238E27FC236}">
                <a16:creationId xmlns:a16="http://schemas.microsoft.com/office/drawing/2014/main" id="{B83372E1-0E5C-425E-9F0A-B28D56CBB739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981575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nz-badge-11">
            <a:extLst>
              <a:ext uri="{FF2B5EF4-FFF2-40B4-BE49-F238E27FC236}">
                <a16:creationId xmlns:a16="http://schemas.microsoft.com/office/drawing/2014/main" id="{225BA717-EF41-48DD-9676-6E9168B4F343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42900" cy="342900"/>
          </a:xfrm>
          <a:prstGeom prst="ellipse">
            <a:avLst/>
          </a:prstGeom>
          <a:solidFill>
            <a:srgbClr val="18A999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nz-code-11">
            <a:extLst>
              <a:ext uri="{FF2B5EF4-FFF2-40B4-BE49-F238E27FC236}">
                <a16:creationId xmlns:a16="http://schemas.microsoft.com/office/drawing/2014/main" id="{9AF31BF1-AC86-4908-88A3-3F5690E56369}"/>
              </a:ext>
            </a:extLst>
          </p:cNvPr>
          <p:cNvSpPr>
            <a:spLocks noGrp="1"/>
          </p:cNvSpPr>
          <p:nvPr/>
        </p:nvSpPr>
        <p:spPr>
          <a:xfrm>
            <a:off x="6877050" y="4562475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NZ</a:t>
            </a:r>
          </a:p>
        </p:txBody>
      </p:sp>
      <p:sp>
        <p:nvSpPr>
          <p:cNvPr id="49" name="nz-title-11">
            <a:extLst>
              <a:ext uri="{FF2B5EF4-FFF2-40B4-BE49-F238E27FC236}">
                <a16:creationId xmlns:a16="http://schemas.microsoft.com/office/drawing/2014/main" id="{A5D44917-59B3-45B4-931C-94E9E3AC6CC9}"/>
              </a:ext>
            </a:extLst>
          </p:cNvPr>
          <p:cNvSpPr>
            <a:spLocks noGrp="1"/>
          </p:cNvSpPr>
          <p:nvPr/>
        </p:nvSpPr>
        <p:spPr>
          <a:xfrm>
            <a:off x="7315200" y="44672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New Zealand</a:t>
            </a:r>
          </a:p>
        </p:txBody>
      </p:sp>
      <p:sp>
        <p:nvSpPr>
          <p:cNvPr id="50" name="nz-total-11">
            <a:extLst>
              <a:ext uri="{FF2B5EF4-FFF2-40B4-BE49-F238E27FC236}">
                <a16:creationId xmlns:a16="http://schemas.microsoft.com/office/drawing/2014/main" id="{BCBE4B00-CD5B-4761-8693-5034ED2A5429}"/>
              </a:ext>
            </a:extLst>
          </p:cNvPr>
          <p:cNvSpPr>
            <a:spLocks noGrp="1"/>
          </p:cNvSpPr>
          <p:nvPr/>
        </p:nvSpPr>
        <p:spPr>
          <a:xfrm>
            <a:off x="9515475" y="4514850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788"/>
                </a:solidFill>
              </a:defRPr>
            </a:pPr>
            <a:r>
              <a:rPr sz="975" b="1">
                <a:solidFill>
                  <a:srgbClr val="667788"/>
                </a:solidFill>
              </a:rPr>
              <a:t>1 organisation | EUR 318k</a:t>
            </a:r>
          </a:p>
        </p:txBody>
      </p:sp>
      <p:sp>
        <p:nvSpPr>
          <p:cNvPr id="51" name="nz-rule-11">
            <a:extLst>
              <a:ext uri="{FF2B5EF4-FFF2-40B4-BE49-F238E27FC236}">
                <a16:creationId xmlns:a16="http://schemas.microsoft.com/office/drawing/2014/main" id="{0EEF9177-B588-4378-9AEF-65381F87B48D}"/>
              </a:ext>
            </a:extLst>
          </p:cNvPr>
          <p:cNvSpPr>
            <a:spLocks noGrp="1"/>
          </p:cNvSpPr>
          <p:nvPr/>
        </p:nvSpPr>
        <p:spPr>
          <a:xfrm>
            <a:off x="6877050" y="4876800"/>
            <a:ext cx="4638675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nz-org-name-11-0">
            <a:extLst>
              <a:ext uri="{FF2B5EF4-FFF2-40B4-BE49-F238E27FC236}">
                <a16:creationId xmlns:a16="http://schemas.microsoft.com/office/drawing/2014/main" id="{1722D26E-EA80-493B-85E8-EF352453C691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267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Bioeconomy Science Institute</a:t>
            </a:r>
          </a:p>
        </p:txBody>
      </p:sp>
      <p:sp>
        <p:nvSpPr>
          <p:cNvPr id="53" name="nz-org-role-11-0">
            <a:extLst>
              <a:ext uri="{FF2B5EF4-FFF2-40B4-BE49-F238E27FC236}">
                <a16:creationId xmlns:a16="http://schemas.microsoft.com/office/drawing/2014/main" id="{F864ADC0-6B6C-4FEB-8B06-F16898E7DE26}"/>
              </a:ext>
            </a:extLst>
          </p:cNvPr>
          <p:cNvSpPr>
            <a:spLocks noGrp="1"/>
          </p:cNvSpPr>
          <p:nvPr/>
        </p:nvSpPr>
        <p:spPr>
          <a:xfrm>
            <a:off x="6896100" y="5143500"/>
            <a:ext cx="32670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788"/>
                </a:solidFill>
              </a:defRPr>
            </a:pPr>
            <a:r>
              <a:rPr sz="750" b="0">
                <a:solidFill>
                  <a:srgbClr val="667788"/>
                </a:solidFill>
              </a:rPr>
              <a:t>Company | Beneficiary / Participant</a:t>
            </a:r>
          </a:p>
        </p:txBody>
      </p:sp>
      <p:sp>
        <p:nvSpPr>
          <p:cNvPr id="54" name="nz-org-ec-11-0">
            <a:extLst>
              <a:ext uri="{FF2B5EF4-FFF2-40B4-BE49-F238E27FC236}">
                <a16:creationId xmlns:a16="http://schemas.microsoft.com/office/drawing/2014/main" id="{6E337A6D-BFE0-421B-B9D2-4CD25ED0B33D}"/>
              </a:ext>
            </a:extLst>
          </p:cNvPr>
          <p:cNvSpPr>
            <a:spLocks noGrp="1"/>
          </p:cNvSpPr>
          <p:nvPr/>
        </p:nvSpPr>
        <p:spPr>
          <a:xfrm>
            <a:off x="10306050" y="4991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EUR 318k</a:t>
            </a:r>
          </a:p>
        </p:txBody>
      </p:sp>
      <p:sp>
        <p:nvSpPr>
          <p:cNvPr id="55" name="footer-line-14">
            <a:extLst>
              <a:ext uri="{FF2B5EF4-FFF2-40B4-BE49-F238E27FC236}">
                <a16:creationId xmlns:a16="http://schemas.microsoft.com/office/drawing/2014/main" id="{C19932B2-494A-498B-B1A3-0BC47B88E484}"/>
              </a:ext>
            </a:extLst>
          </p:cNvPr>
          <p:cNvSpPr>
            <a:spLocks noGrp="1"/>
          </p:cNvSpPr>
          <p:nvPr/>
        </p:nvSpPr>
        <p:spPr>
          <a:xfrm>
            <a:off x="457200" y="6600825"/>
            <a:ext cx="11277600" cy="0"/>
          </a:xfrm>
          <a:prstGeom prst="line">
            <a:avLst/>
          </a:prstGeom>
          <a:noFill/>
          <a:ln w="9525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footer-source-14">
            <a:extLst>
              <a:ext uri="{FF2B5EF4-FFF2-40B4-BE49-F238E27FC236}">
                <a16:creationId xmlns:a16="http://schemas.microsoft.com/office/drawing/2014/main" id="{21DF13FC-E5C5-4D80-932C-4C62F8231F03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8096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Source: CORDIS project 101286168; database snapshot 21 Aug 2026.</a:t>
            </a:r>
          </a:p>
        </p:txBody>
      </p:sp>
      <p:sp>
        <p:nvSpPr>
          <p:cNvPr id="57" name="footer-page-14">
            <a:extLst>
              <a:ext uri="{FF2B5EF4-FFF2-40B4-BE49-F238E27FC236}">
                <a16:creationId xmlns:a16="http://schemas.microsoft.com/office/drawing/2014/main" id="{E48DFB47-C7AF-430B-94AA-3E7C50DC85E2}"/>
              </a:ext>
            </a:extLst>
          </p:cNvPr>
          <p:cNvSpPr>
            <a:spLocks noGrp="1"/>
          </p:cNvSpPr>
          <p:nvPr/>
        </p:nvSpPr>
        <p:spPr>
          <a:xfrm>
            <a:off x="9191625" y="6657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67788"/>
                </a:solidFill>
              </a:defRPr>
            </a:pPr>
            <a:r>
              <a:rPr sz="825" b="0">
                <a:solidFill>
                  <a:srgbClr val="667788"/>
                </a:solidFill>
              </a:rPr>
              <a:t>Ireland - New Zealand portfolio | 14 / 14</a:t>
            </a:r>
          </a:p>
        </p:txBody>
      </p:sp>
    </p:spTree>
    <p:extLst>
      <p:ext uri="{BB962C8B-B14F-4D97-AF65-F5344CB8AC3E}">
        <p14:creationId xmlns:p14="http://schemas.microsoft.com/office/powerpoint/2010/main" val="8086844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3419</Words>
  <Application>Microsoft Macintosh PowerPoint</Application>
  <DocSecurity>0</DocSecurity>
  <PresentationFormat>Widescreen</PresentationFormat>
  <Paragraphs>627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Stocco Manuel</cp:lastModifiedBy>
  <cp:revision>1</cp:revision>
  <dcterms:created xsi:type="dcterms:W3CDTF">2026-08-21T04:59:17Z</dcterms:created>
  <dcterms:modified xsi:type="dcterms:W3CDTF">2026-08-21T05:10:08Z</dcterms:modified>
</cp:coreProperties>
</file>