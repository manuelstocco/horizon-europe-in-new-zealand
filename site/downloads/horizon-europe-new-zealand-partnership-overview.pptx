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a2b81ec0e64394" /><Relationship Type="http://schemas.openxmlformats.org/officeDocument/2006/relationships/extended-properties" Target="/docProps/app.xml" Id="R72625966521f42d6" /><Relationship Type="http://schemas.openxmlformats.org/officeDocument/2006/relationships/officeDocument" Target="/ppt/presentation.xml" Id="R29144ccc464c4e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b33ad638154bf8"/>
  </p:sldMasterIdLst>
  <p:notesMasterIdLst>
    <p:notesMasterId xmlns:r="http://schemas.openxmlformats.org/officeDocument/2006/relationships" r:id="Rc81cce0a134a4ffa"/>
  </p:notesMasterIdLst>
  <p:sldIdLst>
    <p:sldId xmlns:r="http://schemas.openxmlformats.org/officeDocument/2006/relationships" id="256" r:id="R87e75bdc45cc46be"/>
    <p:sldId xmlns:r="http://schemas.openxmlformats.org/officeDocument/2006/relationships" id="257" r:id="R67221357f9454784"/>
    <p:sldId xmlns:r="http://schemas.openxmlformats.org/officeDocument/2006/relationships" id="258" r:id="R5980a103827f49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f7b3afc144c25" /><Relationship Type="http://schemas.openxmlformats.org/officeDocument/2006/relationships/slideMaster" Target="/ppt/slideMasters/slideMaster1.xml" Id="R80b33ad638154bf8" /><Relationship Type="http://schemas.openxmlformats.org/officeDocument/2006/relationships/notesMaster" Target="/ppt/notesMasters/notesMaster1.xml" Id="Rc81cce0a134a4ffa" /><Relationship Type="http://schemas.openxmlformats.org/officeDocument/2006/relationships/presProps" Target="/ppt/presProps.xml" Id="R363df0ec0edc453d" /><Relationship Type="http://schemas.openxmlformats.org/officeDocument/2006/relationships/tableStyles" Target="/ppt/tableStyles.xml" Id="Reb396fb3fcc1435d" /><Relationship Type="http://schemas.openxmlformats.org/officeDocument/2006/relationships/slide" Target="/ppt/slides/slide1.xml" Id="R87e75bdc45cc46be" /><Relationship Type="http://schemas.openxmlformats.org/officeDocument/2006/relationships/slide" Target="/ppt/slides/slide2.xml" Id="R67221357f9454784" /><Relationship Type="http://schemas.openxmlformats.org/officeDocument/2006/relationships/slide" Target="/ppt/slides/slide3.xml" Id="R5980a103827f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b351b04cf240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8d8adc3bc44a26" /><Relationship Type="http://schemas.openxmlformats.org/officeDocument/2006/relationships/notesMaster" Target="/ppt/notesMasters/notesMaster1.xml" Id="R36feb3715f594a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5b3ce454449ed" /><Relationship Type="http://schemas.openxmlformats.org/officeDocument/2006/relationships/notesMaster" Target="/ppt/notesMasters/notesMaster1.xml" Id="R7bd23725927f45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6240878a924e85" /><Relationship Type="http://schemas.openxmlformats.org/officeDocument/2006/relationships/notesMaster" Target="/ppt/notesMasters/notesMaster1.xml" Id="R9c79cfa42acf41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CORDIS project records, compiled in the Horizon Europe in New Zealand dataset.</a:t>
            </a:r>
          </a:p>
          <a:p xmlns:a="http://schemas.openxmlformats.org/drawingml/2006/main">
            <a:r>
              <a:t>- Dataset last updated 22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CORDIS project records, compiled in the Horizon Europe in New Zealand dataset.</a:t>
            </a:r>
          </a:p>
          <a:p xmlns:a="http://schemas.openxmlformats.org/drawingml/2006/main">
            <a:r>
              <a:t>- Dataset last updated 22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European Commission CORDIS project records, compiled in the Horizon Europe in New Zealand dataset.</a:t>
            </a:r>
          </a:p>
          <a:p xmlns:a="http://schemas.openxmlformats.org/drawingml/2006/main">
            <a:r>
              <a:t>- Dataset last updated 22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ced585e1d4e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fae3c9ac214231" /><Relationship Type="http://schemas.openxmlformats.org/officeDocument/2006/relationships/slideLayout" Target="/ppt/slideLayouts/slideLayout1.xml" Id="R373f02533db24b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3f02533db24b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108cbfa1d4d05" /><Relationship Type="http://schemas.openxmlformats.org/officeDocument/2006/relationships/notesSlide" Target="/ppt/notesSlides/notesSlide1.xml" Id="Rb067b3cad69f44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444db2f684a66" /><Relationship Type="http://schemas.openxmlformats.org/officeDocument/2006/relationships/chart" Target="/ppt/slides/charts/chart1.xml" Id="R0b7cc9e0865f4353" /><Relationship Type="http://schemas.openxmlformats.org/officeDocument/2006/relationships/chart" Target="/ppt/slides/charts/chart2.xml" Id="Rc7cf7196054848ef" /><Relationship Type="http://schemas.openxmlformats.org/officeDocument/2006/relationships/image" Target="/ppt/media/image.png" Id="R0503a438cef941ec" /><Relationship Type="http://schemas.openxmlformats.org/officeDocument/2006/relationships/notesSlide" Target="/ppt/notesSlides/notesSlide2.xml" Id="Re4e0b506cf2d4c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0a1ed5d9b4eb6" /><Relationship Type="http://schemas.openxmlformats.org/officeDocument/2006/relationships/chart" Target="/ppt/slides/charts/chart3.xml" Id="R1175f2eb2ed74526" /><Relationship Type="http://schemas.openxmlformats.org/officeDocument/2006/relationships/chart" Target="/ppt/slides/charts/chart4.xml" Id="R2d31eee18f8b436e" /><Relationship Type="http://schemas.openxmlformats.org/officeDocument/2006/relationships/notesSlide" Target="/ppt/notesSlides/notesSlide3.xml" Id="Rdf8feb90233f431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Projects</c:v>
          </c:tx>
          <c:spPr>
            <a:solidFill xmlns:a="http://schemas.openxmlformats.org/drawingml/2006/main">
              <a:srgbClr val="397FD8"/>
            </a:solidFill>
          </c:spPr>
          <c:cat>
            <c:numLit>
              <c:formatCode>General</c:formatCode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numLit>
          </c:cat>
          <c:val>
            <c:numLit>
              <c:formatCode>General</c:formatCode>
              <c:ptCount val="3"/>
              <c:pt idx="0">
                <c:v>9</c:v>
              </c:pt>
              <c:pt idx="1">
                <c:v>10</c:v>
              </c:pt>
              <c:pt idx="2">
                <c:v>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2B4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3E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8E3EE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Projects</c:v>
          </c:tx>
          <c:spPr>
            <a:solidFill xmlns:a="http://schemas.openxmlformats.org/drawingml/2006/main">
              <a:srgbClr val="397FD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5A63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D67C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C6C5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97FD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77A84B"/>
              </a:solidFill>
            </c:spPr>
          </c:dPt>
          <c:cat>
            <c:strLit>
              <c:ptCount val="5"/>
              <c:pt idx="0">
                <c:v>Digital, Industry &amp; Space</c:v>
              </c:pt>
              <c:pt idx="1">
                <c:v>Culture &amp; Society</c:v>
              </c:pt>
              <c:pt idx="2">
                <c:v>Climate, Energy &amp; Mobility</c:v>
              </c:pt>
              <c:pt idx="3">
                <c:v>Health</c:v>
              </c:pt>
              <c:pt idx="4">
                <c:v>Food &amp; Environment</c:v>
              </c:pt>
            </c:strLit>
          </c:cat>
          <c:val>
            <c:numLit>
              <c:formatCode>General</c:formatCode>
              <c:ptCount val="5"/>
              <c:pt idx="0">
                <c:v>3</c:v>
              </c:pt>
              <c:pt idx="1">
                <c:v>5</c:v>
              </c:pt>
              <c:pt idx="2">
                <c:v>6</c:v>
              </c:pt>
              <c:pt idx="3">
                <c:v>6</c:v>
              </c:pt>
              <c:pt idx="4">
                <c:v>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B4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3A5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8E3EE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Projects</c:v>
          </c:tx>
          <c:spPr>
            <a:solidFill xmlns:a="http://schemas.openxmlformats.org/drawingml/2006/main">
              <a:srgbClr val="397FD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8D67C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D67C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C6C5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D67CE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2A99A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2A99A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EC6C5F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EC6C5F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E5A63B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77A84B"/>
              </a:solidFill>
            </c:spPr>
          </c:dPt>
          <c:cat>
            <c:strLit>
              <c:ptCount val="10"/>
              <c:pt idx="0">
                <c:v>Austria</c:v>
              </c:pt>
              <c:pt idx="1">
                <c:v>Finland</c:v>
              </c:pt>
              <c:pt idx="2">
                <c:v>Portugal</c:v>
              </c:pt>
              <c:pt idx="3">
                <c:v>France</c:v>
              </c:pt>
              <c:pt idx="4">
                <c:v>Netherlands</c:v>
              </c:pt>
              <c:pt idx="5">
                <c:v>Greece</c:v>
              </c:pt>
              <c:pt idx="6">
                <c:v>Spain</c:v>
              </c:pt>
              <c:pt idx="7">
                <c:v>Germany</c:v>
              </c:pt>
              <c:pt idx="8">
                <c:v>Belgium</c:v>
              </c:pt>
              <c:pt idx="9">
                <c:v>Italy</c:v>
              </c:pt>
            </c:strLit>
          </c:cat>
          <c:val>
            <c:numLit>
              <c:formatCode>General</c:formatCode>
              <c:ptCount val="10"/>
              <c:pt idx="0">
                <c:v>14</c:v>
              </c:pt>
              <c:pt idx="1">
                <c:v>15</c:v>
              </c:pt>
              <c:pt idx="2">
                <c:v>19</c:v>
              </c:pt>
              <c:pt idx="3">
                <c:v>19</c:v>
              </c:pt>
              <c:pt idx="4">
                <c:v>21</c:v>
              </c:pt>
              <c:pt idx="5">
                <c:v>21</c:v>
              </c:pt>
              <c:pt idx="6">
                <c:v>25</c:v>
              </c:pt>
              <c:pt idx="7">
                <c:v>26</c:v>
              </c:pt>
              <c:pt idx="8">
                <c:v>26</c:v>
              </c:pt>
              <c:pt idx="9">
                <c:v>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B4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A5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8E3EE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Projects</c:v>
          </c:tx>
          <c:spPr>
            <a:solidFill xmlns:a="http://schemas.openxmlformats.org/drawingml/2006/main">
              <a:srgbClr val="22A99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97FD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D67C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C6C5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0649C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A63B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C0649C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C07A4E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77A84B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C07A4E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22A99A"/>
              </a:solidFill>
            </c:spPr>
          </c:dPt>
          <c:cat>
            <c:strLit>
              <c:ptCount val="10"/>
              <c:pt idx="0">
                <c:v>Australia</c:v>
              </c:pt>
              <c:pt idx="1">
                <c:v>South Africa</c:v>
              </c:pt>
              <c:pt idx="2">
                <c:v>Israel</c:v>
              </c:pt>
              <c:pt idx="3">
                <c:v>Iceland</c:v>
              </c:pt>
              <c:pt idx="4">
                <c:v>Canada</c:v>
              </c:pt>
              <c:pt idx="5">
                <c:v>Serbia</c:v>
              </c:pt>
              <c:pt idx="6">
                <c:v>Türkiye</c:v>
              </c:pt>
              <c:pt idx="7">
                <c:v>Switzerland</c:v>
              </c:pt>
              <c:pt idx="8">
                <c:v>Norway</c:v>
              </c:pt>
              <c:pt idx="9">
                <c:v>UK</c:v>
              </c:pt>
            </c:strLit>
          </c:cat>
          <c:val>
            <c:numLit>
              <c:formatCode>General</c:formatCode>
              <c:ptCount val="10"/>
              <c:pt idx="0">
                <c:v>2</c:v>
              </c:pt>
              <c:pt idx="1">
                <c:v>3</c:v>
              </c:pt>
              <c:pt idx="2">
                <c:v>3</c:v>
              </c:pt>
              <c:pt idx="3">
                <c:v>3</c:v>
              </c:pt>
              <c:pt idx="4">
                <c:v>3</c:v>
              </c:pt>
              <c:pt idx="5">
                <c:v>5</c:v>
              </c:pt>
              <c:pt idx="6">
                <c:v>8</c:v>
              </c:pt>
              <c:pt idx="7">
                <c:v>11</c:v>
              </c:pt>
              <c:pt idx="8">
                <c:v>18</c:v>
              </c:pt>
              <c:pt idx="9">
                <c:v>31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B4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A5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8E3EE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36F03D-4CB3-44CD-8020-A77F5DA6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6337A-E5A3-4FA7-9E51-8E066927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C0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3776E-FA42-43E4-8382-0EAD28B2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4DE36-250F-488B-9D6E-7F0B963E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HORIZON EUROPE IN NEW ZEALAND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C5B3C-EFF0-4A37-964D-07F49D17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7FD8"/>
                </a:solidFill>
              </a:defRPr>
            </a:pPr>
            <a:r>
              <a:rPr sz="900" b="1">
                <a:solidFill>
                  <a:srgbClr val="397FD8"/>
                </a:solidFill>
              </a:rPr>
              <a:t>PARTNERSHIP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C1397-C9CC-4043-9CAD-F5708DD2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C"/>
                </a:solidFill>
              </a:defRPr>
            </a:pPr>
            <a:r>
              <a:rPr sz="2850" b="1">
                <a:solidFill>
                  <a:srgbClr val="102B4C"/>
                </a:solidFill>
              </a:rPr>
              <a:t>A growing portfolio with genuinely global reach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06F59-54DF-407E-AB41-0C4EBF17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E91C4-1D6D-479B-A08F-F0A21730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B8D"/>
                </a:solidFill>
              </a:defRPr>
            </a:pPr>
            <a:r>
              <a:rPr sz="825" b="0">
                <a:solidFill>
                  <a:srgbClr val="647B8D"/>
                </a:solidFill>
              </a:rPr>
              <a:t>Source: CORDIS project records | Last update: 22 August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9C697-A4A7-48BF-80B8-BC7BBBA7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B4C"/>
                </a:solidFill>
              </a:defRPr>
            </a:pPr>
            <a:r>
              <a:rPr sz="900" b="1">
                <a:solidFill>
                  <a:srgbClr val="102B4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2A9E0-77FD-4A62-B83B-769EB3F9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B8D"/>
                </a:solidFill>
              </a:defRPr>
            </a:pPr>
            <a:r>
              <a:rPr sz="1275" b="0">
                <a:solidFill>
                  <a:srgbClr val="647B8D"/>
                </a:solidFill>
              </a:rPr>
              <a:t>The figures below describe signed Horizon Europe projects involving New Zealand organisations.</a:t>
            </a:r>
          </a:p>
        </p:txBody>
      </p:sp>
      <p:sp>
        <p:nvSpPr>
          <p:cNvPr id="11" name="metric-Distinct projects">
            <a:extLst xmlns:a="http://schemas.openxmlformats.org/drawingml/2006/main">
              <a:ext uri="{FF2B5EF4-FFF2-40B4-BE49-F238E27FC236}">
                <a16:creationId xmlns:a16="http://schemas.microsoft.com/office/drawing/2014/main" id="{1799474D-A1FB-475A-819B-33861B06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5052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2C013-D277-44D8-930B-585495F9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505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4F49C-B31A-4EA3-A59D-9F32D1CE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B8D"/>
                </a:solidFill>
              </a:defRPr>
            </a:pPr>
            <a:r>
              <a:rPr sz="900" b="1">
                <a:solidFill>
                  <a:srgbClr val="647B8D"/>
                </a:solidFill>
              </a:rPr>
              <a:t>DISTINCT PROJECTS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1AB4E-7E54-4D05-A58A-A0738A9F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C"/>
                </a:solidFill>
              </a:defRPr>
            </a:pPr>
            <a:r>
              <a:rPr sz="2850" b="1">
                <a:solidFill>
                  <a:srgbClr val="102B4C"/>
                </a:solidFill>
              </a:rPr>
              <a:t>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0607E-64C0-4D35-849E-9124B07C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B8D"/>
                </a:solidFill>
              </a:defRPr>
            </a:pPr>
            <a:r>
              <a:rPr sz="975" b="0">
                <a:solidFill>
                  <a:srgbClr val="647B8D"/>
                </a:solidFill>
              </a:rPr>
              <a:t>Each project is counted once</a:t>
            </a:r>
          </a:p>
        </p:txBody>
      </p:sp>
      <p:sp>
        <p:nvSpPr>
          <p:cNvPr id="16" name="metric-New Zealand organisations">
            <a:extLst xmlns:a="http://schemas.openxmlformats.org/drawingml/2006/main">
              <a:ext uri="{FF2B5EF4-FFF2-40B4-BE49-F238E27FC236}">
                <a16:creationId xmlns:a16="http://schemas.microsoft.com/office/drawing/2014/main" id="{0B81DCC0-9F14-41D8-B423-5D8706B5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5052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678C8-A350-4425-B297-85C6287C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505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9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35CE1-5859-4E46-A17B-F87EB48C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B8D"/>
                </a:solidFill>
              </a:defRPr>
            </a:pPr>
            <a:r>
              <a:rPr sz="900" b="1">
                <a:solidFill>
                  <a:srgbClr val="647B8D"/>
                </a:solidFill>
              </a:rPr>
              <a:t>NEW ZEALAND ORGANISATIONS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7E5B4-C5BA-4E06-95CA-37D1027C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336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C"/>
                </a:solidFill>
              </a:defRPr>
            </a:pPr>
            <a:r>
              <a:rPr sz="2850" b="1">
                <a:solidFill>
                  <a:srgbClr val="102B4C"/>
                </a:solidFill>
              </a:rPr>
              <a:t>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A1EED-17DB-455F-96E7-F03F12CC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B8D"/>
                </a:solidFill>
              </a:defRPr>
            </a:pPr>
            <a:r>
              <a:rPr sz="975" b="0">
                <a:solidFill>
                  <a:srgbClr val="647B8D"/>
                </a:solidFill>
              </a:rPr>
              <a:t>Distinct participating organisations</a:t>
            </a:r>
          </a:p>
        </p:txBody>
      </p:sp>
      <p:sp>
        <p:nvSpPr>
          <p:cNvPr id="21" name="metric-Partner countries">
            <a:extLst xmlns:a="http://schemas.openxmlformats.org/drawingml/2006/main">
              <a:ext uri="{FF2B5EF4-FFF2-40B4-BE49-F238E27FC236}">
                <a16:creationId xmlns:a16="http://schemas.microsoft.com/office/drawing/2014/main" id="{CE216B7D-7B57-4DFA-8906-1E18ED9C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35052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DDBC8-612A-47E1-A4F4-A80F8145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09800"/>
            <a:ext cx="3505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7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E33FB-428F-4A4A-B614-35E9D463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B8D"/>
                </a:solidFill>
              </a:defRPr>
            </a:pPr>
            <a:r>
              <a:rPr sz="900" b="1">
                <a:solidFill>
                  <a:srgbClr val="647B8D"/>
                </a:solidFill>
              </a:rPr>
              <a:t>PARTNER COUNTRIES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26A7E-9449-43E9-9099-894B1695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336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C"/>
                </a:solidFill>
              </a:defRPr>
            </a:pPr>
            <a:r>
              <a:rPr sz="2850" b="1">
                <a:solidFill>
                  <a:srgbClr val="102B4C"/>
                </a:solidFill>
              </a:rPr>
              <a:t>54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467BE-6B15-44CF-BB9C-7585F9C1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813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B8D"/>
                </a:solidFill>
              </a:defRPr>
            </a:pPr>
            <a:r>
              <a:rPr sz="975" b="0">
                <a:solidFill>
                  <a:srgbClr val="647B8D"/>
                </a:solidFill>
              </a:rPr>
              <a:t>Countries connected to New Zealand</a:t>
            </a:r>
          </a:p>
        </p:txBody>
      </p:sp>
      <p:sp>
        <p:nvSpPr>
          <p:cNvPr id="26" name="metric-Total project value">
            <a:extLst xmlns:a="http://schemas.openxmlformats.org/drawingml/2006/main">
              <a:ext uri="{FF2B5EF4-FFF2-40B4-BE49-F238E27FC236}">
                <a16:creationId xmlns:a16="http://schemas.microsoft.com/office/drawing/2014/main" id="{58854A2D-E5E6-4212-A55A-565F5E8F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343525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EEF56-4F4D-4F7A-8CCA-A97B615D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3435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52A18-F1B7-4069-A797-A82E29EF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4886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B8D"/>
                </a:solidFill>
              </a:defRPr>
            </a:pPr>
            <a:r>
              <a:rPr sz="900" b="1">
                <a:solidFill>
                  <a:srgbClr val="647B8D"/>
                </a:solidFill>
              </a:rPr>
              <a:t>TOTAL PROJECT VALUE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22F78-250F-4CD6-B98A-4008D811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88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C"/>
                </a:solidFill>
              </a:defRPr>
            </a:pPr>
            <a:r>
              <a:rPr sz="2850" b="1">
                <a:solidFill>
                  <a:srgbClr val="102B4C"/>
                </a:solidFill>
              </a:rPr>
              <a:t>€466.5M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26FC50-2106-4EF3-9898-12670C69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62575"/>
            <a:ext cx="4886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B8D"/>
                </a:solidFill>
              </a:defRPr>
            </a:pPr>
            <a:r>
              <a:rPr sz="975" b="0">
                <a:solidFill>
                  <a:srgbClr val="647B8D"/>
                </a:solidFill>
              </a:rPr>
              <a:t>Maximum EU contribution to signed projects</a:t>
            </a:r>
          </a:p>
        </p:txBody>
      </p:sp>
      <p:sp>
        <p:nvSpPr>
          <p:cNvPr id="31" name="metric-Allocated to New Zealand">
            <a:extLst xmlns:a="http://schemas.openxmlformats.org/drawingml/2006/main">
              <a:ext uri="{FF2B5EF4-FFF2-40B4-BE49-F238E27FC236}">
                <a16:creationId xmlns:a16="http://schemas.microsoft.com/office/drawing/2014/main" id="{DA661FD5-DC7D-4F55-A551-BD1C2B9B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00500"/>
            <a:ext cx="5343525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53615-9D28-4241-B87F-AC272CAA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00500"/>
            <a:ext cx="53435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6C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017978-184F-40A1-9B0F-6269BDDE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29100"/>
            <a:ext cx="48863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B8D"/>
                </a:solidFill>
              </a:defRPr>
            </a:pPr>
            <a:r>
              <a:rPr sz="900" b="1">
                <a:solidFill>
                  <a:srgbClr val="647B8D"/>
                </a:solidFill>
              </a:rPr>
              <a:t>ALLOCATED TO NEW ZEALAND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60C9FE-89D9-4747-9875-52411901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24375"/>
            <a:ext cx="4886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C"/>
                </a:solidFill>
              </a:defRPr>
            </a:pPr>
            <a:r>
              <a:rPr sz="2850" b="1">
                <a:solidFill>
                  <a:srgbClr val="102B4C"/>
                </a:solidFill>
              </a:rPr>
              <a:t>€14.6M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28EB7C-A4D4-4D0B-A05A-69F94CE7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362575"/>
            <a:ext cx="4886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B8D"/>
                </a:solidFill>
              </a:defRPr>
            </a:pPr>
            <a:r>
              <a:rPr sz="975" b="0">
                <a:solidFill>
                  <a:srgbClr val="647B8D"/>
                </a:solidFill>
              </a:rPr>
              <a:t>Net EU contribution to New Zealand participants</a:t>
            </a:r>
          </a:p>
        </p:txBody>
      </p:sp>
    </p:spTree>
    <p:extLst>
      <p:ext uri="{BB962C8B-B14F-4D97-AF65-F5344CB8AC3E}">
        <p14:creationId xmlns:p14="http://schemas.microsoft.com/office/powerpoint/2010/main" val="1269556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F19C6-9E11-4E5E-8C2C-21010A21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1C75B-7995-408F-8721-47EB48F9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C0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AA87D-6A1B-4737-B76D-3CA0052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84B43-56D9-49C5-B1A3-4DACD179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HORIZON EUROPE IN NEW ZEALAND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C9EE4-AFAE-4CA4-82F9-6FE45566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7FD8"/>
                </a:solidFill>
              </a:defRPr>
            </a:pPr>
            <a:r>
              <a:rPr sz="900" b="1">
                <a:solidFill>
                  <a:srgbClr val="397FD8"/>
                </a:solidFill>
              </a:rPr>
              <a:t>PORTFOLIO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B620A-AAF6-401E-8644-30CB207A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C"/>
                </a:solidFill>
              </a:defRPr>
            </a:pPr>
            <a:r>
              <a:rPr sz="2850" b="1">
                <a:solidFill>
                  <a:srgbClr val="102B4C"/>
                </a:solidFill>
              </a:rPr>
              <a:t>Project activity is accelerating across five active clusters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28A3E-F79F-42FA-B7CA-9D06E1AF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56A4F-C4AD-4168-8327-26C36481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B8D"/>
                </a:solidFill>
              </a:defRPr>
            </a:pPr>
            <a:r>
              <a:rPr sz="825" b="0">
                <a:solidFill>
                  <a:srgbClr val="647B8D"/>
                </a:solidFill>
              </a:rPr>
              <a:t>Source: CORDIS project records | Last update: 22 August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CCC1C-0D6A-4433-A862-B964BA0C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B4C"/>
                </a:solidFill>
              </a:defRPr>
            </a:pPr>
            <a:r>
              <a:rPr sz="900" b="1">
                <a:solidFill>
                  <a:srgbClr val="102B4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92BEF-8551-4EA7-9C47-A9BB8698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4C"/>
                </a:solidFill>
              </a:defRPr>
            </a:pPr>
            <a:r>
              <a:rPr sz="1875" b="1">
                <a:solidFill>
                  <a:srgbClr val="102B4C"/>
                </a:solidFill>
              </a:rPr>
              <a:t>Projects by starting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923AF-4F7E-421A-96A1-20AC660F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B8D"/>
                </a:solidFill>
              </a:defRPr>
            </a:pPr>
            <a:r>
              <a:rPr sz="1050" b="0">
                <a:solidFill>
                  <a:srgbClr val="647B8D"/>
                </a:solidFill>
              </a:rPr>
              <a:t>Signed projects grouped by contractual start 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2125D-BCC5-4851-BB14-47AC81D4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4C"/>
                </a:solidFill>
              </a:defRPr>
            </a:pPr>
            <a:r>
              <a:rPr sz="1875" b="1">
                <a:solidFill>
                  <a:srgbClr val="102B4C"/>
                </a:solidFill>
              </a:rPr>
              <a:t>Cluster mix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41545-FE42-467F-A656-8A96D91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28850"/>
            <a:ext cx="528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B8D"/>
                </a:solidFill>
              </a:defRPr>
            </a:pPr>
            <a:r>
              <a:rPr sz="1050" b="0">
                <a:solidFill>
                  <a:srgbClr val="647B8D"/>
                </a:solidFill>
              </a:rPr>
              <a:t>Distinct projects by Horizon Europe Pillar II cluster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66750" y="2590800"/>
          <a:ext xmlns:a="http://schemas.openxmlformats.org/drawingml/2006/main" cx="4762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7cc9e0865f4353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238875" y="2590800"/>
          <a:ext xmlns:a="http://schemas.openxmlformats.org/drawingml/2006/main" cx="52863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cf7196054848ef"/>
          </a:graphicData>
        </a:graphic>
      </p:graphicFrame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3a438cef941e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2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5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10DD9-45C2-4861-A13A-3039090F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D706F-E004-46BE-A127-DFF420EC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"/>
            <a:ext cx="171450" cy="1714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C0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BE008-03BC-4386-B3F5-FC7EE706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7F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2C057-4956-41D9-B280-0760FB79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A5E"/>
                </a:solidFill>
              </a:defRPr>
            </a:pPr>
            <a:r>
              <a:rPr sz="1050" b="1">
                <a:solidFill>
                  <a:srgbClr val="173A5E"/>
                </a:solidFill>
              </a:rPr>
              <a:t>HORIZON EUROPE IN NEW ZEALAND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53D84-726B-4E16-B545-B647D8AC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97FD8"/>
                </a:solidFill>
              </a:defRPr>
            </a:pPr>
            <a:r>
              <a:rPr sz="900" b="1">
                <a:solidFill>
                  <a:srgbClr val="397FD8"/>
                </a:solidFill>
              </a:rPr>
              <a:t>PARTNER GEOGRAPHY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2A7A9-3049-42A1-A556-7692FC6A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C"/>
                </a:solidFill>
              </a:defRPr>
            </a:pPr>
            <a:r>
              <a:rPr sz="2850" b="1">
                <a:solidFill>
                  <a:srgbClr val="102B4C"/>
                </a:solidFill>
              </a:rPr>
              <a:t>European depth is matched by collaboration beyond the EU27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7EEBA-6D08-4447-A726-F11F518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B97A5-7CD9-49F0-84B9-D8376EE5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B8D"/>
                </a:solidFill>
              </a:defRPr>
            </a:pPr>
            <a:r>
              <a:rPr sz="825" b="0">
                <a:solidFill>
                  <a:srgbClr val="647B8D"/>
                </a:solidFill>
              </a:rPr>
              <a:t>Source: CORDIS project records | Last update: 22 August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2BBF0-2ACB-48BC-B618-D2DA93B8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38175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02B4C"/>
                </a:solidFill>
              </a:defRPr>
            </a:pPr>
            <a:r>
              <a:rPr sz="900" b="1">
                <a:solidFill>
                  <a:srgbClr val="102B4C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89B3D-2E7D-400D-807F-1DDF3DB6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4C"/>
                </a:solidFill>
              </a:defRPr>
            </a:pPr>
            <a:r>
              <a:rPr sz="1875" b="1">
                <a:solidFill>
                  <a:srgbClr val="102B4C"/>
                </a:solidFill>
              </a:rPr>
              <a:t>Leading EU27 partners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349E1-5598-4F26-87C7-A1EE8981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B8D"/>
                </a:solidFill>
              </a:defRPr>
            </a:pPr>
            <a:r>
              <a:rPr sz="1050" b="0">
                <a:solidFill>
                  <a:srgbClr val="647B8D"/>
                </a:solidFill>
              </a:rPr>
              <a:t>Top 10 countries by distinct project-country connections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66750" y="2590800"/>
          <a:ext xmlns:a="http://schemas.openxmlformats.org/drawingml/2006/main" cx="5048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75f2eb2ed7452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2D281-FB35-495C-8B16-D0353336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4C"/>
                </a:solidFill>
              </a:defRPr>
            </a:pPr>
            <a:r>
              <a:rPr sz="1875" b="1">
                <a:solidFill>
                  <a:srgbClr val="102B4C"/>
                </a:solidFill>
              </a:rPr>
              <a:t>Leading non-EU partners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DED85-FB76-449C-BBF3-D6C32458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B8D"/>
                </a:solidFill>
              </a:defRPr>
            </a:pPr>
            <a:r>
              <a:rPr sz="1050" b="0">
                <a:solidFill>
                  <a:srgbClr val="647B8D"/>
                </a:solidFill>
              </a:rPr>
              <a:t>Top 10 countries by distinct project-country connections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477000" y="2590800"/>
          <a:ext xmlns:a="http://schemas.openxmlformats.org/drawingml/2006/main" cx="5048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31eee18f8b436e"/>
          </a:graphicData>
        </a:graphic>
      </p:graphicFrame>
    </p:spTree>
    <p:extLst>
      <p:ext uri="{BB962C8B-B14F-4D97-AF65-F5344CB8AC3E}">
        <p14:creationId xmlns:p14="http://schemas.microsoft.com/office/powerpoint/2010/main" val="1453043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2026-08-25T10:44:17.4800000Z</dcterms:created>
  <dcterms:modified xsi:type="dcterms:W3CDTF">2026-08-25T10:44:17.4800000Z</dcterms:modified>
</coreProperties>
</file>